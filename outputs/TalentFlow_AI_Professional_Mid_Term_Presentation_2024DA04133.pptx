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8baed757614f89" /><Relationship Type="http://schemas.openxmlformats.org/officeDocument/2006/relationships/extended-properties" Target="/docProps/app.xml" Id="Rb98045e983854d62" /><Relationship Type="http://schemas.openxmlformats.org/officeDocument/2006/relationships/officeDocument" Target="/ppt/presentation.xml" Id="R333458826bfe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c0f777763449f0"/>
  </p:sldMasterIdLst>
  <p:notesMasterIdLst>
    <p:notesMasterId xmlns:r="http://schemas.openxmlformats.org/officeDocument/2006/relationships" r:id="R6961bfca45104780"/>
  </p:notesMasterIdLst>
  <p:sldIdLst>
    <p:sldId xmlns:r="http://schemas.openxmlformats.org/officeDocument/2006/relationships" id="256" r:id="Ra141a628e3934098"/>
    <p:sldId xmlns:r="http://schemas.openxmlformats.org/officeDocument/2006/relationships" id="257" r:id="Rfe6fc89e92e14978"/>
    <p:sldId xmlns:r="http://schemas.openxmlformats.org/officeDocument/2006/relationships" id="258" r:id="R8133d2288d4c406f"/>
    <p:sldId xmlns:r="http://schemas.openxmlformats.org/officeDocument/2006/relationships" id="259" r:id="R80e876d3189b440f"/>
    <p:sldId xmlns:r="http://schemas.openxmlformats.org/officeDocument/2006/relationships" id="260" r:id="R7e48e910095e4933"/>
    <p:sldId xmlns:r="http://schemas.openxmlformats.org/officeDocument/2006/relationships" id="261" r:id="R2e524b1bb88b4d28"/>
    <p:sldId xmlns:r="http://schemas.openxmlformats.org/officeDocument/2006/relationships" id="262" r:id="R3a63eaaee127421a"/>
    <p:sldId xmlns:r="http://schemas.openxmlformats.org/officeDocument/2006/relationships" id="263" r:id="R3d19c3736e574755"/>
    <p:sldId xmlns:r="http://schemas.openxmlformats.org/officeDocument/2006/relationships" id="264" r:id="R1d9568745dab4554"/>
    <p:sldId xmlns:r="http://schemas.openxmlformats.org/officeDocument/2006/relationships" id="265" r:id="R732abe2315c942b8"/>
    <p:sldId xmlns:r="http://schemas.openxmlformats.org/officeDocument/2006/relationships" id="266" r:id="R25dcd36b4d4e4537"/>
    <p:sldId xmlns:r="http://schemas.openxmlformats.org/officeDocument/2006/relationships" id="267" r:id="R2b4abec84e704a42"/>
    <p:sldId xmlns:r="http://schemas.openxmlformats.org/officeDocument/2006/relationships" id="268" r:id="R38526dfa51854b86"/>
    <p:sldId xmlns:r="http://schemas.openxmlformats.org/officeDocument/2006/relationships" id="269" r:id="Ra7a1db5899334a61"/>
    <p:sldId xmlns:r="http://schemas.openxmlformats.org/officeDocument/2006/relationships" id="270" r:id="Ra61f3a3935a04ced"/>
    <p:sldId xmlns:r="http://schemas.openxmlformats.org/officeDocument/2006/relationships" id="271" r:id="R76c7092574df4261"/>
    <p:sldId xmlns:r="http://schemas.openxmlformats.org/officeDocument/2006/relationships" id="272" r:id="Rd4dd7aa5ff974beb"/>
    <p:sldId xmlns:r="http://schemas.openxmlformats.org/officeDocument/2006/relationships" id="273" r:id="R5b1ca1a928fa43dc"/>
    <p:sldId xmlns:r="http://schemas.openxmlformats.org/officeDocument/2006/relationships" id="274" r:id="R1e012a2aa2984dd3"/>
    <p:sldId xmlns:r="http://schemas.openxmlformats.org/officeDocument/2006/relationships" id="275" r:id="R23e94d5979284d6f"/>
    <p:sldId xmlns:r="http://schemas.openxmlformats.org/officeDocument/2006/relationships" id="276" r:id="Re1801047dbde4bb4"/>
    <p:sldId xmlns:r="http://schemas.openxmlformats.org/officeDocument/2006/relationships" id="277" r:id="R1921ab1831ef4d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c276a4ccca41ac" /><Relationship Type="http://schemas.openxmlformats.org/officeDocument/2006/relationships/slideMaster" Target="/ppt/slideMasters/slideMaster1.xml" Id="R42c0f777763449f0" /><Relationship Type="http://schemas.openxmlformats.org/officeDocument/2006/relationships/notesMaster" Target="/ppt/notesMasters/notesMaster1.xml" Id="R6961bfca45104780" /><Relationship Type="http://schemas.openxmlformats.org/officeDocument/2006/relationships/presProps" Target="/ppt/presProps.xml" Id="R601ac2b73d4b40b9" /><Relationship Type="http://schemas.openxmlformats.org/officeDocument/2006/relationships/tableStyles" Target="/ppt/tableStyles.xml" Id="R9678acd8c4344b62" /><Relationship Type="http://schemas.openxmlformats.org/officeDocument/2006/relationships/slide" Target="/ppt/slides/slide1.xml" Id="Ra141a628e3934098" /><Relationship Type="http://schemas.openxmlformats.org/officeDocument/2006/relationships/slide" Target="/ppt/slides/slide2.xml" Id="Rfe6fc89e92e14978" /><Relationship Type="http://schemas.openxmlformats.org/officeDocument/2006/relationships/slide" Target="/ppt/slides/slide3.xml" Id="R8133d2288d4c406f" /><Relationship Type="http://schemas.openxmlformats.org/officeDocument/2006/relationships/slide" Target="/ppt/slides/slide4.xml" Id="R80e876d3189b440f" /><Relationship Type="http://schemas.openxmlformats.org/officeDocument/2006/relationships/slide" Target="/ppt/slides/slide5.xml" Id="R7e48e910095e4933" /><Relationship Type="http://schemas.openxmlformats.org/officeDocument/2006/relationships/slide" Target="/ppt/slides/slide6.xml" Id="R2e524b1bb88b4d28" /><Relationship Type="http://schemas.openxmlformats.org/officeDocument/2006/relationships/slide" Target="/ppt/slides/slide7.xml" Id="R3a63eaaee127421a" /><Relationship Type="http://schemas.openxmlformats.org/officeDocument/2006/relationships/slide" Target="/ppt/slides/slide8.xml" Id="R3d19c3736e574755" /><Relationship Type="http://schemas.openxmlformats.org/officeDocument/2006/relationships/slide" Target="/ppt/slides/slide9.xml" Id="R1d9568745dab4554" /><Relationship Type="http://schemas.openxmlformats.org/officeDocument/2006/relationships/slide" Target="/ppt/slides/slide10.xml" Id="R732abe2315c942b8" /><Relationship Type="http://schemas.openxmlformats.org/officeDocument/2006/relationships/slide" Target="/ppt/slides/slide11.xml" Id="R25dcd36b4d4e4537" /><Relationship Type="http://schemas.openxmlformats.org/officeDocument/2006/relationships/slide" Target="/ppt/slides/slide12.xml" Id="R2b4abec84e704a42" /><Relationship Type="http://schemas.openxmlformats.org/officeDocument/2006/relationships/slide" Target="/ppt/slides/slide13.xml" Id="R38526dfa51854b86" /><Relationship Type="http://schemas.openxmlformats.org/officeDocument/2006/relationships/slide" Target="/ppt/slides/slide14.xml" Id="Ra7a1db5899334a61" /><Relationship Type="http://schemas.openxmlformats.org/officeDocument/2006/relationships/slide" Target="/ppt/slides/slide15.xml" Id="Ra61f3a3935a04ced" /><Relationship Type="http://schemas.openxmlformats.org/officeDocument/2006/relationships/slide" Target="/ppt/slides/slide16.xml" Id="R76c7092574df4261" /><Relationship Type="http://schemas.openxmlformats.org/officeDocument/2006/relationships/slide" Target="/ppt/slides/slide17.xml" Id="Rd4dd7aa5ff974beb" /><Relationship Type="http://schemas.openxmlformats.org/officeDocument/2006/relationships/slide" Target="/ppt/slides/slide18.xml" Id="R5b1ca1a928fa43dc" /><Relationship Type="http://schemas.openxmlformats.org/officeDocument/2006/relationships/slide" Target="/ppt/slides/slide19.xml" Id="R1e012a2aa2984dd3" /><Relationship Type="http://schemas.openxmlformats.org/officeDocument/2006/relationships/slide" Target="/ppt/slides/slide20.xml" Id="R23e94d5979284d6f" /><Relationship Type="http://schemas.openxmlformats.org/officeDocument/2006/relationships/slide" Target="/ppt/slides/slide21.xml" Id="Re1801047dbde4bb4" /><Relationship Type="http://schemas.openxmlformats.org/officeDocument/2006/relationships/slide" Target="/ppt/slides/slide22.xml" Id="R1921ab1831ef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e4683b891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2e3609374d4111" /><Relationship Type="http://schemas.openxmlformats.org/officeDocument/2006/relationships/notesMaster" Target="/ppt/notesMasters/notesMaster1.xml" Id="R7435109443c8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16b3f60854a43" /><Relationship Type="http://schemas.openxmlformats.org/officeDocument/2006/relationships/notesMaster" Target="/ppt/notesMasters/notesMaster1.xml" Id="Ra0de30472162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36a84286884430" /><Relationship Type="http://schemas.openxmlformats.org/officeDocument/2006/relationships/notesMaster" Target="/ppt/notesMasters/notesMaster1.xml" Id="Rf6ae45c8f4f349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0ea7e074a34c43" /><Relationship Type="http://schemas.openxmlformats.org/officeDocument/2006/relationships/notesMaster" Target="/ppt/notesMasters/notesMaster1.xml" Id="R80ddee7fdbfb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d74645bc414548" /><Relationship Type="http://schemas.openxmlformats.org/officeDocument/2006/relationships/notesMaster" Target="/ppt/notesMasters/notesMaster1.xml" Id="Rd9af2cd103e645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cc5afb0224b37" /><Relationship Type="http://schemas.openxmlformats.org/officeDocument/2006/relationships/notesMaster" Target="/ppt/notesMasters/notesMaster1.xml" Id="R390845e428744f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5a5f9136ac4ad7" /><Relationship Type="http://schemas.openxmlformats.org/officeDocument/2006/relationships/notesMaster" Target="/ppt/notesMasters/notesMaster1.xml" Id="Rc7d9cdfb038f42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0631c6656c42a5" /><Relationship Type="http://schemas.openxmlformats.org/officeDocument/2006/relationships/notesMaster" Target="/ppt/notesMasters/notesMaster1.xml" Id="R9158a276dd9e4f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8e9cd0cef4368" /><Relationship Type="http://schemas.openxmlformats.org/officeDocument/2006/relationships/notesMaster" Target="/ppt/notesMasters/notesMaster1.xml" Id="R30afe63a88ec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3a68b299e042e9" /><Relationship Type="http://schemas.openxmlformats.org/officeDocument/2006/relationships/notesMaster" Target="/ppt/notesMasters/notesMaster1.xml" Id="Rfaf61876087145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8133e750c044c8" /><Relationship Type="http://schemas.openxmlformats.org/officeDocument/2006/relationships/notesMaster" Target="/ppt/notesMasters/notesMaster1.xml" Id="Rb2f3979ddaa840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ac451184ca453b" /><Relationship Type="http://schemas.openxmlformats.org/officeDocument/2006/relationships/notesMaster" Target="/ppt/notesMasters/notesMaster1.xml" Id="R3df7b332d4b64f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7e53dafd084a99" /><Relationship Type="http://schemas.openxmlformats.org/officeDocument/2006/relationships/notesMaster" Target="/ppt/notesMasters/notesMaster1.xml" Id="Ra5ab8726d3e24e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bdf67c92884511" /><Relationship Type="http://schemas.openxmlformats.org/officeDocument/2006/relationships/notesMaster" Target="/ppt/notesMasters/notesMaster1.xml" Id="Rb3605296f98c42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6d91bfafe64178" /><Relationship Type="http://schemas.openxmlformats.org/officeDocument/2006/relationships/notesMaster" Target="/ppt/notesMasters/notesMaster1.xml" Id="R965bcce0bf5e48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c538500ba8431b" /><Relationship Type="http://schemas.openxmlformats.org/officeDocument/2006/relationships/notesMaster" Target="/ppt/notesMasters/notesMaster1.xml" Id="Rba8046b1312e44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25fee172e449bc" /><Relationship Type="http://schemas.openxmlformats.org/officeDocument/2006/relationships/notesMaster" Target="/ppt/notesMasters/notesMaster1.xml" Id="R935b02caa3e447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61f3b203f641de" /><Relationship Type="http://schemas.openxmlformats.org/officeDocument/2006/relationships/notesMaster" Target="/ppt/notesMasters/notesMaster1.xml" Id="Rdfe5307a044540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ec70c0d7b34f30" /><Relationship Type="http://schemas.openxmlformats.org/officeDocument/2006/relationships/notesMaster" Target="/ppt/notesMasters/notesMaster1.xml" Id="R3149986b921d40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4fb6ad2aaf461a" /><Relationship Type="http://schemas.openxmlformats.org/officeDocument/2006/relationships/notesMaster" Target="/ppt/notesMasters/notesMaster1.xml" Id="Re98706837b374e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55d2d6b92a44ba" /><Relationship Type="http://schemas.openxmlformats.org/officeDocument/2006/relationships/notesMaster" Target="/ppt/notesMasters/notesMaster1.xml" Id="R8ecd159f8e0d4f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0f80185af74681" /><Relationship Type="http://schemas.openxmlformats.org/officeDocument/2006/relationships/notesMaster" Target="/ppt/notesMasters/notesMaster1.xml" Id="Re774a6b4842140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51601ae4d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2b022e4cf1434b" /><Relationship Type="http://schemas.openxmlformats.org/officeDocument/2006/relationships/slideLayout" Target="/ppt/slideLayouts/slideLayout1.xml" Id="R41646fb65004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46fb65004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2dc26b72349c7" /><Relationship Type="http://schemas.openxmlformats.org/officeDocument/2006/relationships/notesSlide" Target="/ppt/notesSlides/notesSlide1.xml" Id="R98bb2e7caa1f48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6cffaa594272" /><Relationship Type="http://schemas.openxmlformats.org/officeDocument/2006/relationships/notesSlide" Target="/ppt/notesSlides/notesSlide2.xml" Id="R5b3325caed37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48bf084f44b62" /><Relationship Type="http://schemas.openxmlformats.org/officeDocument/2006/relationships/notesSlide" Target="/ppt/notesSlides/notesSlide3.xml" Id="R19fb6f1b533e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07f6992564a4d" /><Relationship Type="http://schemas.openxmlformats.org/officeDocument/2006/relationships/notesSlide" Target="/ppt/notesSlides/notesSlide4.xml" Id="Re7057d15645a47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434d8711c4ccb" /><Relationship Type="http://schemas.openxmlformats.org/officeDocument/2006/relationships/notesSlide" Target="/ppt/notesSlides/notesSlide5.xml" Id="R8c95c6fecf0843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19f46e1684057" /><Relationship Type="http://schemas.openxmlformats.org/officeDocument/2006/relationships/image" Target="/ppt/media/image.png" Id="R89f1f72601354eb6" /><Relationship Type="http://schemas.openxmlformats.org/officeDocument/2006/relationships/notesSlide" Target="/ppt/notesSlides/notesSlide6.xml" Id="Rc6845ae6d9e94c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3ae52ab41452f" /><Relationship Type="http://schemas.openxmlformats.org/officeDocument/2006/relationships/image" Target="/ppt/media/image2.png" Id="Rbdf01301b7c54387" /><Relationship Type="http://schemas.openxmlformats.org/officeDocument/2006/relationships/notesSlide" Target="/ppt/notesSlides/notesSlide7.xml" Id="Rb1f8b440cd2a4a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3c9de8b704ee2" /><Relationship Type="http://schemas.openxmlformats.org/officeDocument/2006/relationships/notesSlide" Target="/ppt/notesSlides/notesSlide8.xml" Id="Ra12ac4c31a5044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96864b3f841a5" /><Relationship Type="http://schemas.openxmlformats.org/officeDocument/2006/relationships/notesSlide" Target="/ppt/notesSlides/notesSlide9.xml" Id="Rdc288f1f1b464d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43cc23c8444a5" /><Relationship Type="http://schemas.openxmlformats.org/officeDocument/2006/relationships/notesSlide" Target="/ppt/notesSlides/notesSlide10.xml" Id="R69c38568b4e446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b2a8e18934501" /><Relationship Type="http://schemas.openxmlformats.org/officeDocument/2006/relationships/notesSlide" Target="/ppt/notesSlides/notesSlide11.xml" Id="R3efb4586e85543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24029b4094f79" /><Relationship Type="http://schemas.openxmlformats.org/officeDocument/2006/relationships/notesSlide" Target="/ppt/notesSlides/notesSlide12.xml" Id="R93717082423a46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07b827e194de2" /><Relationship Type="http://schemas.openxmlformats.org/officeDocument/2006/relationships/notesSlide" Target="/ppt/notesSlides/notesSlide13.xml" Id="Ra3cb6211f2cc43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1835a142f471d" /><Relationship Type="http://schemas.openxmlformats.org/officeDocument/2006/relationships/notesSlide" Target="/ppt/notesSlides/notesSlide14.xml" Id="R95fb705ff8e74e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5c7eb30d14b5e" /><Relationship Type="http://schemas.openxmlformats.org/officeDocument/2006/relationships/notesSlide" Target="/ppt/notesSlides/notesSlide15.xml" Id="R49d8d2e444b94f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4f032c7bd4c9f" /><Relationship Type="http://schemas.openxmlformats.org/officeDocument/2006/relationships/notesSlide" Target="/ppt/notesSlides/notesSlide16.xml" Id="R586f6f451a804b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becf13f01426d" /><Relationship Type="http://schemas.openxmlformats.org/officeDocument/2006/relationships/notesSlide" Target="/ppt/notesSlides/notesSlide17.xml" Id="R01695ca69fdd45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e5dadf89b48f5" /><Relationship Type="http://schemas.openxmlformats.org/officeDocument/2006/relationships/notesSlide" Target="/ppt/notesSlides/notesSlide18.xml" Id="Ree99acffe63d4c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e5c262ae4157" /><Relationship Type="http://schemas.openxmlformats.org/officeDocument/2006/relationships/notesSlide" Target="/ppt/notesSlides/notesSlide19.xml" Id="R10d80cca372941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f5f933a11424a" /><Relationship Type="http://schemas.openxmlformats.org/officeDocument/2006/relationships/notesSlide" Target="/ppt/notesSlides/notesSlide20.xml" Id="Rd7f3ac17073844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383266c9a4657" /><Relationship Type="http://schemas.openxmlformats.org/officeDocument/2006/relationships/notesSlide" Target="/ppt/notesSlides/notesSlide21.xml" Id="Rbe36cd8e64c24d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7dae3c5864ae2" /><Relationship Type="http://schemas.openxmlformats.org/officeDocument/2006/relationships/notesSlide" Target="/ppt/notesSlides/notesSlide22.xml" Id="R43dab8621f7440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60860-9FAE-4A78-AB0B-78F72B57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1470-19AB-4F64-8BB6-A72FE61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43B2D-3264-4721-958E-A5D89A3F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EF3EF-EFC7-4419-A715-A90C77CA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TALENTFLOW AI | MID-TERM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0C1FB-75E9-44C1-B44B-1BE3294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7FB"/>
                </a:solidFill>
              </a:defRPr>
            </a:pPr>
            <a:r>
              <a:rPr sz="3450" b="1">
                <a:solidFill>
                  <a:srgbClr val="F5F7FB"/>
                </a:solidFill>
              </a:rPr>
              <a:t>TalentFlow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F0C29-EA5E-42F3-B8A1-739EE1A9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8CA"/>
                </a:solidFill>
              </a:defRPr>
            </a:pPr>
            <a:r>
              <a:rPr sz="1575" b="0">
                <a:solidFill>
                  <a:srgbClr val="A9B8CA"/>
                </a:solidFill>
              </a:rPr>
              <a:t>Enterprise Candidate Relationship Management and Predictive Intelligence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3E900-2303-4528-B236-0E2A3B0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871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A detailed mid-term presentation covering system design, lakehouse engineering, validation, ML workflow, and future Text-to-SQL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82991-3F94-4F7D-A07F-D830F23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4FA8C-2A30-4344-A68E-E188F89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C7F7"/>
                </a:solidFill>
              </a:defRPr>
            </a:pPr>
            <a:r>
              <a:rPr sz="2250" b="1">
                <a:solidFill>
                  <a:srgbClr val="25C7F7"/>
                </a:solidFill>
              </a:rPr>
              <a:t>2024DA04133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8E4BF-254A-482D-B5B9-DB096CC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BITS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C70F9-4AFB-4C95-B313-281E840F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E05F4-6A03-44E8-8DBE-73F35DE0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577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D689"/>
                </a:solidFill>
              </a:defRPr>
            </a:pPr>
            <a:r>
              <a:rPr sz="2250" b="1">
                <a:solidFill>
                  <a:srgbClr val="25D689"/>
                </a:solidFill>
              </a:rPr>
              <a:t>Mid-Term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148AA-314A-42D5-AB5E-20707B9A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38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Project evaluation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6FB4D-D490-40E3-AF0A-CD6E048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6DC08-04E2-441F-ABCE-4C6B9A7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577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B84B"/>
                </a:solidFill>
              </a:defRPr>
            </a:pPr>
            <a:r>
              <a:rPr sz="2250" b="1">
                <a:solidFill>
                  <a:srgbClr val="F6B84B"/>
                </a:solidFill>
              </a:rPr>
              <a:t>Altimetrik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AA42D-94AD-4457-9251-B4625D3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387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Host organization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430DE-6C24-411E-87AC-62AE7D7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A"/>
                </a:solidFill>
              </a:defRPr>
            </a:pPr>
            <a:r>
              <a:rPr sz="975" b="0">
                <a:solidFill>
                  <a:srgbClr val="A9B8CA"/>
                </a:solidFill>
              </a:rPr>
              <a:t>Malikulashtar K Malampatiwalla</a:t>
            </a:r>
          </a:p>
        </p:txBody>
      </p:sp>
    </p:spTree>
    <p:extLst>
      <p:ext uri="{BB962C8B-B14F-4D97-AF65-F5344CB8AC3E}">
        <p14:creationId xmlns:p14="http://schemas.microsoft.com/office/powerpoint/2010/main" val="411432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92AFE-CF29-4629-AA01-DD706A19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B2166-A8D1-4491-9D6A-3BB81EA0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EF1F5-0FF9-4BBB-B680-751E2E3E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7D928-79F1-4A11-B8DE-46C8A434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NARRATIVE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42AFE-19B3-4C4A-A372-3B66E190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Presentation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DC132-D9FC-443A-8424-F048D7EE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3BCDE-0ECC-47AC-9A5A-143DEAD6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How the review is structured for the examiner: problem, architecture, implementation evidence, validation, and next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FEDA3-E0F2-4158-9E93-9BE35041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9CEA1-1F9C-4B5B-B967-12C28440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FD22-9FE4-4B09-8A1D-1C82A32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Why TalentFlow AI?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BC03D-D0A1-4C2A-8930-C4064403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Recruitment data fragmentation, loss of candidate history, and manual reporting bottlenecks.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30ADC-1ED8-4F40-BBA6-662A3AFA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A9096-7DA1-4AB4-903D-7F7630DE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B893B-CA15-4866-BFF8-CDDE68B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How the system is built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C99CE-CC16-4338-B610-F3CAE14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Streamlit portals, PostgreSQL operational schema, Azure lakehouse, Prefect flows, DuckDB Gold analytics.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D54DB-8CBB-4C49-9BD9-3EC5A08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BB956-658B-41A9-A829-660B747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C9544-0B87-4729-B3B9-E5BB5E93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What has been completed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205A1-44E1-4169-9E28-45E1EDA2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Frontend workflows, Bronze/Silver/Gold ELT, Gold KPI datasets, ML artifacts, validation scripts.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920DC-7F54-4C27-BB72-9642232C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71875"/>
            <a:ext cx="5048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1B3DE-1E41-42F3-9C5E-179C6396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C7F7"/>
                </a:solidFill>
              </a:defRPr>
            </a:pPr>
            <a:r>
              <a:rPr sz="1800" b="1">
                <a:solidFill>
                  <a:srgbClr val="25C7F7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7A9E0-2EF4-4522-8B3B-F6735AF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00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B"/>
                </a:solidFill>
              </a:defRPr>
            </a:pPr>
            <a:r>
              <a:rPr sz="1425" b="1">
                <a:solidFill>
                  <a:srgbClr val="F5F7FB"/>
                </a:solidFill>
              </a:rPr>
              <a:t>What remains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4051E-500C-4A4F-9526-9F33F9E8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Text-to-SQL conversational interface, stronger model validation, production hardening and final dissertation polish.</a:t>
            </a:r>
          </a:p>
        </p:txBody>
      </p:sp>
    </p:spTree>
    <p:extLst>
      <p:ext uri="{BB962C8B-B14F-4D97-AF65-F5344CB8AC3E}">
        <p14:creationId xmlns:p14="http://schemas.microsoft.com/office/powerpoint/2010/main" val="834936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62719-BDDE-4C3E-8868-79D10DD5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BD7D5-9906-4677-B6CA-B78DCAE5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82151-D730-462B-93CA-516456DC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13AEB-F074-4322-B57C-574DD48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10995-DDA2-44A7-860C-DABF18CF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Problem Definition and 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35372-D42B-4101-B1E4-9F55B4E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78D14-A6E1-4829-AF7F-202E107A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TalentFlow AI was designed around a practical recruitment-data problem: operational tools capture activity, but do not automatically create reliable analytical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26846-D206-437F-A23A-2E278E9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C2AB4-DF58-4193-9D7B-D19F4A42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6A6A"/>
                </a:solidFill>
              </a:defRPr>
            </a:pPr>
            <a:r>
              <a:rPr sz="750" b="1">
                <a:solidFill>
                  <a:srgbClr val="F06A6A"/>
                </a:solidFill>
              </a:rPr>
              <a:t>OPERATIONAL FRAGMENTATION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8E31F-1B7A-4B49-9C97-19C02760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41AF6-6429-42A5-B65A-7C20551E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Candidate profile, interview schedule, feedback and engagement data are spread across workflow screens.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20105-D78D-4B5A-9E52-AFB1F87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CC1D1-B6F9-4D31-99E0-DE25D13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Simple update-in-place systems overwrite the earlier state of a candidate.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48461-7EAB-4DA2-B996-74DB219B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FDA53-16B9-4E00-B232-D336D679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Recruiters need timeline-aware information, not just the current profile row.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873FF-3C85-45E7-AFC7-B5C13C5E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EA392-597D-4C96-A58E-FC52F397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ANALYTICS BOTTLENECK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0C9AD-CA67-42F9-94CF-338210A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66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058EB-61F3-47F7-96E3-07DE9554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574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Hiring-funnel, salary, engagement and city-level questions require manual SQL or exported reports.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A3574-639F-4C01-A4CE-66EE2247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7F70E-413D-4C81-BFC0-A37C6FE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0990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Operational databases are not designed as business-facing reporting products.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A5FE3-8ED3-4710-B741-8599B95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71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E196E-DC2A-4195-9C53-57C6BAB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623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Data quality and privacy must be handled before analytics are trusted.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D8A85-ED5E-419E-8556-101E88F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AA440-A325-4B4E-AD80-23D3657D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PROJECT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44670-DEAB-439B-AE19-8D5579F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66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03EEE-8112-47B3-BAF5-B6ECE94A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Separate OLTP work from lakehouse analytics.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71693A-CB86-499C-A7AF-43C58CA0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19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4DBAE7-C677-4229-ABB9-088AE2C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Preserve historical candidate versions through Silver SCD2 logic.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DB8A9-E52C-4C50-AC78-F9D5961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71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99DFA-59A0-4202-A851-6979CF1B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505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Serve Gold KPIs and ML features to admin dashboards and future conversational analytics.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6074CD-BD1C-4A6D-B772-3357EA2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C7F7"/>
                </a:solidFill>
              </a:defRPr>
            </a:pPr>
            <a:r>
              <a:rPr sz="1500" b="1">
                <a:solidFill>
                  <a:srgbClr val="25C7F7"/>
                </a:solidFill>
              </a:rPr>
              <a:t>Design implication: the project is not only a recruitment portal; it is a governed recruitment-data product.</a:t>
            </a:r>
          </a:p>
        </p:txBody>
      </p:sp>
    </p:spTree>
    <p:extLst>
      <p:ext uri="{BB962C8B-B14F-4D97-AF65-F5344CB8AC3E}">
        <p14:creationId xmlns:p14="http://schemas.microsoft.com/office/powerpoint/2010/main" val="1047228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EC7CC-5385-46BA-9041-93DFBE0C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BFBB1-6F4A-4DF1-8778-BD88BED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ECF8E-2CB5-41F3-9B0C-2A9D1B2C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BC005-2B09-4F5A-BDAB-E5EA859C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7EB76-4325-4BB9-8441-5F22ED10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Project Objectives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FB99B-8E79-4285-AF4E-94E648E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6C828-2845-4D9D-9FD1-F408289E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scope combines application workflows with data engineering and AI readiness, so the system demonstrates end-to-end recruitment intelligence.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8B503-1447-472B-8FA3-6DEB045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92A38-93D2-475D-8FAA-A661964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8A7BF-A7BE-4162-92CB-CB20C799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02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9C223-D0C5-4CEC-8174-A8D8439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8002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Implementation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88749-4BA1-4E45-BD5A-71A2934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75471-5DB1-40D0-9C32-17190DE3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Operational 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BF168-8AAA-4D23-A5CB-A2DF526E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3241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Candidate, interviewer and admin workflows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295A0-DA92-43B7-8C99-57B4111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3241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Streamlit portal, profile updates, schedules,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5DC5B-C0D0-4BB7-8FC6-2FB52690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1B764-6780-41F4-A3FC-63716FAB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Relational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366E2-D098-401B-933B-A4C5B19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479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Normalized recruitment source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17ED6-65D9-4A92-8A19-9227B29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8479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13 PostgreSQL tables with PK/FK/CHECK/UNIQUE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FE142-6842-4587-A48E-8BB145A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C2EF3-7D03-46F2-887D-4C4A4111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Lakehouse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5A020-0B63-4D78-A01E-2515160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37185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Bronze raw, Silver secure, Gold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07A83-C1FB-459E-A927-55A7560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37185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Versioned Parquet outputs with latest copies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F9FE9-2BF4-4B4F-A43E-6C958E70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40A23-BC3F-4178-BDFC-DDBC972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Orchestration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4C81F-EF11-4064-BC67-1E5C379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8957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Repeatable ELT with observability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26DF9-50AC-4EB1-A281-98F00BA7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89572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Prefect full flow and 2-minute demo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7DA48-08CE-4203-AFE1-AB2DFF8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4F4DB-9297-4B5A-A00E-3B9EA38A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Analytics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F8005-6BF7-4435-B9FC-F38D2F8D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4196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Recruitment KPI datasets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571A7-9E78-4193-B1B7-1CC7AC64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419600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city_talent_score, salary_benchmarks, engagement, funnel, hire_rate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F0BACD-511C-4684-B3B3-E4E082E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1010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9FC1A-D50C-4A42-BAC2-F273FFB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Predictive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179A3-AEDA-4C1F-BB20-C8783C4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9434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ML-ready features and model artifacts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43171-2CF5-4C26-BB76-ACF1929B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943475"/>
            <a:ext cx="3498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Random Forest pipelines, metrics JSON, feature importance CSVs</a:t>
            </a:r>
          </a:p>
        </p:txBody>
      </p:sp>
    </p:spTree>
    <p:extLst>
      <p:ext uri="{BB962C8B-B14F-4D97-AF65-F5344CB8AC3E}">
        <p14:creationId xmlns:p14="http://schemas.microsoft.com/office/powerpoint/2010/main" val="1800861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719D1-48BB-463F-A8E1-4022DBCD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A4FFE-78B6-40BD-940D-A28B9811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FFC8B-44D1-4521-9158-605C2FB7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34D8-61CD-44E2-865E-AED51F1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SYSTEM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EE3E0-FA14-4022-B289-B0D108E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Current Implementation Modules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F6F05-0D2B-4A37-9FC9-CC8FEDD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458B9-2FBD-4867-AF55-A829D917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implementation is modular: user-facing actions are separated from storage, transformation, analytics, metadata and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0757C-1119-4BD6-8983-D36A361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2BA08-57F3-4CD3-A865-D43E7E3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Candidate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BF8A3-EEDE-41FC-8805-8F71D138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430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Registration, login, profile display/update, engagement logging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7F87F-B2E8-43F2-901F-E4E6738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E37F7-0D83-49B2-BD1E-9E756C19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Interviewer Portal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4FC56-C652-45A9-85A6-425A043D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430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Assigned interview view, structured rating, comments and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B3040-AD17-4584-9411-2F0B5ED6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599F8-FC05-4C9D-A7AE-F3137F6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Admin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6CD9B-F581-4B83-B38D-7EBFAE6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Recruiter assignment, schedule control, KPI tabs and ML feature insights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C2066-FEB0-46E4-AE48-146BB82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80567-F306-42FC-B89A-624C4FE7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Operational 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45D6D-FEC5-41B0-B507-CF061D3E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PostgreSQL recruitment entities, constraints, audit and login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BCD1F-501F-4824-8B5A-69B6644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4C9D3-446F-4BC5-8228-7C50D930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Bronze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3A240-5037-4F36-A48E-82F5D7B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718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Raw source extraction to versioned Parquet paths and latest copies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DF285-CBF6-400A-B35F-584A8B9D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3243A-E65A-4EA8-9973-FC3C051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Silver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5AB17-0443-4438-A4CA-B072168B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PII encryption, SCD2 candidate tracking, secure Parquet outputs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37D14-C851-4F91-AF95-A438DB8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A6BB1-072B-42E7-A2E7-52D47ACF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Gold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D0479-BCB3-4F78-B74F-B9D04D1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862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DuckDB KPI aggregation and optional analytics schema publishing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A427C-8FA4-4C1D-AC45-E954F704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09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2412ED-36B1-44B4-9CAC-BEED6197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95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C7F7"/>
                </a:solidFill>
              </a:defRPr>
            </a:pPr>
            <a:r>
              <a:rPr sz="1125" b="1">
                <a:solidFill>
                  <a:srgbClr val="25C7F7"/>
                </a:solidFill>
              </a:rPr>
              <a:t>ML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F2BAD-560E-412B-8375-658BCBD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8627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A9B8CA"/>
                </a:solidFill>
              </a:defRPr>
            </a:pPr>
            <a:r>
              <a:rPr sz="923" b="0">
                <a:solidFill>
                  <a:srgbClr val="A9B8CA"/>
                </a:solidFill>
              </a:rPr>
              <a:t>Random Forest artifacts, metrics, feature importance and dashboard output</a:t>
            </a:r>
          </a:p>
        </p:txBody>
      </p:sp>
    </p:spTree>
    <p:extLst>
      <p:ext uri="{BB962C8B-B14F-4D97-AF65-F5344CB8AC3E}">
        <p14:creationId xmlns:p14="http://schemas.microsoft.com/office/powerpoint/2010/main" val="987167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8BF16-FD9B-473C-88B2-D29DC3C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7C3C9-29A3-4C5A-BE01-5013B872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57AC6-4E91-43C7-B9FA-0C04F997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8B500-D346-413A-95C6-D30938A5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16DFE-558D-4F44-8433-8E96D3D6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End-to-End Functional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1106E-E44E-4A14-BBDC-DF4C1A64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B2721-E0F3-4CDE-8B0C-86243673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implementation follows the flow captured in your mid-term report: operational capture, medallion ELT, Gold analytics, and ML outputs.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1f72601354eb6"/>
          <a:stretch xmlns:a="http://schemas.openxmlformats.org/drawingml/2006/main"/>
        </p:blipFill>
        <p:spPr>
          <a:xfrm xmlns:a="http://schemas.openxmlformats.org/drawingml/2006/main">
            <a:off x="2871913" y="1381125"/>
            <a:ext cx="6448174" cy="2333625"/>
          </a:xfrm>
          <a:prstGeom xmlns:a="http://schemas.openxmlformats.org/drawingml/2006/main" prst="roundRect">
            <a:avLst>
              <a:gd name="adj" fmla="val 32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187EF-3BBE-4404-B6C0-701E2E8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55285-226E-465E-81BC-FDB3AAC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2BCB5-5F05-41D9-89D9-29E7C512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Candidate, Interviewer, Admin and KPI screens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35B7A-C028-4724-AB62-7FA6D4C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63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F23AF-306F-473F-8A2E-B1179A2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713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847D5-3FA4-4F6B-962D-0E77C248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689D1-1102-4CC7-B8BE-CBB42745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Normalized OLTP source and audit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82653-95FE-49D2-BA8E-F06ABBA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67008-5689-4576-9A64-B9035E8C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280C9-B67B-4BA8-A44A-B6BE239A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Bronze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C4252-BA09-48D0-946F-135EF54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Raw extracts with versioned run folders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26605-D3A1-4C9E-A00E-913E7BC6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8E85D-19EC-405E-BB05-89E9A69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E8156-9169-47D3-9FBC-61B6F61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Silver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1D62B-51A4-448E-9509-57DFF7B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PII encryption and SCD2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BB9B4-C9C9-4D20-A4D2-8C5498D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75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28CCA-D67A-4F53-9EC9-89934C5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25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D5FBE-7733-4939-80DA-930545F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Gold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8F79A-0845-4D73-87F6-12BA927F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DuckDB KPIs as Parquet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E7EB5-8B21-4A5A-89C3-2652A849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4695825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56F40-11F9-45B4-9032-7E014DAC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063" y="4333875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21B13"/>
          </a:solidFill>
          <a:ln xmlns:a="http://schemas.openxmlformats.org/drawingml/2006/main" w="9525">
            <a:solidFill>
              <a:srgbClr val="AD683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5F281-0440-42A3-8448-CE25761F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4448175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84B"/>
                </a:solidFill>
              </a:defRPr>
            </a:pPr>
            <a:r>
              <a:rPr sz="975" b="1">
                <a:solidFill>
                  <a:srgbClr val="F6B84B"/>
                </a:solidFill>
              </a:rPr>
              <a:t>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7E80C-0ABB-4F24-9FD7-6413E8D8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4733925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Training artifacts and feature insights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378825-215D-4F72-B1B7-44636C7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9B8CA"/>
                </a:solidFill>
              </a:defRPr>
            </a:pPr>
            <a:r>
              <a:rPr sz="1013" b="0">
                <a:solidFill>
                  <a:srgbClr val="A9B8CA"/>
                </a:solidFill>
              </a:rPr>
              <a:t>Reference alignment: medallion architecture improves quality progressively from raw to validated to business-ready data; Gold is optimized for analytics and ML consumption.</a:t>
            </a:r>
          </a:p>
        </p:txBody>
      </p:sp>
    </p:spTree>
    <p:extLst>
      <p:ext uri="{BB962C8B-B14F-4D97-AF65-F5344CB8AC3E}">
        <p14:creationId xmlns:p14="http://schemas.microsoft.com/office/powerpoint/2010/main" val="1302293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6A525-0F56-4E9D-A84D-BA64823E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02C28-7ACC-4114-AF3A-5FDF2354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8DF6D-AB5A-4050-BAE4-97CC04F5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F45FC-72AA-4CE5-8B5B-392337D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DATABASE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AF6B6-9CA9-4522-AEA0-475C911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ER Diagram and Relational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5C3FB-63E0-4E3B-8F29-1CE12ED1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2147-696F-4359-87C3-5CAD34D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OLTP database is normalized to protect operational integrity before data enters the lakehouse.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01301b7c54387"/>
          <a:stretch xmlns:a="http://schemas.openxmlformats.org/drawingml/2006/main"/>
        </p:blipFill>
        <p:spPr>
          <a:xfrm xmlns:a="http://schemas.openxmlformats.org/drawingml/2006/main">
            <a:off x="523875" y="1414198"/>
            <a:ext cx="6762750" cy="4696354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04F95-B22D-461E-8B1D-2608EC8E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3857625" cy="4762500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84A73-3733-40D2-90ED-8E6ECD5C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SCHEMA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6EF9B-CE54-4785-BEF1-221450E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05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59E15-94AE-401D-B5BC-6419C1B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Candidate core: candidates, education, login logs, audit 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1574E-244A-4CDA-AABD-E2393877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38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30559-45DF-4EB3-B9CC-C59AD8C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Hiring and evaluation: jobs, stages, interviewers, schedules, feedback, responses.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F9E92-3EF1-430C-ADD6-AFA0B3D4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71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5B4EC-B86C-494F-8517-A504E42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Administration: recruiters and reference tables.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43F2D-22CF-44BF-ABCE-FD73F473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05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D357E-914D-43CA-AA99-74E3757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Integrity: UUID primary keys, foreign keys, unique emails and rating CHECK constraint.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7CEA4-1A3C-4E02-B7BC-83731FA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386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219F0-E5CA-4169-ABBA-172F8A19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981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Analytical seed: login logs and feedback become ML features and Gold KPIs.</a:t>
            </a:r>
          </a:p>
        </p:txBody>
      </p:sp>
    </p:spTree>
    <p:extLst>
      <p:ext uri="{BB962C8B-B14F-4D97-AF65-F5344CB8AC3E}">
        <p14:creationId xmlns:p14="http://schemas.microsoft.com/office/powerpoint/2010/main" val="1238944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A2FA9-47C6-4A01-B111-2B1DFD9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6F8E6-8ECA-4DEA-8AC0-D9AE1378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5D5D-1CB1-4FE9-9992-CD30F5B2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AD207-CF56-4C90-9C01-506841A6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OLTP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E6BD3-3E9B-46D4-846D-FD3F9F59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PostgreSQL Operational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4ABB6-374C-48D7-8217-928ADE2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F5701-A580-485A-88EB-F357BB47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PostgreSQL is used as the transactional source of truth; the lakehouse is not a replacement for the normalized application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EC385-67EC-4BBD-BAC6-EBB8606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D2B90-F08D-4B62-97F1-D0D27D2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WHY POSTGRESQL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7EA3D-71EF-4183-83C7-FB5DC6CB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95F6B-1494-43BE-A562-B4F70AB3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Recruitment workflow needs row-level consistency and relational integrity.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56131-84C0-4F63-B604-3B723733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4BAEC-01CA-4ED8-B0F7-666D7849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Foreign keys connect candidate, schedule, job, interviewer and feedback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D08F4-F22F-4170-B43D-4AB57007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D5F00-FBE7-483F-A82A-648478D8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Constraints prevent invalid operational values before they reach analytics.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21D35-6777-435D-B1FE-68C3404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8A5A2-10E8-4F95-A54F-0F49E9F1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The schema remains understandable for application queries and migrations.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46C0E-0001-4E21-AF6E-0A8A2B7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4563E-BDF2-4977-80C9-822F632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REPRESENTATIVE SCHEMA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38417-B396-4F16-B94D-7DB0F80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6334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candidates(candidate_id UUID PRIMARY KEY, email TEXT UNIQUE NOT NULL, expected_salary NUMERIC)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interview_schedules(schedule_id UUID PRIMARY KEY, candidate_id FK, job_id FK, interviewer_id FK, stage_id FK)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interview_feedback(feedback_id SERIAL PRIMARY KEY, schedule_id FK, rating INTEGER CHECK rating between 1 and 5)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login_logs(log_id SERIAL PRIMARY KEY, candidate_id FK, login_timestamp)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1BB81-A902-4D2B-87EB-4AE176E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72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A"/>
                </a:solidFill>
              </a:defRPr>
            </a:pPr>
            <a:r>
              <a:rPr sz="975" b="0">
                <a:solidFill>
                  <a:srgbClr val="A9B8CA"/>
                </a:solidFill>
              </a:rPr>
              <a:t>Reference used: PostgreSQL constraints documentation confirms CHECK, NOT NULL, UNIQUE, PRIMARY KEY and FOREIGN KEY controls for table integrity.</a:t>
            </a:r>
          </a:p>
        </p:txBody>
      </p:sp>
    </p:spTree>
    <p:extLst>
      <p:ext uri="{BB962C8B-B14F-4D97-AF65-F5344CB8AC3E}">
        <p14:creationId xmlns:p14="http://schemas.microsoft.com/office/powerpoint/2010/main" val="1750132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2D275-4621-4D88-A3ED-4DCF75E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5B19-EAD6-4733-A9BE-E3DB288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D5189-9EDE-48C8-B04D-A8B99A62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9EA19-DAAC-4331-939B-827167E8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LAKEHOUSE RATIONALE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6180C-4523-4E4A-AD36-9043620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Why Medallion Architecture?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7936B-2145-4BE6-A1CB-0ADE861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639AF-F5D1-4DB0-8B8F-AAE24A1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project uses Bronze, Silver and Gold layers because each stage has a different responsibility and audience.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48526-D301-41F4-A5A7-FF5A437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597F6-F78F-413A-80F3-23C8B421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3660A-3752-427E-9F34-BA054BAB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430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TalentFlow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7362B-A454-4991-9003-1AC461F0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Reference-backed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1341-314B-4B9D-A8E4-796D68A1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DCBB3-B796-46F3-9AEC-95AF0618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Bronze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3ED10-AE8F-48DD-9472-3DCD23CC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Extract each PostgreSQL table to raw versioned Parquet plus latest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BD931-F1CE-43E8-ABAA-059BA9F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Preserve source fidelity, enable reprocessing and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AFD4-FC97-4C5C-ACA7-05412BC1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4A37B-B00F-4468-85B5-6052966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Silver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ADF8C-17F3-448C-94FB-30765161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051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Encrypt PII, normalize UUIDs, apply row_hash and SCD2 current 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13F4B-B5E9-4368-8FA9-48BCBCE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0517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Clean, validate, deduplicate and enrich detailed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E129E-71DE-4CFB-914B-8587D897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FAE6D-CF07-4CFB-A791-2B8D3410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Gold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6B1C4-0FF0-4A85-B6BD-B5671077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862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Build business KPIs and ML feature tables using DuckDB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C3412-18B3-49EC-8DAF-A8FF8715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86225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Serve domain-specific analytics, dashboards and ML-ready datasets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4C166-C214-4F80-A897-F656AE0B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B84B"/>
                </a:solidFill>
              </a:defRPr>
            </a:pPr>
            <a:r>
              <a:rPr sz="1275" b="1">
                <a:solidFill>
                  <a:srgbClr val="F6B84B"/>
                </a:solidFill>
              </a:rPr>
              <a:t>Design comparison: direct OLTP reporting is simpler, but it mixes operational load with analytics, loses historical versions, and makes privacy controls harder to isolate.</a:t>
            </a:r>
          </a:p>
        </p:txBody>
      </p:sp>
    </p:spTree>
    <p:extLst>
      <p:ext uri="{BB962C8B-B14F-4D97-AF65-F5344CB8AC3E}">
        <p14:creationId xmlns:p14="http://schemas.microsoft.com/office/powerpoint/2010/main" val="1370930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2E6F58-5E75-415A-B459-67992603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62EF5-B5D6-4EB7-9C31-CF691BF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719A5-4938-4DF9-8889-171FD719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9ED61-CE94-41B3-BDA4-21BB5C7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BRONZE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F9BBC-CA02-4280-A756-7E5EB028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Bronze Layer: Raw Ingestion and Runtime Lineage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AD5FC-A4E1-454C-8A60-F9296872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120F5-E83F-465E-B441-595F878C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Bronze is intentionally close to the source. It captures raw extracts and ties every table to the same run identifier.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132DF-E4A8-4BB3-AFF4-E1E1E8F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9E3FC-FA47-49B3-8E6C-C1468D4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74257-FFA2-4E67-9C65-380904A8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2A9CB-92FB-4348-B0E1-C0F96A92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Prefect task reads each configured PostgreSQL table with pandas SQL extraction.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8CCE5-917B-42FE-ABBA-D0D730D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602D2-6322-46EF-9341-C8A2989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Each table is written to Azure Blob Storage as Parquet.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50EC5-542C-4179-886A-1E3CEA2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39101-7D77-49E3-B111-F7F9C339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Every run writes a versioned path and a latest copy.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DB4FC-5576-4927-9BF4-743EE6B8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C3EA4-8D1B-4B2B-8471-8DC00C64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Shared run_datetime links Bronze, Silver and Gold outputs from the same execution.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97827-6BE8-4D15-887D-423D5915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29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E7CCE-A231-4270-8066-53D7C645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PATH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40974-8C0A-408D-BAB0-17234442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bronze/&lt;table_name&gt;/run_datetime=YYYYMMDD_HHMMSS/*.parquet</a:t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bronze/&lt;table_name&gt;/latest/&lt;table_name&gt;.parquet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8ECFF"/>
                </a:solidFill>
              </a:defRPr>
            </a:pPr>
            <a:r>
              <a:rPr sz="1200" b="0">
                <a:solidFill>
                  <a:srgbClr val="D8ECFF"/>
                </a:solidFill>
              </a:rPr>
              <a:t>The same run_datetime is passed into Silver and Gold, giving traceability when demo runs execute every 2 minutes.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56AEF-17A0-464B-8C6E-974E598C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A"/>
                </a:solidFill>
              </a:defRPr>
            </a:pPr>
            <a:r>
              <a:rPr sz="975" b="0">
                <a:solidFill>
                  <a:srgbClr val="A9B8CA"/>
                </a:solidFill>
              </a:rPr>
              <a:t>Azure Data Lake Storage is built on Blob Storage and supports hierarchical directory organization for data lake workloads.</a:t>
            </a:r>
          </a:p>
        </p:txBody>
      </p:sp>
    </p:spTree>
    <p:extLst>
      <p:ext uri="{BB962C8B-B14F-4D97-AF65-F5344CB8AC3E}">
        <p14:creationId xmlns:p14="http://schemas.microsoft.com/office/powerpoint/2010/main" val="272712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D8757-015E-4F9B-9CF6-821C1CE9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BAF4C-6D4D-4D62-9EF2-DEACAF28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5CF8F-EA4C-49C0-8640-9924E27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5DB71-5051-4565-87B3-A3554714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SILVER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5CD0F-1EAE-4B02-8FAA-2914C05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Silver Layer: PII Protection and SCD Type 2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ACB79-D975-482B-BD37-3D7D67F1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282E9-3B94-4A01-AB25-BE502112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Silver is where TalentFlow AI becomes analytically trustworthy: sensitive data is protected and changed candidate profiles are versioned.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FFB03-D2DF-41C5-B729-10B7F88D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55273-B4B4-4B5F-8DFC-F02A2C69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PRIVACY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39E7A-FA19-4B82-89E3-49383843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07E15-314C-4A17-872F-EE7333C8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PII columns are encrypted before secure Parquet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4BD8F-D527-4422-9B8A-FD2F00FF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F760E-1C5B-4AA9-B377-042C393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Numeric salary fields are cast to object/string before ciphertext assignment.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A3485-411F-4B04-9FD7-05DF0EAD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ABFC2-914F-447E-A57D-5E81314D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Gold decrypts only the salary value required for aggregate KPI calculation.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5F962-3C60-471C-8776-49496360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31C0A-1EB8-4BF1-AB4C-150E1B16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SCD2 MECHANISM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34FAE-6ADC-4480-B998-50E6E722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218EB-0A23-4816-953E-36514CDA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candidate_id is normalized even when Parquet returns UUID bytes.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155A5-1F67-45B2-8315-4D21F4E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336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577E2-955F-41D9-A849-30B08433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row_hash detects changes across tracked attributes.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501B0-2462-4348-A00A-BC0C7AA6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670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EC65F-4EBA-401B-BC6D-28059CCB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Changed keys close previous rows with end_date and is_current = false.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5681C-DC71-40B9-AD6E-96243084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004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A9A2E2-12D5-43F8-B5E0-889AE98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New versions start with current timestamp and is_current = true.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DE82A-7CF3-46B8-9365-EE7B63B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A8AE2-944F-488D-89C4-EF6F5CA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69397-D83F-4BE9-9E26-9EDDCE2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02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10BFA-9D83-49A4-8440-031D3C1C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Recruitment analytics need the state of the candidate at the time of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DE189-B2EF-4F5F-88DF-7E3E3ED6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EB964-C0DE-4960-B2DB-54EC07D8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Historical profile movement supports longitudinal analysis.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3CFEC0-EED4-45C4-A4FE-720DF33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575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6B4377-78BE-48E9-9AB8-2FE6C5E5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Kimball-style dimensional thinking values clear grain and time-variant history.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F7B7BB-9F51-4AA9-B04E-698CFCE4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B"/>
                </a:solidFill>
              </a:defRPr>
            </a:pPr>
            <a:r>
              <a:rPr sz="1200" b="0">
                <a:solidFill>
                  <a:srgbClr val="F5F7FB"/>
                </a:solidFill>
              </a:rPr>
              <a:t>Mid-term debugging outcome: the pipeline was fixed to handle encrypted strings in numeric columns and UUID byte decoding in SCD2 comparison.</a:t>
            </a:r>
          </a:p>
        </p:txBody>
      </p:sp>
    </p:spTree>
    <p:extLst>
      <p:ext uri="{BB962C8B-B14F-4D97-AF65-F5344CB8AC3E}">
        <p14:creationId xmlns:p14="http://schemas.microsoft.com/office/powerpoint/2010/main" val="1088341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A9BB5-6198-4B83-A291-F5C3D42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9B735-5A46-4CD1-90AB-C7DC0BF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891B2-5B06-46EA-B923-8A4EA52E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6A14A-38E2-4A95-85C5-58006C2E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GOLD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F400-8017-415C-A337-8BBD7962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Gold Layer: Business-Facing Analytical Datasets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FAE80-323C-490D-ABC6-31E768D7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976E5-6073-4BA3-AB00-2CF4F28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Gold converts secure Silver data into purpose-built recruitment KPIs that can be consumed by dashboards, BI tools and ML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A8AC8-09B9-4A21-AECD-A3A9452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91E93-7FB4-48ED-9609-E9ABFDF0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Gold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34A27-4C5B-4B83-A137-1F097E78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657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Business question answered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72FC2-F779-4C30-BD23-104D02E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1BDCD-1B45-4AB1-A801-28C595A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39FE7-054F-4718-A042-4C9D1596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city_talent_score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2C188-6985-4089-B8E8-AD7272E8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669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Where is candidate density high and what is avg salary by city?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F569D-B976-4480-8560-38795923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669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COUNT + AVG expected salary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89972-E23F-4415-B13C-B9E800CC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93C51-31B8-4599-9DA2-34148A7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salary_benchmarks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C67B8-A05B-49F8-B30F-F011E41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8765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How do expected salaries vary by degree?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37B1F-AAA9-4D7A-8B5B-1FC4863F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8765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Join candidates with education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9C449-7A2D-4A0B-ADBB-BF90168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0B354-B190-489B-822A-0271C158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candidate_engagement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C49A5-DFDE-43BC-8553-D9C70386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861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Which candidates are active?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F56E4-6AEE-419A-8DD0-77588314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861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Count login_logs per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D3608-D6CA-4BF5-813E-BD8F26A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5A79E-5D55-47DC-8043-C2E026E0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interview_pipeline_funnel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A7696-7A42-42B3-AA2D-ADADBE58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0957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How many interviews by role, stage and status?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99C5B-8169-4D52-AB3B-DD559477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0957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Join schedules, jobs and stages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75997-7BF8-4F33-BF6F-1273086C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7D71D-542E-43C2-BCB8-D0F1F23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job_hire_rate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2AAB87-F0B0-4AE7-A363-EDC17928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705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Which roles convert feedback into hires?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66E4B-FAC9-499A-8E70-15F2C36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705350"/>
            <a:ext cx="351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Hire count / total feedback percentage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C91E5-B1B2-48D3-8839-2C101F7F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Reference alignment: Kimball/Ross dimensional modeling focuses on business processes, grain, dimensions and facts. Gold tables in this project are intentionally domain-specific and query-ready.</a:t>
            </a:r>
          </a:p>
        </p:txBody>
      </p:sp>
    </p:spTree>
    <p:extLst>
      <p:ext uri="{BB962C8B-B14F-4D97-AF65-F5344CB8AC3E}">
        <p14:creationId xmlns:p14="http://schemas.microsoft.com/office/powerpoint/2010/main" val="1512024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EA7E8-38D7-4BE8-9FD8-B0F3417B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96617-7E7D-4142-A41A-6B033B81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D78F1-F3F7-407E-B63E-066BDB80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26BA0-DA7C-429B-BAC0-672F2B15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ANALYTICAL 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B3B70-9A27-4831-8294-2F97AE1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DuckDB Analytical SQL Over Parquet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75BAF-4998-483A-B7FA-7BB745C3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A042B-F540-41A6-9E7F-E221567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DuckDB is used as lightweight analytical compute for Gold aggregation without making PostgreSQL do warehouse-style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70F8D-2EEE-4DDF-9062-08A6266F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762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A04AD-5CB8-4DEA-B77D-905A5324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WHY DUCKDB?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0B797-2FAC-47BA-857F-29E64580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4D753-661D-4099-96CF-897A806B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Reads Parquet files directly from temporary Silver downloads.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E4FAA-B492-4BD7-8676-24483E7A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518D2-6325-4E70-94C0-47E8B7A2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Uses SQL joins and group-by logic for KPI generation.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6FCBC-8C91-49A3-90A1-4A3D43B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8AC00-4E04-45AE-B81E-3F28A78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Keeps Gold generation lake-first; PostgreSQL publish is optional for dashboard caching.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3A21D-91DE-420A-8850-90D6B08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2B966-3BF8-4AC8-A870-5BF9008C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3743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Simple to run locally during demo and easy to reason about in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EDB09-B37D-4511-A4C5-883B7D67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5810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7142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49B21-32C4-4211-81B1-63E13993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REPRESENTATIVE GOLD QUERY 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A1EB3-C621-4BDA-B9F7-7B40F69A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SELECT j.job_title,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       COUNT(*) AS total_feedback,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       SUM(CASE WHEN f.decision = 'Hire' THEN 1 ELSE 0 END) AS hire_count,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       ROUND(100.0 * hire_count / COUNT(*), 2) AS hire_rate_pct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FROM feedback f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JOIN schedules s ON f.schedule_id = s.schedule_id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JOIN jobs j ON s.job_id = j.job_id</a:t>
            </a:r>
          </a:p>
          <a:p xmlns:a="http://schemas.openxmlformats.org/drawingml/2006/main">
            <a:pPr algn="l">
              <a:defRPr sz="1013" b="0">
                <a:solidFill>
                  <a:srgbClr val="D8ECFF"/>
                </a:solidFill>
              </a:defRPr>
            </a:pPr>
            <a:r>
              <a:rPr sz="1013" b="0">
                <a:solidFill>
                  <a:srgbClr val="D8ECFF"/>
                </a:solidFill>
              </a:rPr>
              <a:t>GROUP BY j.job_title;</a:t>
            </a:r>
          </a:p>
        </p:txBody>
      </p:sp>
    </p:spTree>
    <p:extLst>
      <p:ext uri="{BB962C8B-B14F-4D97-AF65-F5344CB8AC3E}">
        <p14:creationId xmlns:p14="http://schemas.microsoft.com/office/powerpoint/2010/main" val="2076107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09653-C7CF-44ED-8767-0503B87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F0AB4-0341-44DC-A010-45CC44D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EFA44-4EDC-4B10-9BAB-1FB96996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E75F3-0050-4E1A-9ACE-84FE8957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8706B-0ACA-4252-AA8E-5993A946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Prefect Orchestration and 2-Minute Demo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C1950-F8A8-454A-ADB9-40CAED6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5EDCB-3E26-436E-8B5F-676AD96C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pipeline is orchestrated as a full Bronze -&gt; Silver -&gt; Gold flow, with an interval deployment for examiner demonstration.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EF827-2C6F-45F2-A416-9681B57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381375" cy="35242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EB72A-57DD-4C12-835A-52D94D56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FLOW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BD7A4-D730-4216-A181-9F88FBA4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B100E-3739-43C6-B85C-01F60B1A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TalentFlow-Full-ELT creates or accepts a shared run_datetime.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5BB6D-1EE5-45FC-9750-2BABF4EC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2265D-15DC-4630-9D23-940D4E12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bronze_flow, silver_flow and gold_flow run in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FFF62-53ED-40DB-99A7-550065AC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106DA-BD3E-48FE-9EE5-D2E2DFA3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publish_postgres flag optionally caches Gold tables in analytics schema.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BC6FE-FD41-4B55-AF26-30F4601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81375" cy="35242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77996-668E-431A-9092-71BF122D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CLOUD DEMO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7BBD9-40C1-4026-8BB4-95E82063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8E713-F869-461D-81A1-39310DE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Deployment name: talentflow-elt-every-2-min-demo.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15ADC-7F76-4442-84D7-3565C11E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28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8A7BC-9D6D-45F5-8368-FEE2094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Interval: 120 seconds.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FF1F1-0D01-47B4-AE7C-BCBCBB0F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62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3C564-CD18-408E-8979-B456D71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Tags: talentflow, demo, etl.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A56AE-4A9D-4D46-808C-773ECDA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95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6D8CB-D373-4336-B63B-76142072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505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Prefect Cloud shows flow runs, state, failures and logs.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72A06-42F1-40C6-B77B-B20236D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81375" cy="35242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93916-6187-4CF6-BE86-E523ED7B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REFERENCE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53E89F-45E8-4946-814D-BEB4E476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5D5CFA-8BD0-48DD-805B-9394D0E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Prefect flows are decorated Python functions.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4806C-7A6D-4C46-9A72-935FBFF1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E7F05-943B-4E17-84BA-57AA040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Flow run states are tracked for observability.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5909FA-FAAE-4140-A46A-4CA71AE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14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A78CB-4E81-47D3-8E15-02198AE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Deployments allow schedules and remote interaction.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ED0762-6CD1-432E-ADA3-6C6A14A3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5C7F7"/>
                </a:solidFill>
              </a:defRPr>
            </a:pPr>
            <a:r>
              <a:rPr sz="1200" b="0">
                <a:solidFill>
                  <a:srgbClr val="25C7F7"/>
                </a:solidFill>
              </a:rPr>
              <a:t>Demo command used: python scripts/serve_elt_prefect_cloud.py</a:t>
            </a:r>
          </a:p>
        </p:txBody>
      </p:sp>
    </p:spTree>
    <p:extLst>
      <p:ext uri="{BB962C8B-B14F-4D97-AF65-F5344CB8AC3E}">
        <p14:creationId xmlns:p14="http://schemas.microsoft.com/office/powerpoint/2010/main" val="17973736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D7002A-7E44-4F02-8939-992538E5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0350B-7070-4129-BF62-865DF279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1B774-3594-428A-8E52-EB3AD48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DA921-9E4D-4271-84E2-62857028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PREDICTIVE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AEDFD-A021-427F-8DF5-217A3A3C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Machine Learning Workflow and Current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F8A64-515B-47D9-A32B-FAD5FE5B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66F53-2322-49C4-8D6D-BC0FEB7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current ML goal is not to claim a final high-performing model; it is to prove a complete, repeatable predictive-intelligence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C458F-25B3-478A-A963-3ADFC14D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4AA62-200C-460A-A795-30D5235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C7F7"/>
                </a:solidFill>
              </a:defRPr>
            </a:pPr>
            <a:r>
              <a:rPr sz="2250" b="1">
                <a:solidFill>
                  <a:srgbClr val="25C7F7"/>
                </a:solidFill>
              </a:rPr>
              <a:t>0.5021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CD612-5092-488F-A854-122BF0BA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Hire prediction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47BB0-7773-4F81-A6D9-2D8182D9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909A6-42CB-4C71-ADB5-258D369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D689"/>
                </a:solidFill>
              </a:defRPr>
            </a:pPr>
            <a:r>
              <a:rPr sz="2250" b="1">
                <a:solidFill>
                  <a:srgbClr val="25D689"/>
                </a:solidFill>
              </a:rPr>
              <a:t>0.3958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ED5D0-D982-49CE-8446-55B37219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Hire prediction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2678C-2038-4F76-9BA1-8F3AA9D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46BA1-43D3-41E0-B681-2459E8D4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B84B"/>
                </a:solidFill>
              </a:defRPr>
            </a:pPr>
            <a:r>
              <a:rPr sz="2250" b="1">
                <a:solidFill>
                  <a:srgbClr val="F6B84B"/>
                </a:solidFill>
              </a:rPr>
              <a:t>0.5016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F74E0-6592-4A4E-89AE-FA1C9607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Hire prediction ROC-AUC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FA594-2FFD-41BF-B3B4-9E0D365C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2381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1D45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5BE39-1632-4511-B2AA-B8DC900F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24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6A6A"/>
                </a:solidFill>
              </a:defRPr>
            </a:pPr>
            <a:r>
              <a:rPr sz="2250" b="1">
                <a:solidFill>
                  <a:srgbClr val="F06A6A"/>
                </a:solidFill>
              </a:rPr>
              <a:t>1.2278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259C6-C343-4547-9267-CF278D50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050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A"/>
                </a:solidFill>
              </a:defRPr>
            </a:pPr>
            <a:r>
              <a:rPr sz="900" b="0">
                <a:solidFill>
                  <a:srgbClr val="A9B8CA"/>
                </a:solidFill>
              </a:rPr>
              <a:t>Rating prediction 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20153-E6CB-4717-9E9B-D0C8246C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095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42E25-875F-43EE-B6B0-AD0BF2C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PIPELINE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84572-545C-47F7-90E3-EF52E56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74DDF-853F-401D-A591-C15D5B1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Feature query joins feedback, schedules, candidates, jobs, stages, education and login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8DBEC-38D8-440B-B735-5F008A23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1C603-D1EB-4C3D-8EE4-DA85AB5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ColumnTransformer handles numeric and categorical features.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1EFBC-DF3D-4707-8417-D23FB286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AFD70-F2D0-4BAD-8C10-883BD77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Random Forest classifier/regressor artifacts are saved with joblib.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BC114-0840-4850-AAC7-6BF64DD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CE3FB-0789-46FF-B9F7-0924615A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398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Feature importance CSVs are published to analytics.ml_feature_insights.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30AC8-76EF-424F-ADD5-6F83781D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547687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57D9E7-9810-4E3A-B6EF-95EC439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24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TOP HIRE-MODEL FEATURE IMPORTANCES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00A46-84FC-4DB7-8C31-2037A09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expected_salary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0CD12-4965-47E9-9A9D-6ADBCCE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2B054-7E19-4A2C-9D4E-DE39F2F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5337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0.0893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C81421-D253-4DA2-813E-84A226B9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gpa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939EE-7656-47E8-BCF1-2697EF62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250839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B4A7D-C2C9-4C00-97FD-2F2C363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10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0.0871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ECCA0A-8064-421D-85D6-1F8F2118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passing_year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46F072-5094-4D63-A1A4-11F57A52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33850"/>
            <a:ext cx="189497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56270A-E458-4A9E-9182-584E5644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0862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0.0658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5B0B6-AE7D-420C-8DB4-955C49C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login_count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03832E-91B7-4F49-9FE8-D4323066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10075"/>
            <a:ext cx="166746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BFFBAF-DCD4-479D-8807-E6805982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3624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0.0579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E1A012-2A75-4B7F-9497-08272E35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state_Maharashtra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F5E568-8085-4B90-B907-7A7637A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86300"/>
            <a:ext cx="12729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61A0F1-4C74-4483-8D6D-A35388D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6386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5F7FB"/>
                </a:solidFill>
              </a:defRPr>
            </a:pPr>
            <a:r>
              <a:rPr sz="750" b="0">
                <a:solidFill>
                  <a:srgbClr val="F5F7FB"/>
                </a:solidFill>
              </a:rPr>
              <a:t>0.0442</a:t>
            </a:r>
          </a:p>
        </p:txBody>
      </p:sp>
    </p:spTree>
    <p:extLst>
      <p:ext uri="{BB962C8B-B14F-4D97-AF65-F5344CB8AC3E}">
        <p14:creationId xmlns:p14="http://schemas.microsoft.com/office/powerpoint/2010/main" val="20842729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6492E-3E18-47C9-8890-8D6D81E2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8A41B-EC5F-4984-AFBC-25AAC482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7ADF3-4FCC-4C9C-9ACB-FC88A12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FC4B4-0877-4386-8502-BC5370E4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ML RATIONALE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13D99-67D8-4FB9-B592-AF2AD75A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Why Random Forest First?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7C88F-CE71-4997-B5DD-59EFB937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E194E-4DBC-41C2-8F0B-DE19A20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For the mid-term stage, Random Forest is a sensible baseline because TalentFlow features are mostly structured/tabular recruitment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1D500-9FE4-41C5-B051-267EE7F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81375" cy="37147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18416-1E35-49C4-8AC1-B1F61D9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BREIMAN 2001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6BD87-9C2B-485D-AAB7-7979100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36274-3D80-4D3E-8F09-AC4524EC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Random Forest combines many tree predictors.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01954-8B8F-4053-AFBE-A4C6E8D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5D16D-B3FD-42BC-8760-38D53A90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Generalization depends on individual tree strength and correlation.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6EEED-A052-406E-94EB-AD9273E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0F5C3-E69D-49F5-808D-5087665C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575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Variable importance is part of the method family.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0C44E-06A4-46E2-A091-3C18D6E0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381375" cy="37147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73EED-2FD0-4C9D-A2ED-6ED79243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38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SCIKIT-LEARN IMPLEMENTATION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C1720-4DAD-421A-BA6A-958F285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E2BFD-0FA0-4BA1-B939-4BF1B51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Pipeline prevents leakage by applying preprocessing inside training 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74DFC-E169-42C4-ABDC-D463A57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17651-00BA-4ACD-968E-D4437C59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479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ColumnTransformer keeps numeric and categorical transformations explicit.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CDFDE-9320-4EA4-B18B-85937361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E8BA8-9182-4DC5-BB08-F21FC19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575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Class weight balancing is used for hire classification.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B2769-7561-4B3B-BED6-FD2C639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381375" cy="371475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29921-3F83-455B-9FBC-8373CEDE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F65E3-627F-4486-97CE-E430284B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007EF-CB05-49DB-9B03-6CDB7FDF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Current metrics are modest and honestly reported.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AE490-FF81-474F-A3A6-F3133E0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C8FCD-0FA5-4FE2-B837-F0E1281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The achievement is an end-to-end ML path, not final model maturity.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547FE-414B-4029-90A9-F0191BC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15312-15FB-4F5C-B440-326D336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57575"/>
            <a:ext cx="2505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Next work: stronger features, balanced labels, model cards and drift checks.</a:t>
            </a:r>
          </a:p>
        </p:txBody>
      </p:sp>
    </p:spTree>
    <p:extLst>
      <p:ext uri="{BB962C8B-B14F-4D97-AF65-F5344CB8AC3E}">
        <p14:creationId xmlns:p14="http://schemas.microsoft.com/office/powerpoint/2010/main" val="2017355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3DA7D-6548-4474-BCFE-7478295E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EE4A1-9FDC-4447-A707-D45013C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B06B1-5E80-4CF4-929E-5D0C6B7F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2CDFF-3C8B-4408-BCD8-4FBCFAC7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CONVERSATIONAL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EA860-6209-4E42-90BD-DDD5F637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Natural-Language Analytics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51965-B315-467B-82E0-60EC4FA4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F8A52-0758-47BA-948F-009074C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LLM/Text-to-SQL component is planned after the data platform is stable, so natural-language answers can be grounded in trusted Gold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6AFD9-B90A-4591-B69C-D2A5B0D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1AF3A-565E-4DB3-B4DD-CF0AFFB1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575A0-B352-4BBF-9D85-668D52FA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Recruiter asks business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F2267-5BFC-4AD8-B105-9B5C2EA6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63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56A70-EB0B-44E5-BEDE-FE72D40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713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9BF9D-8639-4368-B1F1-E59B81D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Schema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F454B-8EDA-4FC8-A19F-67AEA5AD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13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Gold table names, columns and business definitions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7D549-0A68-4740-BB50-44307267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DE67C-2E67-4316-9FF2-E0F621FA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3B019-B204-4BA5-8E1F-1B90143B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D6569-4FD2-4A0B-B058-54BA62CD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Intent parsing and SQL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3CB57-C67E-4653-89EC-2A7C1254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07D2C-69A9-40EA-953D-AF1ED725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88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34717-1DAC-4297-BEE1-F91452E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Guardrail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90EA1-EE13-4314-A868-0DFD7749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Validate tables, columns, filters and read-only 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A03E1-B760-4775-AE9E-9DFF8BC8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75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B5F5F-2233-419B-A58B-D02C798C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25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D2035"/>
          </a:solidFill>
          <a:ln xmlns:a="http://schemas.openxmlformats.org/drawingml/2006/main" w="9525">
            <a:solidFill>
              <a:srgbClr val="214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10E45-B570-4B10-8B69-56F8A21D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7F7"/>
                </a:solidFill>
              </a:defRPr>
            </a:pPr>
            <a:r>
              <a:rPr sz="975" b="1">
                <a:solidFill>
                  <a:srgbClr val="25C7F7"/>
                </a:solidFill>
              </a:rPr>
              <a:t>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01AA5-B912-4165-B23F-34F33F03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25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Run against Gold/analytics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A09FCE-E12D-45CB-B7E3-7414D4E8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2171700"/>
            <a:ext cx="13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B8CA"/>
                </a:solidFill>
              </a:defRPr>
            </a:pPr>
            <a:r>
              <a:rPr sz="1275" b="1">
                <a:solidFill>
                  <a:srgbClr val="A9B8CA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76FD5-9F93-4680-B7C2-7D5CF01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063" y="1809750"/>
            <a:ext cx="1770063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21B13"/>
          </a:solidFill>
          <a:ln xmlns:a="http://schemas.openxmlformats.org/drawingml/2006/main" w="9525">
            <a:solidFill>
              <a:srgbClr val="AD683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9AB3B-9AAA-44EB-AA5F-ACF8046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1924050"/>
            <a:ext cx="15414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B84B"/>
                </a:solidFill>
              </a:defRPr>
            </a:pPr>
            <a:r>
              <a:rPr sz="975" b="1">
                <a:solidFill>
                  <a:srgbClr val="F6B84B"/>
                </a:solidFill>
              </a:rPr>
              <a:t>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5371E-1755-4A91-8E6B-A01373A5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363" y="2209800"/>
            <a:ext cx="1541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A"/>
                </a:solidFill>
              </a:defRPr>
            </a:pPr>
            <a:r>
              <a:rPr sz="788" b="0">
                <a:solidFill>
                  <a:srgbClr val="A9B8CA"/>
                </a:solidFill>
              </a:rPr>
              <a:t>Return explanation and KPI 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6B2E7-5B75-4B45-8822-9E48DA94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43C2A-79D6-4B71-B378-6521AD9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6A6A"/>
                </a:solidFill>
              </a:defRPr>
            </a:pPr>
            <a:r>
              <a:rPr sz="750" b="1">
                <a:solidFill>
                  <a:srgbClr val="F06A6A"/>
                </a:solidFill>
              </a:rPr>
              <a:t>WHY NOT LLM-FIRST?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E6B8D-0707-4801-B837-38322B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95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63BC8-2941-4404-849A-95F6484A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A language model without trusted data produces impressive but unreliable answers.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EC7F1-D54A-4AFA-AAB4-E5D775A1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D7799-2EAD-48F9-BE97-72726D53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Gold tables give the model a governed semantic surface.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C2F43-03F1-41EC-A004-8933D46A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C55C03-F58D-460F-8EA8-405FD7F9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Read-only SQL validation reduces operational risk.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EF577-2C91-4B34-87CC-57EE25BC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953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5BFA3C-22DE-4C24-99E4-A255C42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REFERENCE CONNECTION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3684D5-29BE-4CAD-B504-B87CFE15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95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24D4E5-A791-4FDF-B892-773CD15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Vaswani et al. introduced Transformer attention foundations used by modern LLMs.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CA61B5-13D3-453E-9543-02519F2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0FE166-152B-4BE6-8505-F9A71AC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In this project, LLMs are an interface layer, not the system of record.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7807CF-E0FF-4536-9D49-D6C8AA43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96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8C7832-D49E-4C59-AFFA-513109B0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The trustworthy layer remains PostgreSQL + lakehouse + Gold validation.</a:t>
            </a:r>
          </a:p>
        </p:txBody>
      </p:sp>
    </p:spTree>
    <p:extLst>
      <p:ext uri="{BB962C8B-B14F-4D97-AF65-F5344CB8AC3E}">
        <p14:creationId xmlns:p14="http://schemas.microsoft.com/office/powerpoint/2010/main" val="2038703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4109F-4DEA-4C79-AD9C-8ED3FB5E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22617-ED0C-408E-83DD-B1B854D6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7940D-EB0A-45B5-9793-54C251B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20212-71A5-4BD0-AB45-AE99426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6B0AF-495D-41A2-B979-BED60855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Testing, Validation and Quality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D7CAF-1985-4A45-A0B8-9F801B4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D344F-F384-4A8E-A0A9-FF19B1C5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Testing was implemented as a project safety layer, especially for Gold analytics and lakehouse contracts.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66174-5E62-480D-90AA-55F496FC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C6CE6-F3E0-44A1-8AF8-773E4D5A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9C620-2F65-4A7D-8331-E8BB8753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04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analytics schema exists; expected columns are present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8D734-7B40-4A8A-BB36-D6FBEDF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93A3C-5F62-4B06-B9D5-4AA5F538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C1BC0-070A-465A-B807-DA7F735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04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Gold tables are created and row counts are non-empty unless explicitly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DC20D-07A1-437C-BAAF-7671B9E9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CFE1B-E2B1-4396-AB35-CBC22F2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Nulls/ranges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54702-444E-46B7-9123-5F1C13B1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71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Candidate counts, salaries, login counts and hire rates are checked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0BA07-E40B-4A9B-8982-AE8125B0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A791E-6133-4BC1-9584-6006A535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Duplicates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B7F62-9D88-4EF7-ADEC-84CCBF1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71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Candidate, job and funnel duplicate groups are detected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7603C-E8ED-4E8A-8A57-531E2C0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A8A6F-385A-45A3-B076-BCEB30A8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Reconciliation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139EA-0926-42DC-91BA-FFDE348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38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Gold totals are matched back to source login, schedule and feedback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9528C-0052-479E-A644-0ECF528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5095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855AF-1DD2-4596-AE2C-D28CE522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689"/>
                </a:solidFill>
              </a:defRPr>
            </a:pPr>
            <a:r>
              <a:rPr sz="1200" b="1">
                <a:solidFill>
                  <a:srgbClr val="25D689"/>
                </a:solidFill>
              </a:rPr>
              <a:t>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30EB6-0CE5-43A6-A69B-010D441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38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hire_rate_pct is recalculated and compared to stored Gold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A1C18-0C90-4826-A1A0-3F98B49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0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C7F7"/>
                </a:solidFill>
              </a:defRPr>
            </a:pPr>
            <a:r>
              <a:rPr sz="1125" b="0">
                <a:solidFill>
                  <a:srgbClr val="25C7F7"/>
                </a:solidFill>
              </a:rPr>
              <a:t>Validation script: scripts/validate_gold_analytics.py</a:t>
            </a:r>
          </a:p>
        </p:txBody>
      </p:sp>
    </p:spTree>
    <p:extLst>
      <p:ext uri="{BB962C8B-B14F-4D97-AF65-F5344CB8AC3E}">
        <p14:creationId xmlns:p14="http://schemas.microsoft.com/office/powerpoint/2010/main" val="20267914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B90C7B-E27E-4F3E-983B-F32C36E7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CCDB9-25DD-46E8-BF25-28AF3383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B8215-429E-485A-81C3-CE7CB00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E0D7-FB63-4BBB-82D5-282929E0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PROJECT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5CF47-184D-4453-A63A-F3E245FA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Current Status and Remaining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4CB11-069D-4E02-A25B-664F5EB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DA0DF-0DC3-45BC-8DF9-6B18739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This slide aligns with the mid-term report timeline while making the progress easy to explain verbally.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8D68E-3C40-4948-9F69-433D2B49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2B2C"/>
          </a:solidFill>
          <a:ln xmlns:a="http://schemas.openxmlformats.org/drawingml/2006/main" w="9525">
            <a:solidFill>
              <a:srgbClr val="1F7B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BFA71-3590-4745-9048-D656F68C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D689"/>
                </a:solidFill>
              </a:defRPr>
            </a:pPr>
            <a:r>
              <a:rPr sz="900" b="1">
                <a:solidFill>
                  <a:srgbClr val="25D689"/>
                </a:solidFill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982E7-A026-4BFF-9774-02888D5D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Dissertation outline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8AC6-A931-44C7-855C-ED766866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5 May - 10 May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C9FA9-325B-4C61-BE10-3E1E7753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2B2C"/>
          </a:solidFill>
          <a:ln xmlns:a="http://schemas.openxmlformats.org/drawingml/2006/main" w="9525">
            <a:solidFill>
              <a:srgbClr val="1F7B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7B3AC-5272-462D-99A2-C1F37FA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D689"/>
                </a:solidFill>
              </a:defRPr>
            </a:pPr>
            <a:r>
              <a:rPr sz="900" b="1">
                <a:solidFill>
                  <a:srgbClr val="25D689"/>
                </a:solidFill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8BA3E-8251-4AD1-82AC-E6908E0B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Frontend + ETL development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AA730-CA83-4430-AC86-D83A57F4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12 May - 5 June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F1949-334E-4A8B-8402-80323E02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C2B2C"/>
          </a:solidFill>
          <a:ln xmlns:a="http://schemas.openxmlformats.org/drawingml/2006/main" w="9525">
            <a:solidFill>
              <a:srgbClr val="1F7B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0BBE8-70AF-442C-A5D2-EFEC19A4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D689"/>
                </a:solidFill>
              </a:defRPr>
            </a:pPr>
            <a:r>
              <a:rPr sz="900" b="1">
                <a:solidFill>
                  <a:srgbClr val="25D689"/>
                </a:solidFill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316D0-9A8E-452A-A8A4-D7188F5F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Testing Phase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82E18-F434-473C-8D19-7D0F0DE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6 June - 20 June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84218-4641-4FEB-B788-A54C609F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1B12"/>
          </a:solidFill>
          <a:ln xmlns:a="http://schemas.openxmlformats.org/drawingml/2006/main" w="9525">
            <a:solidFill>
              <a:srgbClr val="8A67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2D33D-C741-4DA3-9324-87568AE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</a:defRPr>
            </a:pPr>
            <a:r>
              <a:rPr sz="900" b="1">
                <a:solidFill>
                  <a:srgbClr val="F6B84B"/>
                </a:solidFill>
              </a:rPr>
              <a:t>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F5542-81B3-4371-890F-F635610C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Text-to-SQL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1C697-5704-4904-85CD-50EE575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21 June - 30 June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191DA-3641-42CC-B875-1EE5E7FC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1B12"/>
          </a:solidFill>
          <a:ln xmlns:a="http://schemas.openxmlformats.org/drawingml/2006/main" w="9525">
            <a:solidFill>
              <a:srgbClr val="8A67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845C8-CEF6-42E4-AF84-06B835AA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</a:defRPr>
            </a:pPr>
            <a:r>
              <a:rPr sz="900" b="1">
                <a:solidFill>
                  <a:srgbClr val="F6B84B"/>
                </a:solidFill>
              </a:rPr>
              <a:t>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F1437-F18F-4375-9EE8-AA9907D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Conversational AI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4FB2A-810E-487F-BD0F-CC125EAD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1 July - 7 July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C3435-565F-47C9-BE84-6DDB2AB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907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31B12"/>
          </a:solidFill>
          <a:ln xmlns:a="http://schemas.openxmlformats.org/drawingml/2006/main" w="9525">
            <a:solidFill>
              <a:srgbClr val="8A67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64EF9-17BF-405B-B463-371B1A21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288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B84B"/>
                </a:solidFill>
              </a:defRPr>
            </a:pPr>
            <a:r>
              <a:rPr sz="900" b="1">
                <a:solidFill>
                  <a:srgbClr val="F6B84B"/>
                </a:solidFill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798AC8-D73B-4965-82DC-606E6D2A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05125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7FB"/>
                </a:solidFill>
              </a:defRPr>
            </a:pPr>
            <a:r>
              <a:rPr sz="1125" b="1">
                <a:solidFill>
                  <a:srgbClr val="F5F7FB"/>
                </a:solidFill>
              </a:rPr>
              <a:t>Dissertation review/submission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CAD99-18E8-40F3-9D82-8AF563E6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9 July - 18 August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CB9A8-909E-45BF-9B61-692A9AC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Mid-term position: the data platform foundation is implemented; the final phase is intelligence, usability validation and production hardening.</a:t>
            </a:r>
          </a:p>
        </p:txBody>
      </p:sp>
    </p:spTree>
    <p:extLst>
      <p:ext uri="{BB962C8B-B14F-4D97-AF65-F5344CB8AC3E}">
        <p14:creationId xmlns:p14="http://schemas.microsoft.com/office/powerpoint/2010/main" val="4914509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EB7E01-3457-4F27-BF9B-8AA45F43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6A445-80A2-4904-B6C4-88F5D179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7B29E-E7E1-4FB6-ABE2-0536663D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7B029-F771-4C77-916F-5FD358E6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95417-DC74-45FF-BFAF-85E90A8B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Reference-Backed Design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C9711-06A7-4936-956D-80A1CC22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7331C-26DB-4688-A0D6-727D8A92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Each major technical decision is connected to a recognized method, official documentation or foundational paper.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BBBFE-3987-44DB-B552-656EC21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A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6B8A6-E881-44FA-9414-58FC074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68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BF337-AB66-49B0-B763-4039EC14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4668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Reference 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B8793-81B9-4597-AF53-0AA86DE4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14668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F7FB"/>
                </a:solidFill>
              </a:defRPr>
            </a:pPr>
            <a:r>
              <a:rPr sz="900" b="1">
                <a:solidFill>
                  <a:srgbClr val="F5F7FB"/>
                </a:solidFill>
              </a:rPr>
              <a:t>How it appears in TalentFlow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A0FB7-9975-4D9A-9B15-7D392C68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8595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F96AE-5C73-403C-956B-A9FE45DA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716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Dimensional/Gold thinking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F7D04-08B9-45CD-A2F8-A112B0D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9716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Kimball &amp; Ross, The Data Warehouse Toolkit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043BE-ED7C-4A6D-BDB5-B5C3C980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19716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Gold KPIs have business grain and reporting purpose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E1929-2571-4C35-8976-951032A4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9077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99669-A752-484F-9107-FEDD365D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765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Bronze/Silver/Gold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B87A2-1B4C-4192-A02C-263EA8F5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24765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Databricks medallion architecture concepts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FBCF7-213A-4703-B167-4EE7E5DD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24765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Raw -&gt; secure/versioned -&gt; business-ready datasets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735D4-B342-4ACE-AC78-40DD31B2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560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CAE0A-C5BE-4179-88F9-6F9CC9B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813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Relational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85436-2C1A-4C12-88C9-58054ACB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29813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PostgreSQL documentation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0C179-6ABA-4E91-95C1-494C5AA6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29813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PK/FK/UNIQUE/CHECK controls in DDL.sql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37DEE-D5C3-45D6-A14B-E857D064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042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90F71-68E9-4B30-82AC-9C12D31E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861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Cloud lake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81825-43FF-40F9-9EF1-3DD4CF6C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34861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Microsoft Azure Data Lake Storage 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86E16-90B3-4421-97C9-34F295B2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4861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Blob-backed hierarchical lake folders and Parquet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1299E-3811-4A4A-B69F-78C86038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0525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A868F-1736-4D40-9A24-0D2D6558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909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Workflow orchestration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3EB6A-4FE6-4659-89B7-AC05A20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39909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Prefect documentation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82991-B634-4BE5-8F93-F8A9FBD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99097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Flows, deployments, schedules and Cloud UI monitoring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6B0B4-92D5-42C8-8750-645830C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1007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7F8EF-E5E6-49F3-90B6-850D743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958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Parquet analytics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41BDFB-9E41-4B4B-BDBA-DD82A4D7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44958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DuckDB documentation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E7EA19-87AF-4090-A58B-C526AEA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449580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SQL joins/aggregations over Parquet-backed Silver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E25C6C-B171-4342-95EB-EC1A0C18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14900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D31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4015D8-DC90-48D0-8F77-704D0C3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006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Predictive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A32257-2E3E-45E6-A96F-2C9B4F8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50006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Breiman Random Forests; scikit-learn docs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5CBE1D-6A16-4989-ACDC-A9D82BAD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5000625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Random Forest pipelines and feature importances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FBE2EB-BC99-4835-8312-F31A7A42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19725"/>
            <a:ext cx="11334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4"/>
          </a:solidFill>
          <a:ln xmlns:a="http://schemas.openxmlformats.org/drawingml/2006/main" w="9525">
            <a:solidFill>
              <a:srgbClr val="223B5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B42A65-5490-4962-B415-65CB56CD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054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Future LLM layer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10A696-24C0-4229-94D9-D86BA454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55054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Vaswani et al., Attention Is All You Need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B08C95-A33A-4B99-BF6A-2596C262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5505450"/>
            <a:ext cx="360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8CA"/>
                </a:solidFill>
              </a:defRPr>
            </a:pPr>
            <a:r>
              <a:rPr sz="825" b="0">
                <a:solidFill>
                  <a:srgbClr val="A9B8CA"/>
                </a:solidFill>
              </a:rPr>
              <a:t>Transformer/LLM foundation for Text-to-SQL interface</a:t>
            </a:r>
          </a:p>
        </p:txBody>
      </p:sp>
    </p:spTree>
    <p:extLst>
      <p:ext uri="{BB962C8B-B14F-4D97-AF65-F5344CB8AC3E}">
        <p14:creationId xmlns:p14="http://schemas.microsoft.com/office/powerpoint/2010/main" val="9894012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E4B5F-9AC5-4B08-A315-B53EB331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5A4DB-9E4D-4395-A003-96BC685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8DAC-7B0D-472F-A08E-FD3D3B26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FBEBA-8685-408A-BFEA-901ED27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SOURCE 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F7BBF-769B-4A36-97C5-31B03232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Bibliography and Web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9DD15-FF26-40D8-959D-3089E405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946C7-4816-460E-9ADB-611D3C0F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These are the concrete references used to connect the implementation choices to accepted data-engineering and AI foundations.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47A08-62BD-44A9-AA26-D11331D0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334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94447-6598-48D4-8B2F-965A871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BOOKS, PAPERS AND OFFICIAL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6990F-77A9-4BA6-AEA8-AE6A0AD1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E2C45-A863-432E-A16D-53F8F9A7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145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Ralph Kimball and Margy Ross, The Data Warehouse Toolkit.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54B6A-2E4C-4CFD-8A36-EFC68A0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60DDE-F720-446F-8270-50FEC3A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Databricks Docs: What is the medallion lakehouse architecture?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12C87-408F-4D78-B9B8-5B77BC75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717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61DB5-DD9B-4AE4-98DB-8022EB1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622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PostgreSQL Docs: Data Definition - Constraints.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E09AB-3CCA-458E-B777-B552140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BD381-8CAA-4054-87B1-34FBB1F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861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Microsoft Learn: Introduction to Azure Data Lake Storage.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3C1A9-E20A-4071-A2E5-9B14A4F5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194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6146B-E2E9-4C39-90F1-47B8687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099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Prefect Docs: Flows, deployments and schedules.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9401D-D3C2-4FE1-8964-AC410A7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6DE00-0C76-4285-AED3-F3A0ADD2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338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DuckDB Docs: Parquet data support and read_parquet usage.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39F35-B331-4756-A7CE-02A3ED54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671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C5F1F-1313-4DA5-8929-8809EEAE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Breiman, L. Random Forests. Machine Learning 45, 5-32 (2001).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FEC86-2E8A-4753-8EDD-EFB523D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91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81804-77DB-4531-AF45-186A9BD2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815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scikit-learn User Guide: Pipeline, ColumnTransformer, ensemble methods.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904C6-E7D2-4AF3-A519-149E7EC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D689"/>
                </a:solidFill>
              </a:defRPr>
            </a:pPr>
            <a:r>
              <a:rPr sz="863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7A7A0-B3F4-4374-AF9F-ED5633B7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053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5F7FB"/>
                </a:solidFill>
              </a:defRPr>
            </a:pPr>
            <a:r>
              <a:rPr sz="863" b="0">
                <a:solidFill>
                  <a:srgbClr val="F5F7FB"/>
                </a:solidFill>
              </a:rPr>
              <a:t>Vaswani et al. Attention Is All You Need. arXiv:1706.03762.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E96313-6E8D-46C2-8C8B-1A20B8DF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34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A8BF97-822A-463F-A94B-A181FCEB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95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C7F7"/>
                </a:solidFill>
              </a:defRPr>
            </a:pPr>
            <a:r>
              <a:rPr sz="750" b="1">
                <a:solidFill>
                  <a:srgbClr val="25C7F7"/>
                </a:solidFill>
              </a:rPr>
              <a:t>URLS USED FOR CROSS-CHECKING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1A598-57C8-4684-8166-6508B7BB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33600"/>
            <a:ext cx="4619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https://docs.databricks.com/aws/en/lakehouse/medallion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https://www.postgresql.org/docs/current/ddl-constraints.html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https://learn.microsoft.com/en-us/azure/storage/blobs/data-lake-storage-introduction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https://docs.prefect.io/v3/concepts/flows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https://duckdb.org/docs/stable/data/parquet/overview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https://link.springer.com/article/10.1023/A:1010933404324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https://scikit-learn.org/stable/modules/compose.html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https://scikit-learn.org/stable/modules/ensemble.html</a:t>
            </a:r>
          </a:p>
          <a:p xmlns:a="http://schemas.openxmlformats.org/drawingml/2006/main">
            <a:pPr algn="l">
              <a:defRPr sz="960" b="0">
                <a:solidFill>
                  <a:srgbClr val="D8ECFF"/>
                </a:solidFill>
              </a:defRPr>
            </a:pPr>
            <a:r>
              <a:rPr sz="960" b="0">
                <a:solidFill>
                  <a:srgbClr val="D8ECFF"/>
                </a:solidFill>
              </a:rPr>
              <a:t>https://arxiv.org/abs/1706.03762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94560A-0C1B-4638-BC1D-8983F8D2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292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A"/>
                </a:solidFill>
              </a:defRPr>
            </a:pPr>
            <a:r>
              <a:rPr sz="938" b="0">
                <a:solidFill>
                  <a:srgbClr val="A9B8CA"/>
                </a:solidFill>
              </a:rPr>
              <a:t>The implementation-specific evidence is from D:/report/2024da04133.pdf and D:/TalentFlow_AI project files.</a:t>
            </a:r>
          </a:p>
        </p:txBody>
      </p:sp>
    </p:spTree>
    <p:extLst>
      <p:ext uri="{BB962C8B-B14F-4D97-AF65-F5344CB8AC3E}">
        <p14:creationId xmlns:p14="http://schemas.microsoft.com/office/powerpoint/2010/main" val="2864746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17274-601A-4219-851D-98172A2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8E33E-2132-4747-9DC6-2E6C3822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2B600-3ABE-4C18-8C90-8E53C555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6791325"/>
            <a:ext cx="51206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689"/>
          </a:solidFill>
          <a:ln xmlns:a="http://schemas.openxmlformats.org/drawingml/2006/main" w="0">
            <a:solidFill>
              <a:srgbClr val="25D6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9690B-C2F1-4EFC-A91E-CAA58DFD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8CA"/>
                </a:solidFill>
              </a:defRPr>
            </a:pPr>
            <a:r>
              <a:rPr sz="750" b="1">
                <a:solidFill>
                  <a:srgbClr val="A9B8CA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3BCA9-2E0F-44E6-A6AD-C4A8E187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F7FB"/>
                </a:solidFill>
              </a:defRPr>
            </a:pPr>
            <a:r>
              <a:rPr sz="2475" b="1">
                <a:solidFill>
                  <a:srgbClr val="F5F7FB"/>
                </a:solidFill>
              </a:rPr>
              <a:t>Conclusion and Examiner Talking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BBE0-7CDF-4814-9645-AC8B6619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F7"/>
          </a:solidFill>
          <a:ln xmlns:a="http://schemas.openxmlformats.org/drawingml/2006/main" w="0">
            <a:solidFill>
              <a:srgbClr val="25C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868A4-1A8E-4752-829A-D7116DDA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A"/>
                </a:solidFill>
              </a:defRPr>
            </a:pPr>
            <a:r>
              <a:rPr sz="1050" b="0">
                <a:solidFill>
                  <a:srgbClr val="A9B8CA"/>
                </a:solidFill>
              </a:rPr>
              <a:t>The project demonstrates a complete mid-term foundation: operational recruitment workflows, lakehouse ETL, validation, and AI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D2FE5-A8B8-461F-A269-CBD8E8F4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ECC9A-02E8-43B1-A719-3ADCB9FF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D689"/>
                </a:solidFill>
              </a:defRPr>
            </a:pPr>
            <a:r>
              <a:rPr sz="750" b="1">
                <a:solidFill>
                  <a:srgbClr val="25D689"/>
                </a:solidFill>
              </a:rPr>
              <a:t>WHAT IS STRONG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3CCF0-0215-4383-AE99-4DE7B33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2D82B-6D17-45E3-BA01-433DAE18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End-to-end working application and ELT foundation.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312C1-3FB6-46B4-B24E-866B86E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24BB6-AEC4-45DD-8BE3-4AD8048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Clear data separation: OLTP for workflow, lakehouse for analytics.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B1D34-0DB5-40F3-9574-75017CD7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BE523-FCBF-42EA-AB6C-C21DF89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SCD2 and PII handling show data engineering maturity.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D397D-1385-4D28-BE2B-542C7EAE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98BB7-ABFA-415D-9118-7221BFBA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Gold validation and ML artifacts provide defensible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918BB-FBFC-4D3D-9FC7-A07287ED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83FED-9AD8-464D-B2BC-EAAC95DD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6B84B"/>
                </a:solidFill>
              </a:defRPr>
            </a:pPr>
            <a:r>
              <a:rPr sz="750" b="1">
                <a:solidFill>
                  <a:srgbClr val="F6B84B"/>
                </a:solidFill>
              </a:rPr>
              <a:t>WHAT WILL MAKE IT FINAL-READY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B7EF5-16F6-4BA1-8537-49967F26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DB5E8-FB83-485D-83DE-7137878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Real UI screenshots replacing report placeholders.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17A7A-1D1B-4CC8-8BD5-D6387819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72708-987F-44CF-99F0-5B2AB29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Text-to-SQL guardrails and conversational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024D3-63A0-4002-868E-968AB29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242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6F1BD-4121-4025-82FF-20CB05F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Better ML features, model evaluation and model-card documentation.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4D44A9-2988-4E5A-B59C-2F52A329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81425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689"/>
                </a:solidFill>
              </a:defRPr>
            </a:pPr>
            <a:r>
              <a:rPr sz="1125" b="1">
                <a:solidFill>
                  <a:srgbClr val="25D689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9C53C-2785-43DB-A2DB-ED5811C9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3886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7FB"/>
                </a:solidFill>
              </a:defRPr>
            </a:pPr>
            <a:r>
              <a:rPr sz="1125" b="0">
                <a:solidFill>
                  <a:srgbClr val="F5F7FB"/>
                </a:solidFill>
              </a:rPr>
              <a:t>Security hardening: password hashing, stronger RBAC and alerts.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3F107-C5DE-4BE4-AAD5-DC8B4419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F7FB"/>
                </a:solidFill>
              </a:defRPr>
            </a:pPr>
            <a:r>
              <a:rPr sz="2325" b="1">
                <a:solidFill>
                  <a:srgbClr val="F5F7FB"/>
                </a:solidFill>
              </a:rPr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1158080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2026-06-28T09:46:48.9490000Z</dcterms:created>
  <dcterms:modified xsi:type="dcterms:W3CDTF">2026-06-28T09:46:48.9490000Z</dcterms:modified>
</coreProperties>
</file>