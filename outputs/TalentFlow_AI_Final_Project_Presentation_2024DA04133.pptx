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source deck used for styling: TalentFlow_AI_Professional_Mid_Term_With_Screenshots_2024DA04133.pptx</a:t>
            </a:r>
          </a:p>
          <a:p>
            <a:r>
              <a:t>Final report: TalentFlow_AI_Final_Project_Report_2024DA04133.pdf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sections 1, 4, 8, 9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 1: problem statement and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abstract, sections 3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architecture image from mid-term deck; final report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 files: app/portal.py, pipelines, models/train_ml_insights.py, app/analytics_agent.py.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screenshots from mid-term deck; final project app/portal.py.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ERD from mid-term deck; DDL.sql; final report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 7; pipelines/elt_bronze.py, pipelines/elt_silver.py, pipelines/elt_gold.py.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Azure screenshots from mid-term deck; final report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Azure screenshots from mid-term deck; final report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 7.3; pipelines/elt_gold.py; scripts/validate_gold_analytics.py.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Embedded dashboard screenshot from mid-term deck; final report section 8.1.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models/artifacts/20260708_065754/metrics.json; final report section 8.1.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sections 8.1 and Appendix C; scikit-learn Random Forest documentation cited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app/analytics_agent.py, app/local_sql_model.py, app/huggingface_sql_agent.py, app/portal.py; final report section 8.2.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app/analytics_agent.py and app/huggingface_sql_agent.py; Hugging Face Transformers/Qwen references cited in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app/analytics_assistant.py, app/analytics_agent.py; final report section 8.2.4.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app/portal.py example_questions; outputs/TalentFlow_AI_Agent_Question_Bank.md.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tests/test_huggingface_sql_agent.py, tests/test_analytics_agent.py, tests/test_local_sql_model.py; local verification run on 2026-07-27.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utils/crypto_utils.py, pipelines/elt_silver.py, app/analytics_assistant.py; final report section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conclusion and appendices; local project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sections 10 and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sections 4, 7, 8, 9 and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Final report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FINAL REVIEW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1285875"/>
            <a:ext cx="742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E8F2FF"/>
                </a:solidFill>
              </a:defRPr>
            </a:pPr>
            <a:r>
              <a:rPr sz="3225" b="1">
                <a:solidFill>
                  <a:srgbClr val="E8F2FF"/>
                </a:solidFill>
              </a:rPr>
              <a:t>TalentFlow AI</a:t>
            </a:r>
            <a:endParaRPr sz="32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90550" y="2047875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9EB2C7"/>
                </a:solidFill>
              </a:defRPr>
            </a:pPr>
            <a:r>
              <a:rPr sz="1500" b="0">
                <a:solidFill>
                  <a:srgbClr val="9EB2C7"/>
                </a:solidFill>
              </a:rPr>
              <a:t>Enterprise Candidate Relationship Management and Predictive Intelligence Ecosystem</a:t>
            </a:r>
            <a:endParaRPr sz="1500" b="0">
              <a:solidFill>
                <a:srgbClr val="9EB2C7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90550" y="2705100"/>
            <a:ext cx="914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8F2FF"/>
                </a:solidFill>
              </a:defRPr>
            </a:pPr>
            <a:r>
              <a:rPr sz="1200" b="0">
                <a:solidFill>
                  <a:srgbClr val="E8F2FF"/>
                </a:solidFill>
              </a:rPr>
              <a:t>Final project presentation covering the implemented portal, PostgreSQL schema, Azure lakehouse, ML insights, validation, and NLP-based conversational analytics agent.</a:t>
            </a:r>
            <a:endParaRPr sz="1200" b="0">
              <a:solidFill>
                <a:srgbClr val="E8F2FF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71500" y="4905375"/>
            <a:ext cx="2381250" cy="895350"/>
          </a:xfrm>
          <a:prstGeom prst="roundRect">
            <a:avLst>
              <a:gd name="adj" fmla="val 85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71500" y="4905375"/>
            <a:ext cx="23812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509587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2024DA04133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54578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BITS ID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143250" y="4905375"/>
            <a:ext cx="2381250" cy="895350"/>
          </a:xfrm>
          <a:prstGeom prst="roundRect">
            <a:avLst>
              <a:gd name="adj" fmla="val 85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143250" y="4905375"/>
            <a:ext cx="238125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314700" y="509587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Final Submission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314700" y="54578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WILP dissertation stage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715000" y="4905375"/>
            <a:ext cx="2381250" cy="895350"/>
          </a:xfrm>
          <a:prstGeom prst="roundRect">
            <a:avLst>
              <a:gd name="adj" fmla="val 85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5715000" y="4905375"/>
            <a:ext cx="238125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5886450" y="509587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Altimetrik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886450" y="54578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Host organization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71500" y="6038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Malikulashtar K Malampatiwalla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NARRATIVE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Final Presentation Roadmap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final review is structured to help the examiner see the problem, the implemented system, the intelligence layer, and the project evidence.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66750" y="1809750"/>
            <a:ext cx="5048250" cy="1219200"/>
          </a:xfrm>
          <a:prstGeom prst="roundRect">
            <a:avLst>
              <a:gd name="adj" fmla="val 625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857250" y="2019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C8FF"/>
                </a:solidFill>
              </a:defRPr>
            </a:pPr>
            <a:r>
              <a:rPr sz="1500" b="1">
                <a:solidFill>
                  <a:srgbClr val="14C8FF"/>
                </a:solidFill>
              </a:rPr>
              <a:t>1</a:t>
            </a:r>
            <a:endParaRPr sz="1500" b="1">
              <a:solidFill>
                <a:srgbClr val="14C8F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333500" y="20383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Why TalentFlow AI?</a:t>
            </a:r>
            <a:endParaRPr sz="1350" b="1">
              <a:solidFill>
                <a:srgbClr val="E8F2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333500" y="2381250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Recruitment data fragmentation, historical profile loss, slow reporting, and privacy exposure.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143625" y="1809750"/>
            <a:ext cx="5048250" cy="1219200"/>
          </a:xfrm>
          <a:prstGeom prst="roundRect">
            <a:avLst>
              <a:gd name="adj" fmla="val 625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334125" y="2019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C8FF"/>
                </a:solidFill>
              </a:defRPr>
            </a:pPr>
            <a:r>
              <a:rPr sz="1500" b="1">
                <a:solidFill>
                  <a:srgbClr val="14C8FF"/>
                </a:solidFill>
              </a:rPr>
              <a:t>2</a:t>
            </a:r>
            <a:endParaRPr sz="1500" b="1">
              <a:solidFill>
                <a:srgbClr val="14C8FF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10375" y="20383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What was built</a:t>
            </a:r>
            <a:endParaRPr sz="1350" b="1">
              <a:solidFill>
                <a:srgbClr val="E8F2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810375" y="2381250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Role-based portal, PostgreSQL schema, medallion ELT, Gold analytics, ML, and Ask Data.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66750" y="3571875"/>
            <a:ext cx="5048250" cy="1219200"/>
          </a:xfrm>
          <a:prstGeom prst="roundRect">
            <a:avLst>
              <a:gd name="adj" fmla="val 625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57250" y="3781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C8FF"/>
                </a:solidFill>
              </a:defRPr>
            </a:pPr>
            <a:r>
              <a:rPr sz="1500" b="1">
                <a:solidFill>
                  <a:srgbClr val="14C8FF"/>
                </a:solidFill>
              </a:rPr>
              <a:t>3</a:t>
            </a:r>
            <a:endParaRPr sz="1500" b="1">
              <a:solidFill>
                <a:srgbClr val="14C8FF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333500" y="380047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What is new after mid-term</a:t>
            </a:r>
            <a:endParaRPr sz="1350" b="1">
              <a:solidFill>
                <a:srgbClr val="E8F2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333500" y="4143375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NLP semantic matcher, downloaded Hugging Face LLM mode, feedback memory, and SQL repair.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143625" y="3571875"/>
            <a:ext cx="5048250" cy="1219200"/>
          </a:xfrm>
          <a:prstGeom prst="roundRect">
            <a:avLst>
              <a:gd name="adj" fmla="val 625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334125" y="37814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4C8FF"/>
                </a:solidFill>
              </a:defRPr>
            </a:pPr>
            <a:r>
              <a:rPr sz="1500" b="1">
                <a:solidFill>
                  <a:srgbClr val="14C8FF"/>
                </a:solidFill>
              </a:rPr>
              <a:t>4</a:t>
            </a:r>
            <a:endParaRPr sz="1500" b="1">
              <a:solidFill>
                <a:srgbClr val="14C8FF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810375" y="380047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F2FF"/>
                </a:solidFill>
              </a:defRPr>
            </a:pPr>
            <a:r>
              <a:rPr sz="1350" b="1">
                <a:solidFill>
                  <a:srgbClr val="E8F2FF"/>
                </a:solidFill>
              </a:rPr>
              <a:t>How it is validated</a:t>
            </a:r>
            <a:endParaRPr sz="1350" b="1">
              <a:solidFill>
                <a:srgbClr val="E8F2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810375" y="4143375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Gold reconciliation, contract tests, agent tests, ML metrics, and security controls.</a:t>
            </a:r>
            <a:endParaRPr sz="1050" b="0">
              <a:solidFill>
                <a:srgbClr val="9EB2C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CONTEXT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3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problem is not only hiring workflow, it is analytical trust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TalentFlow AI converts operational recruitment events into secured, versioned, and explainable decision-support data.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71500" y="19050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71500" y="1905000"/>
            <a:ext cx="33337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42950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Operational fragmentation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2457450"/>
            <a:ext cx="29908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Candidate profile, interview schedule, feedback, login, and education data often live in separate screens or spreadsheets.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29125" y="19050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429125" y="1905000"/>
            <a:ext cx="333375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600575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History loss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600575" y="2457450"/>
            <a:ext cx="29908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Profile updates overwrite previous state unless audit and SCD2 logic capture change over time.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286750" y="1905000"/>
            <a:ext cx="3333750" cy="2571750"/>
          </a:xfrm>
          <a:prstGeom prst="roundRect">
            <a:avLst>
              <a:gd name="adj" fmla="val 296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286750" y="1905000"/>
            <a:ext cx="333375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458200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Analytics bottleneck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458200" y="2457450"/>
            <a:ext cx="299085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Hiring managers need KPIs and natural-language answers without waiting for manual SQL or exported reports.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09625" y="53340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C8FF"/>
                </a:solidFill>
              </a:defRPr>
            </a:pPr>
            <a:r>
              <a:rPr sz="1350" b="1">
                <a:solidFill>
                  <a:srgbClr val="14C8FF"/>
                </a:solidFill>
              </a:rPr>
              <a:t>Design implication: the project is a governed recruitment data product, not only a CRUD application.</a:t>
            </a:r>
            <a:endParaRPr sz="1350" b="1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OBJECTIVES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4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All core project objectives were completed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final build covers operational capture, engineering, analytics, intelligence, security, and validation.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80975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000125" y="19335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Role-aware portal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0" y="193357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Candidate, admin, interviewer workflows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810750" y="19335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62000" y="236220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A1728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00125" y="24860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Normalized database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0" y="24860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Recruitment entities with relationships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810750" y="24860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62000" y="291465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000125" y="30384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Medallion ELT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429000" y="303847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Bronze, Silver, Gold Parquet pipeline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810750" y="30384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62000" y="346710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A1728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00125" y="35909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Privacy controls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3429000" y="35909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Fernet encryption and SCD2 history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810750" y="35909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62000" y="401955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000125" y="414337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Predictive layer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3429000" y="414337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Random Forest models and feature insight publishing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810750" y="4143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762000" y="4572000"/>
            <a:ext cx="10668000" cy="438150"/>
          </a:xfrm>
          <a:prstGeom prst="roundRect">
            <a:avLst>
              <a:gd name="adj" fmla="val 17391"/>
            </a:avLst>
          </a:prstGeom>
          <a:solidFill>
            <a:srgbClr val="0A1728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000125" y="469582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Conversational analytics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3429000" y="46958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NLP matcher, Hugging Face LLM, SQL repair, feedback memory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9810750" y="4695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Implemented</a:t>
            </a:r>
            <a:endParaRPr sz="1050" b="1">
              <a:solidFill>
                <a:srgbClr val="22D98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ARCHITECTURE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5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37084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final system separates workflow, lakehouse, analytics, and intelligence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architecture keeps operational transactions in PostgreSQL and moves analytical processing through governed lakehouse layers.</a:t>
            </a:r>
            <a:endParaRPr sz="1050" b="0">
              <a:solidFill>
                <a:srgbClr val="9EB2C7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695450"/>
            <a:ext cx="6660515" cy="3181985"/>
          </a:xfrm>
          <a:prstGeom prst="roundRect">
            <a:avLst>
              <a:gd name="adj" fmla="val 2857"/>
            </a:avLst>
          </a:prstGeom>
        </p:spPr>
      </p:pic>
      <p:sp>
        <p:nvSpPr>
          <p:cNvPr id="9" name="Oval 8"/>
          <p:cNvSpPr>
            <a:spLocks noGrp="1"/>
          </p:cNvSpPr>
          <p:nvPr/>
        </p:nvSpPr>
        <p:spPr>
          <a:xfrm>
            <a:off x="8239125" y="18859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448675" y="180975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Streamlit portal captures candidate, admin, and interviewer activity.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239125" y="2438400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448675" y="236220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PostgreSQL stores normalized operational records.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8239125" y="29908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448675" y="291465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Bronze/Silver/Gold pipelines publish versioned Parquet outputs.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8239125" y="3543300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448675" y="346710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DuckDB builds Gold metrics; dashboard and agent consume curated data.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8239125" y="40957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448675" y="401955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ML models and the Ask Data agent add predictive and conversational intelligence.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09625" y="5095875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4C8FF"/>
                </a:solidFill>
              </a:defRPr>
            </a:pPr>
            <a:r>
              <a:rPr sz="1200" b="0">
                <a:solidFill>
                  <a:srgbClr val="14C8FF"/>
                </a:solidFill>
              </a:rPr>
              <a:t>The system is intentionally modular: transactional concerns, analytical storage, model training, and natural-language querying are separated.</a:t>
            </a:r>
            <a:endParaRPr sz="1200" b="0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SYSTEM MODULES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6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implementation is broad but connected through one recruitment data model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Each module contributes a specific business or engineering capability.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762125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1762125"/>
            <a:ext cx="4762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195262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Candidate portal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33450" y="231457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Registration, login, profile update, education and salary details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334125" y="1762125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334125" y="1762125"/>
            <a:ext cx="4762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505575" y="195262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Admin center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505575" y="231457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Schedule interviews, inspect KPIs, view ML insights, run Ask Data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62000" y="295275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2952750"/>
            <a:ext cx="476250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33450" y="31432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Interviewer center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33450" y="3505200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Assigned interviews, rating, comments, hire/hold/reject decision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334125" y="295275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334125" y="2952750"/>
            <a:ext cx="4762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505575" y="31432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Data lakehouse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505575" y="3505200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Bronze snapshots, Silver protection/history, Gold business datasets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62000" y="4143375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62000" y="4143375"/>
            <a:ext cx="4762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933450" y="43338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ML insights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33450" y="469582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Hire, decision and rating models with feature importance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334125" y="4143375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334125" y="4143375"/>
            <a:ext cx="476250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6505575" y="43338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Analytics agent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6505575" y="469582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Natural-language questions converted to safe read-only SQL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VISUAL EVIDENCE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7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portal supports all three recruitment roles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Screenshots show the implemented user-facing workflows rather than only design diagrams.</a:t>
            </a:r>
            <a:endParaRPr sz="1050" b="0">
              <a:solidFill>
                <a:srgbClr val="9EB2C7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rcRect t="6514" b="6514"/>
          <a:stretch>
            <a:fillRect/>
          </a:stretch>
        </p:blipFill>
        <p:spPr>
          <a:xfrm>
            <a:off x="428625" y="1762125"/>
            <a:ext cx="3429000" cy="1428750"/>
          </a:xfrm>
          <a:prstGeom prst="roundRect">
            <a:avLst>
              <a:gd name="adj" fmla="val 4000"/>
            </a:avLst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rcRect t="5677" b="5677"/>
          <a:stretch>
            <a:fillRect/>
          </a:stretch>
        </p:blipFill>
        <p:spPr>
          <a:xfrm>
            <a:off x="4381500" y="1762125"/>
            <a:ext cx="3429000" cy="1428750"/>
          </a:xfrm>
          <a:prstGeom prst="roundRect">
            <a:avLst>
              <a:gd name="adj" fmla="val 4000"/>
            </a:avLst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t="5200" b="5200"/>
          <a:stretch>
            <a:fillRect/>
          </a:stretch>
        </p:blipFill>
        <p:spPr>
          <a:xfrm>
            <a:off x="8334375" y="1762125"/>
            <a:ext cx="3429000" cy="1428750"/>
          </a:xfrm>
          <a:prstGeom prst="roundRect">
            <a:avLst>
              <a:gd name="adj" fmla="val 4000"/>
            </a:avLst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 t="28215" b="28215"/>
          <a:stretch>
            <a:fillRect/>
          </a:stretch>
        </p:blipFill>
        <p:spPr>
          <a:xfrm>
            <a:off x="2476500" y="3619500"/>
            <a:ext cx="7239000" cy="1476375"/>
          </a:xfrm>
          <a:prstGeom prst="roundRect">
            <a:avLst>
              <a:gd name="adj" fmla="val 3871"/>
            </a:avLst>
          </a:prstGeom>
        </p:spPr>
      </p:pic>
      <p:sp>
        <p:nvSpPr>
          <p:cNvPr id="12" name="Rectangle 11"/>
          <p:cNvSpPr>
            <a:spLocks noGrp="1"/>
          </p:cNvSpPr>
          <p:nvPr/>
        </p:nvSpPr>
        <p:spPr>
          <a:xfrm>
            <a:off x="809625" y="5476875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4C8FF"/>
                </a:solidFill>
              </a:defRPr>
            </a:pPr>
            <a:r>
              <a:rPr sz="1200" b="0">
                <a:solidFill>
                  <a:srgbClr val="14C8FF"/>
                </a:solidFill>
              </a:rPr>
              <a:t>Candidate profile, admin scheduling, active pipeline review, and interviewer feedback form are all implemented in the Streamlit portal.</a:t>
            </a:r>
            <a:endParaRPr sz="1200" b="0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DATABASE DESIGN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8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PostgreSQL schema is normalized around recruitment entities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Clear relationships make both transactional workflow and analytics joins reliable.</a:t>
            </a:r>
            <a:endParaRPr sz="1050" b="0">
              <a:solidFill>
                <a:srgbClr val="9EB2C7"/>
              </a:solidFill>
            </a:endParaRPr>
          </a:p>
        </p:txBody>
      </p:sp>
      <p:pic>
        <p:nvPicPr>
          <p:cNvPr id="24" name="Picture 23" descr="C:/Users/Acer/Downloads/TalentFlow AI Final Architecture (1).pngTalentFlow AI Final Architecture (1)"/>
          <p:cNvPicPr>
            <a:picLocks noChangeAspect="1"/>
          </p:cNvPicPr>
          <p:nvPr/>
        </p:nvPicPr>
        <p:blipFill>
          <a:blip r:embed="rId1"/>
          <a:srcRect t="801" b="801"/>
          <a:stretch>
            <a:fillRect/>
          </a:stretch>
        </p:blipFill>
        <p:spPr>
          <a:xfrm>
            <a:off x="153035" y="1760220"/>
            <a:ext cx="7141210" cy="3354070"/>
          </a:xfrm>
          <a:prstGeom prst="roundRect">
            <a:avLst>
              <a:gd name="adj" fmla="val 1429"/>
            </a:avLst>
          </a:prstGeom>
        </p:spPr>
      </p:pic>
      <p:sp>
        <p:nvSpPr>
          <p:cNvPr id="9" name="Oval 8"/>
          <p:cNvSpPr>
            <a:spLocks noGrp="1"/>
          </p:cNvSpPr>
          <p:nvPr/>
        </p:nvSpPr>
        <p:spPr>
          <a:xfrm>
            <a:off x="7429500" y="20288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639050" y="1952625"/>
            <a:ext cx="3505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Candidate identity, education, login, audit, jobs, interviewers, stages, schedules and feedback are separated.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7429500" y="2619375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639050" y="2543175"/>
            <a:ext cx="3505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Schedules connect candidate, job, interviewer and stage.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7429500" y="32099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639050" y="3133725"/>
            <a:ext cx="3505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Feedback belongs to a scheduled interview and drives KPIs and ML labels.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7429500" y="3800475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7639050" y="3724275"/>
            <a:ext cx="3505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analytics.agent_interactions stores question, SQL, summaries, helpful flag and corrected SQL.</a:t>
            </a:r>
            <a:endParaRPr sz="1125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Rectangle 36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DATA ENGINEERING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9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medallion pipeline turns raw operations into governed analytics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Bronze preserves snapshots, Silver protects and versions records, and Gold publishes business-ready KPIs.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PostgreSQL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619375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733675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Bronze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76750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591050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Silver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334125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448425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Gold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191500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305800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Dashboard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10048875" y="2619375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332411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163175" y="2790825"/>
            <a:ext cx="120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7A52B"/>
                </a:solidFill>
              </a:defRPr>
            </a:pPr>
            <a:r>
              <a:rPr sz="1050" b="1">
                <a:solidFill>
                  <a:srgbClr val="F7A52B"/>
                </a:solidFill>
              </a:rPr>
              <a:t>ML + Agent</a:t>
            </a:r>
            <a:endParaRPr sz="1050" b="1">
              <a:solidFill>
                <a:srgbClr val="F7A52B"/>
              </a:solidFill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2190750" y="2990850"/>
            <a:ext cx="428625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048125" y="2990850"/>
            <a:ext cx="428625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5905500" y="2990850"/>
            <a:ext cx="428625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7762875" y="2990850"/>
            <a:ext cx="428625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9620250" y="2990850"/>
            <a:ext cx="428625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62000" y="4238625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62000" y="4238625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933450" y="4429125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Bronze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933450" y="4791075"/>
            <a:ext cx="270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Raw snapshots with run_datetime lineage and latest copies.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4572000" y="4238625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4572000" y="4238625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4743450" y="4429125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Silver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4743450" y="4791075"/>
            <a:ext cx="270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PII encryption plus candidate history using SCD Type 2 logic.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8382000" y="4238625"/>
            <a:ext cx="304800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8382000" y="4238625"/>
            <a:ext cx="304800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8553450" y="4429125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Gold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553450" y="4791075"/>
            <a:ext cx="270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DuckDB aggregates city, salary, engagement, funnel and hire-rate datasets.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LAKEHOUSE EVIDENCE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10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37084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lang="en-US" sz="2325" b="1">
                <a:solidFill>
                  <a:srgbClr val="E8F2FF"/>
                </a:solidFill>
              </a:rPr>
              <a:t>Entity-Relationship Diagram between the tables.</a:t>
            </a:r>
            <a:endParaRPr lang="en-US"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-285750" y="6453505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4C8FF"/>
                </a:solidFill>
              </a:defRPr>
            </a:pPr>
            <a:r>
              <a:rPr sz="1200" b="0">
                <a:solidFill>
                  <a:srgbClr val="14C8FF"/>
                </a:solidFill>
              </a:rPr>
              <a:t>Evidence point: each layer has both run-level lineage and current analytical consumption paths.</a:t>
            </a:r>
            <a:endParaRPr sz="1200" b="0">
              <a:solidFill>
                <a:srgbClr val="14C8FF"/>
              </a:solidFill>
            </a:endParaRPr>
          </a:p>
        </p:txBody>
      </p:sp>
      <p:pic>
        <p:nvPicPr>
          <p:cNvPr id="8" name="Picture 7" descr="Pict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560" y="1357630"/>
            <a:ext cx="9152255" cy="4699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LAKEHOUSE EVIDENCE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10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Azure Blob containers store versioned Parquet outputs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screenshots show Bronze, Silver, and Gold folders produced by the pipeline.</a:t>
            </a:r>
            <a:endParaRPr sz="1050" b="0">
              <a:solidFill>
                <a:srgbClr val="9EB2C7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rcRect l="15766" r="15766"/>
          <a:stretch>
            <a:fillRect/>
          </a:stretch>
        </p:blipFill>
        <p:spPr>
          <a:xfrm>
            <a:off x="695325" y="1696085"/>
            <a:ext cx="3754755" cy="1395095"/>
          </a:xfrm>
          <a:prstGeom prst="roundRect">
            <a:avLst>
              <a:gd name="adj" fmla="val 4615"/>
            </a:avLst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rcRect t="3425" b="3425"/>
          <a:stretch>
            <a:fillRect/>
          </a:stretch>
        </p:blipFill>
        <p:spPr>
          <a:xfrm>
            <a:off x="4583430" y="1700530"/>
            <a:ext cx="3676650" cy="1365885"/>
          </a:xfrm>
          <a:prstGeom prst="roundRect">
            <a:avLst>
              <a:gd name="adj" fmla="val 4615"/>
            </a:avLst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t="4561" b="4561"/>
          <a:stretch>
            <a:fillRect/>
          </a:stretch>
        </p:blipFill>
        <p:spPr>
          <a:xfrm>
            <a:off x="8321675" y="2708910"/>
            <a:ext cx="3754120" cy="1394460"/>
          </a:xfrm>
          <a:prstGeom prst="roundRect">
            <a:avLst>
              <a:gd name="adj" fmla="val 4615"/>
            </a:avLst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rcRect l="8444" r="8444"/>
          <a:stretch>
            <a:fillRect/>
          </a:stretch>
        </p:blipFill>
        <p:spPr>
          <a:xfrm>
            <a:off x="695325" y="3432810"/>
            <a:ext cx="3721735" cy="1382395"/>
          </a:xfrm>
          <a:prstGeom prst="roundRect">
            <a:avLst>
              <a:gd name="adj" fmla="val 4615"/>
            </a:avLst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rcRect t="442" b="442"/>
          <a:stretch>
            <a:fillRect/>
          </a:stretch>
        </p:blipFill>
        <p:spPr>
          <a:xfrm>
            <a:off x="4525010" y="3448050"/>
            <a:ext cx="3680460" cy="1367155"/>
          </a:xfrm>
          <a:prstGeom prst="roundRect">
            <a:avLst>
              <a:gd name="adj" fmla="val 4615"/>
            </a:avLst>
          </a:prstGeom>
        </p:spPr>
      </p:pic>
      <p:sp>
        <p:nvSpPr>
          <p:cNvPr id="14" name="Rectangle 13"/>
          <p:cNvSpPr>
            <a:spLocks noGrp="1"/>
          </p:cNvSpPr>
          <p:nvPr/>
        </p:nvSpPr>
        <p:spPr>
          <a:xfrm>
            <a:off x="-285750" y="6453505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4C8FF"/>
                </a:solidFill>
              </a:defRPr>
            </a:pPr>
            <a:r>
              <a:rPr sz="1200" b="0">
                <a:solidFill>
                  <a:srgbClr val="14C8FF"/>
                </a:solidFill>
              </a:rPr>
              <a:t>Evidence point: each layer has both run-level lineage and current analytical consumption paths.</a:t>
            </a:r>
            <a:endParaRPr sz="1200" b="0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GOLD ANALYTICS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11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Gold datasets convert recruitment activity into business questions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dashboard consumes curated tables instead of forcing managers to inspect raw transactional rows.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952500" y="1809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238250" y="19431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city_talent_score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0" y="194310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cities have stronger candidate pipelines?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952500" y="240030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0A1728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238250" y="25336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salary_benchmarks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572000" y="253365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How do expected salaries vary by education?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952500" y="29908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238250" y="31242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candidate_engagement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572000" y="312420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candidates are active or inactive?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52500" y="358140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0A1728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238250" y="3714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interview_pipeline_funnel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0" y="371475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Where is the interview process slowing down?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952500" y="41719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238250" y="43053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C8FF"/>
                </a:solidFill>
              </a:defRPr>
            </a:pPr>
            <a:r>
              <a:rPr sz="1125" b="1">
                <a:solidFill>
                  <a:srgbClr val="14C8FF"/>
                </a:solidFill>
              </a:rPr>
              <a:t>job_hire_rate</a:t>
            </a:r>
            <a:endParaRPr sz="1125" b="1">
              <a:solidFill>
                <a:srgbClr val="14C8FF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572000" y="430530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jobs have better hire recommendation rates?</a:t>
            </a:r>
            <a:endParaRPr sz="1125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DASHBOARD EVIDENCE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12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Admins can view KPIs and ML feature insights in one place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dashboard joins lakehouse outputs, PostgreSQL cache tables, and model artifacts for business-facing consumption.</a:t>
            </a:r>
            <a:endParaRPr sz="1050" b="0">
              <a:solidFill>
                <a:srgbClr val="9EB2C7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rcRect l="4555" r="4555"/>
          <a:stretch>
            <a:fillRect/>
          </a:stretch>
        </p:blipFill>
        <p:spPr>
          <a:xfrm>
            <a:off x="523875" y="1762125"/>
            <a:ext cx="7429500" cy="3619500"/>
          </a:xfrm>
          <a:prstGeom prst="roundRect">
            <a:avLst>
              <a:gd name="adj" fmla="val 1579"/>
            </a:avLst>
          </a:prstGeom>
        </p:spPr>
      </p:pic>
      <p:sp>
        <p:nvSpPr>
          <p:cNvPr id="9" name="Rounded Rectangle 8"/>
          <p:cNvSpPr>
            <a:spLocks noGrp="1"/>
          </p:cNvSpPr>
          <p:nvPr/>
        </p:nvSpPr>
        <p:spPr>
          <a:xfrm>
            <a:off x="8334375" y="1905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334375" y="1905000"/>
            <a:ext cx="2857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505825" y="20955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What it proves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8505825" y="245745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The final product is not limited to backend pipelines. It exposes analytics through a usable admin interface.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334375" y="34290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334375" y="3429000"/>
            <a:ext cx="2857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505825" y="36195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Decision support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505825" y="398145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Feature insight tables help explain model behavior without replacing human judgement.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PREDICTIVE INTELLIGENCE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13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ML layer creates three decision-support models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models are treated as prototypes for insight and explanation, not automatic hiring decision makers.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2000250"/>
            <a:ext cx="2952750" cy="2000250"/>
          </a:xfrm>
          <a:prstGeom prst="roundRect">
            <a:avLst>
              <a:gd name="adj" fmla="val 381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2000250"/>
            <a:ext cx="29527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21907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hire_prediction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33450" y="2552700"/>
            <a:ext cx="26098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Accuracy 0.7552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F1 0.8427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ROC-AUC 0.8262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Support 241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619625" y="2000250"/>
            <a:ext cx="2952750" cy="2000250"/>
          </a:xfrm>
          <a:prstGeom prst="roundRect">
            <a:avLst>
              <a:gd name="adj" fmla="val 381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619625" y="2000250"/>
            <a:ext cx="295275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791075" y="21907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decision_prediction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791075" y="2552700"/>
            <a:ext cx="26098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Accuracy 0.7884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Weighted F1 0.8165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Classes: Hire, Hold, Reject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Support 241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477250" y="2000250"/>
            <a:ext cx="2952750" cy="2000250"/>
          </a:xfrm>
          <a:prstGeom prst="roundRect">
            <a:avLst>
              <a:gd name="adj" fmla="val 381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477250" y="2000250"/>
            <a:ext cx="295275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648700" y="21907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rating_prediction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648700" y="2552700"/>
            <a:ext cx="26098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MAE 0.3017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R2 0.5309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Support 241</a:t>
            </a:r>
            <a:endParaRPr sz="1050" b="0">
              <a:solidFill>
                <a:srgbClr val="E8F2FF"/>
              </a:solidFill>
            </a:endParaRPr>
          </a:p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Mean rating 4.4995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04875" y="4905375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4C8FF"/>
                </a:solidFill>
              </a:defRPr>
            </a:pPr>
            <a:r>
              <a:rPr sz="1275" b="0">
                <a:solidFill>
                  <a:srgbClr val="14C8FF"/>
                </a:solidFill>
              </a:rPr>
              <a:t>Pipeline: joined recruitment features -&gt; preprocessing -&gt; Random Forest training -&gt; artifacts -&gt; analytics.ml_feature_insights -&gt; dashboard.</a:t>
            </a:r>
            <a:endParaRPr sz="1275" b="0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MODEL INTERPRETATION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14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Random Forest was chosen as a strong tabular baseline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It supports mixed recruitment features and produces feature-importance signals that are easy to present to admins.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857250" y="20288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066800" y="195262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Handles numeric and categorical recruitment variables after preprocessing.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857250" y="2695575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066800" y="26193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Works well as a practical baseline for tabular decision-support problems.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857250" y="33623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66800" y="328612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Publishes feature importance so admins can see influential signals.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857250" y="4029075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066800" y="3952875"/>
            <a:ext cx="4552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Limitations are acknowledged: demo data size, bias risk, and the need for fairness/drift checks before production.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477000" y="2000250"/>
            <a:ext cx="4191000" cy="2095500"/>
          </a:xfrm>
          <a:prstGeom prst="roundRect">
            <a:avLst>
              <a:gd name="adj" fmla="val 3636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477000" y="2000250"/>
            <a:ext cx="4191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648450" y="21907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Feature examples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648450" y="2552700"/>
            <a:ext cx="38481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city, state, country, degree, university, expected salary, passing year, GPA, login count, job title, department, stage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477000" y="4476750"/>
            <a:ext cx="4191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477000" y="4476750"/>
            <a:ext cx="419100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648450" y="46672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Human review remains mandatory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648450" y="5029200"/>
            <a:ext cx="3848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Model outputs are advisory. Final hiring decisions must remain transparent, policy-compliant, and reviewed by people.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NEW FINAL ASPECT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15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Ask Data module adds a conversational analytics layer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Admins can ask recruitment questions in natural language and receive safe SQL-backed answers with tables or charts.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66750" y="2190750"/>
            <a:ext cx="238125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2190750"/>
            <a:ext cx="23812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3812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Natural-language input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38200" y="27432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Example: Which candidates have high ratings but were not hired?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524250" y="2190750"/>
            <a:ext cx="238125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524250" y="2190750"/>
            <a:ext cx="238125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695700" y="23812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Agent plan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695700" y="27432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The router chooses fast local NLP, Hugging Face local LLM, optional cloud AI, or fallback SQL.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381750" y="2190750"/>
            <a:ext cx="238125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381750" y="2190750"/>
            <a:ext cx="238125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553200" y="23812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Safe execution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553200" y="27432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SQL is sanitized, limited, executed read-only, and optionally repaired once in Hugging Face mode.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9239250" y="2190750"/>
            <a:ext cx="2381250" cy="1047750"/>
          </a:xfrm>
          <a:prstGeom prst="roundRect">
            <a:avLst>
              <a:gd name="adj" fmla="val 727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239250" y="2190750"/>
            <a:ext cx="23812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410700" y="23812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Learning loop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410700" y="274320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Question, SQL, summary, helpful flag, and corrected SQL are stored for future reuse.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09625" y="4905375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2D98F"/>
                </a:solidFill>
              </a:defRPr>
            </a:pPr>
            <a:r>
              <a:rPr sz="1350" b="1">
                <a:solidFill>
                  <a:srgbClr val="22D98F"/>
                </a:solidFill>
              </a:rPr>
              <a:t>This is a major improvement over the mid-term plan: Text-to-SQL is now implemented with local NLP and downloaded LLM support.</a:t>
            </a:r>
            <a:endParaRPr sz="1350" b="1">
              <a:solidFill>
                <a:srgbClr val="22D98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NLP + HUGGING FACE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16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Fast local matching keeps demos responsive, while local LLM mode handles harder questions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system avoids depending only on paid cloud AI or slow model generation.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2524125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2695575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Admin question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667000" y="2524125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781300" y="269557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Schema + learned examples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953000" y="209550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5067300" y="22669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Fast local NLP matcher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953000" y="3333750"/>
            <a:ext cx="2095500" cy="704850"/>
          </a:xfrm>
          <a:prstGeom prst="roundRect">
            <a:avLst>
              <a:gd name="adj" fmla="val 10811"/>
            </a:avLst>
          </a:prstGeom>
          <a:solidFill>
            <a:srgbClr val="332411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067300" y="3505200"/>
            <a:ext cx="1866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7A52B"/>
                </a:solidFill>
              </a:defRPr>
            </a:pPr>
            <a:r>
              <a:rPr sz="1050" b="1">
                <a:solidFill>
                  <a:srgbClr val="F7A52B"/>
                </a:solidFill>
              </a:rPr>
              <a:t>Downloaded Hugging Face LLM</a:t>
            </a:r>
            <a:endParaRPr sz="1050" b="1">
              <a:solidFill>
                <a:srgbClr val="F7A52B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524750" y="2524125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39050" y="2695575"/>
            <a:ext cx="1771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2D98F"/>
                </a:solidFill>
              </a:defRPr>
            </a:pPr>
            <a:r>
              <a:rPr sz="1050" b="1">
                <a:solidFill>
                  <a:srgbClr val="22D98F"/>
                </a:solidFill>
              </a:rPr>
              <a:t>Sanitized PostgreSQL SELECT</a:t>
            </a:r>
            <a:endParaRPr sz="1050" b="1">
              <a:solidFill>
                <a:srgbClr val="22D98F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10001250" y="2524125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115550" y="2695575"/>
            <a:ext cx="129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4C8FF"/>
                </a:solidFill>
              </a:defRPr>
            </a:pPr>
            <a:r>
              <a:rPr sz="1050" b="1">
                <a:solidFill>
                  <a:srgbClr val="14C8FF"/>
                </a:solidFill>
              </a:rPr>
              <a:t>Answer + visualization</a:t>
            </a:r>
            <a:endParaRPr sz="1050" b="1">
              <a:solidFill>
                <a:srgbClr val="14C8FF"/>
              </a:solidFill>
            </a:endParaRP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2190750" y="2876550"/>
            <a:ext cx="476250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 rot="16740000">
            <a:off x="4476750" y="2447925"/>
            <a:ext cx="476250" cy="428625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4476750" y="2876550"/>
            <a:ext cx="476250" cy="809625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6762750" y="2447925"/>
            <a:ext cx="762000" cy="428625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 rot="4740000">
            <a:off x="7164705" y="3142615"/>
            <a:ext cx="476250" cy="809625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5" name="Straight Connector 24"/>
          <p:cNvSpPr>
            <a:spLocks noGrp="1"/>
          </p:cNvSpPr>
          <p:nvPr/>
        </p:nvSpPr>
        <p:spPr>
          <a:xfrm>
            <a:off x="9525000" y="2876550"/>
            <a:ext cx="476250" cy="0"/>
          </a:xfrm>
          <a:prstGeom prst="line">
            <a:avLst/>
          </a:prstGeom>
          <a:ln w="19050">
            <a:solidFill>
              <a:srgbClr val="9EB2C7"/>
            </a:solidFill>
            <a:prstDash val="solid"/>
          </a:ln>
        </p:spPr>
      </p:sp>
      <p:sp>
        <p:nvSpPr>
          <p:cNvPr id="26" name="Oval 25"/>
          <p:cNvSpPr>
            <a:spLocks noGrp="1"/>
          </p:cNvSpPr>
          <p:nvPr/>
        </p:nvSpPr>
        <p:spPr>
          <a:xfrm>
            <a:off x="1000125" y="48863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209675" y="4810125"/>
            <a:ext cx="950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LOCAL_AGENT_SPEED_MODE defaults to fast local SQL before slow LLM generation.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28" name="Oval 27"/>
          <p:cNvSpPr>
            <a:spLocks noGrp="1"/>
          </p:cNvSpPr>
          <p:nvPr/>
        </p:nvSpPr>
        <p:spPr>
          <a:xfrm>
            <a:off x="1000125" y="5229225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209675" y="5153025"/>
            <a:ext cx="950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LOCAL_ALLOW_SLOW_LLM enables slower Hugging Face fallback when local confidence is low.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1000125" y="5572125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209675" y="5495925"/>
            <a:ext cx="950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Default local model: Qwen/Qwen2.5-Coder-1.5B-Instruct through Transformers text-generation pipeline.</a:t>
            </a:r>
            <a:endParaRPr sz="1125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AGENT SAFETY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17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assistant is designed to be useful without being dangerous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9540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Generated SQL is never trusted directly; the same sanitizer protects pasted SQL, local NLP SQL, cloud SQL, and Hugging Face SQL.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809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180975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20002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Read-only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33450" y="23622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Only SELECT or WITH queries are allowed.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381500" y="1809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381500" y="1809750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552950" y="20002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Single statement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552950" y="23622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Multiple semicolon-separated statements are rejected.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62000" y="530098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530098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33450" y="549148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Blocked mutations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33450" y="585343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INSERT, UPDATE, DELETE, DROP, ALTER, CREATE, TRUNCATE, COPY, GRANT and REVOKE are blocked.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62000" y="35242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62000" y="3524250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33450" y="37147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Sensitive fields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33450" y="40767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Password and secret fields are not allowed in assistant output.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4381500" y="35242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4381500" y="352425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4552950" y="371475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Bounded output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4552950" y="40767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 LIMIT is added when missing to reduce accidental large scans.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381500" y="537337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381500" y="5373370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4552950" y="556387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Feedback memory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4552950" y="592582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Useful answers and corrected SQL teach future examples.</a:t>
            </a:r>
            <a:endParaRPr sz="1050" b="0">
              <a:solidFill>
                <a:srgbClr val="E8F2FF"/>
              </a:solidFill>
            </a:endParaRPr>
          </a:p>
        </p:txBody>
      </p:sp>
      <p:pic>
        <p:nvPicPr>
          <p:cNvPr id="33" name="Picture 32" descr="Screenshot 2026-07-25 2319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935" y="1751965"/>
            <a:ext cx="4465955" cy="4700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AGENT DEMONSTRATION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18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question bank is aligned with real recruitment decisions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These questions are ready to use during viva or project demonstration.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7621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52500" y="19050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Give me a hiring summary with the main KPIs.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191250" y="17621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381750" y="19050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cities have the strongest candidate pipeline?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62000" y="26003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952500" y="2743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candidates have high ratings but were not hired?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191250" y="26003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81750" y="2743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jobs have the best hire rate and enough feedback?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62000" y="34385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52500" y="35814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interviewers have the highest pending feedback workload?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191250" y="34385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381750" y="35814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degrees are associated with better ratings?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62000" y="42767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52500" y="44196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Which active candidates have not logged in recently?</a:t>
            </a:r>
            <a:endParaRPr sz="1125" b="0">
              <a:solidFill>
                <a:srgbClr val="E8F2FF"/>
              </a:solidFill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91250" y="42767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81750" y="44196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8F2FF"/>
                </a:solidFill>
              </a:defRPr>
            </a:pPr>
            <a:r>
              <a:rPr sz="1125" b="0">
                <a:solidFill>
                  <a:srgbClr val="E8F2FF"/>
                </a:solidFill>
              </a:rPr>
              <a:t>What are the top ML feature insights and what should I do next?</a:t>
            </a:r>
            <a:endParaRPr sz="1125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TESTING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19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Validation covers schema, data quality, contracts, and the new agent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final project includes tests for both the data product and the conversational analytics layer.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90500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1905000"/>
            <a:ext cx="4762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20955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Gold validation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33450" y="2457450"/>
            <a:ext cx="441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Row counts, nulls, duplicates, ranges, formulas, reconciliation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191250" y="190500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191250" y="1905000"/>
            <a:ext cx="4762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362700" y="20955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Project contracts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2457450"/>
            <a:ext cx="441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SCD2, versioned lake paths, Hive tables, dashboard exposure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62000" y="361950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3619500"/>
            <a:ext cx="4762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33450" y="38100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Agent tests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33450" y="4171950"/>
            <a:ext cx="441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Local matching, Hugging Face prompt parsing, response extraction, fallback narration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191250" y="361950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191250" y="3619500"/>
            <a:ext cx="4762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362700" y="381000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Latest result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4171950"/>
            <a:ext cx="4419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10 targeted agent tests passed after the final update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09625" y="5429250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22D98F"/>
                </a:solidFill>
              </a:defRPr>
            </a:pPr>
            <a:r>
              <a:rPr sz="1200" b="0">
                <a:solidFill>
                  <a:srgbClr val="22D98F"/>
                </a:solidFill>
              </a:rPr>
              <a:t>Verification command result: 10 passed across huggingface_sql_agent, analytics_agent, and local_sql_model tests.</a:t>
            </a:r>
            <a:endParaRPr sz="1200" b="0">
              <a:solidFill>
                <a:srgbClr val="22D98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SECURITY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20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Privacy and governance are built into the pipeline and assistant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project handles sensitive data carefully at the analytics boundary and prevents unsafe assistant operations.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904875" y="18859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114425" y="1809750"/>
            <a:ext cx="950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Fernet encryption protects selected PII before Silver publication.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04875" y="2533650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114425" y="2457450"/>
            <a:ext cx="950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SCD Type 2 candidate history preserves changes instead of overwriting analytical memory.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904875" y="31813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114425" y="3105150"/>
            <a:ext cx="950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Read-only SQL guardrails reduce risk in the conversational agent.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904875" y="3829050"/>
            <a:ext cx="76200" cy="76200"/>
          </a:xfrm>
          <a:prstGeom prst="ellipse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114425" y="3752850"/>
            <a:ext cx="950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run_datetime lake paths provide lineage and reproducibility.</a:t>
            </a:r>
            <a:endParaRPr sz="1275" b="0">
              <a:solidFill>
                <a:srgbClr val="E8F2FF"/>
              </a:solidFill>
            </a:endParaR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904875" y="4476750"/>
            <a:ext cx="76200" cy="76200"/>
          </a:xfrm>
          <a:prstGeom prst="ellipse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114425" y="4400550"/>
            <a:ext cx="9505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F2FF"/>
                </a:solidFill>
              </a:defRPr>
            </a:pPr>
            <a:r>
              <a:rPr sz="1275" b="0">
                <a:solidFill>
                  <a:srgbClr val="E8F2FF"/>
                </a:solidFill>
              </a:rPr>
              <a:t>Production recommendations include Key Vault, formal RBAC, password hashing, CI, monitoring, model cards, fairness checks, and drift monitoring.</a:t>
            </a:r>
            <a:endParaRPr sz="1275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RESULTS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21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final outcome is a working recruitment intelligence foundation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project demonstrates end-to-end data engineering plus data science, not isolated scripts.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62000" y="1905000"/>
            <a:ext cx="3048000" cy="1190625"/>
          </a:xfrm>
          <a:prstGeom prst="roundRect">
            <a:avLst>
              <a:gd name="adj" fmla="val 640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190500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20955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Operational workflows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33450" y="2457450"/>
            <a:ext cx="2705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Registration, profile update, scheduling, feedback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381500" y="1905000"/>
            <a:ext cx="3048000" cy="1190625"/>
          </a:xfrm>
          <a:prstGeom prst="roundRect">
            <a:avLst>
              <a:gd name="adj" fmla="val 640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381500" y="1905000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552950" y="20955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Lakehouse pipeline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552950" y="2457450"/>
            <a:ext cx="2705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Bronze, Silver, Gold, Azure Parquet, external table readiness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001000" y="1905000"/>
            <a:ext cx="3048000" cy="1190625"/>
          </a:xfrm>
          <a:prstGeom prst="roundRect">
            <a:avLst>
              <a:gd name="adj" fmla="val 640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001000" y="190500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172450" y="20955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Analytics products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172450" y="2457450"/>
            <a:ext cx="2705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Gold KPIs, dashboard, validation, reconciliation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62000" y="3810000"/>
            <a:ext cx="3048000" cy="1190625"/>
          </a:xfrm>
          <a:prstGeom prst="roundRect">
            <a:avLst>
              <a:gd name="adj" fmla="val 640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62000" y="3810000"/>
            <a:ext cx="3048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33450" y="40005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Predictive intelligence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33450" y="4362450"/>
            <a:ext cx="2705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ML models, feature importance, decision-support framing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4381500" y="3810000"/>
            <a:ext cx="3048000" cy="1190625"/>
          </a:xfrm>
          <a:prstGeom prst="roundRect">
            <a:avLst>
              <a:gd name="adj" fmla="val 6400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4381500" y="3810000"/>
            <a:ext cx="30480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4552950" y="40005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Conversational analytics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4552950" y="4362450"/>
            <a:ext cx="2705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NLP matcher, Hugging Face LLM, SQL safety, feedback memory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LIMITATIONS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22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The project is strong as a prototype, with clear production next steps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Acknowledging limits improves credibility and shows engineering maturity.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904875" y="2000250"/>
            <a:ext cx="4381500" cy="2476500"/>
          </a:xfrm>
          <a:prstGeom prst="roundRect">
            <a:avLst>
              <a:gd name="adj" fmla="val 307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04875" y="2000250"/>
            <a:ext cx="438150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076325" y="219075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Current limitations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76325" y="2552700"/>
            <a:ext cx="40386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Demo-oriented data size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Email-domain role checks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Prototype ML evaluation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Local LLM can be slow on CPU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No production CI/CD yet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905625" y="2000250"/>
            <a:ext cx="4381500" cy="2476500"/>
          </a:xfrm>
          <a:prstGeom prst="roundRect">
            <a:avLst>
              <a:gd name="adj" fmla="val 3077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905625" y="2000250"/>
            <a:ext cx="4381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077075" y="219075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Recommended hardening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077075" y="2552700"/>
            <a:ext cx="40386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Identity provider and RBAC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Azure Key Vault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Deployment automation</a:t>
            </a:r>
            <a:endParaRPr sz="1050" b="0">
              <a:solidFill>
                <a:srgbClr val="E8F2FF"/>
              </a:solidFill>
            </a:endParaRP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Monitoring, fairness and drift checks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09625" y="5238750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4C8FF"/>
                </a:solidFill>
              </a:defRPr>
            </a:pPr>
            <a:r>
              <a:rPr sz="1275" b="0">
                <a:solidFill>
                  <a:srgbClr val="14C8FF"/>
                </a:solidFill>
              </a:rPr>
              <a:t>Positioning: the submitted system is a complete academic project and a realistic foundation for productionization.</a:t>
            </a:r>
            <a:endParaRPr sz="1275" b="0">
              <a:solidFill>
                <a:srgbClr val="14C8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VIVA TALKING POINTS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23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514350"/>
            <a:ext cx="866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F2FF"/>
                </a:solidFill>
              </a:defRPr>
            </a:pPr>
            <a:r>
              <a:rPr sz="2325" b="1">
                <a:solidFill>
                  <a:srgbClr val="E8F2FF"/>
                </a:solidFill>
              </a:rPr>
              <a:t>Use these points to explain the project confidently</a:t>
            </a:r>
            <a:endParaRPr sz="2325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1114425"/>
            <a:ext cx="666750" cy="285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12382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The answers connect implementation choices to business and engineering value.</a:t>
            </a:r>
            <a:endParaRPr sz="1050" b="0">
              <a:solidFill>
                <a:srgbClr val="9EB2C7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66750" y="1905000"/>
            <a:ext cx="3333750" cy="1238250"/>
          </a:xfrm>
          <a:prstGeom prst="roundRect">
            <a:avLst>
              <a:gd name="adj" fmla="val 6154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1905000"/>
            <a:ext cx="333375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Why medallion?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38200" y="2457450"/>
            <a:ext cx="2990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It separates raw capture, protected history, and trusted business metrics.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29125" y="1905000"/>
            <a:ext cx="3333750" cy="1238250"/>
          </a:xfrm>
          <a:prstGeom prst="roundRect">
            <a:avLst>
              <a:gd name="adj" fmla="val 6154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429125" y="1905000"/>
            <a:ext cx="333375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600575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Why DuckDB?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600575" y="2457450"/>
            <a:ext cx="2990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It can query Parquet directly and works well for lake-first Gold aggregation.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191500" y="1905000"/>
            <a:ext cx="3333750" cy="1238250"/>
          </a:xfrm>
          <a:prstGeom prst="roundRect">
            <a:avLst>
              <a:gd name="adj" fmla="val 6154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191500" y="1905000"/>
            <a:ext cx="3333750" cy="38100"/>
          </a:xfrm>
          <a:prstGeom prst="rect">
            <a:avLst/>
          </a:prstGeom>
          <a:solidFill>
            <a:srgbClr val="F7A52B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362950" y="20955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7A52B"/>
                </a:solidFill>
              </a:defRPr>
            </a:pPr>
            <a:r>
              <a:rPr sz="1200" b="1">
                <a:solidFill>
                  <a:srgbClr val="F7A52B"/>
                </a:solidFill>
              </a:rPr>
              <a:t>Why Random Forest?</a:t>
            </a:r>
            <a:endParaRPr sz="1200" b="1">
              <a:solidFill>
                <a:srgbClr val="F7A52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362950" y="2457450"/>
            <a:ext cx="2990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It is a strong tabular baseline and gives feature-importance outputs.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66750" y="3714750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66750" y="3714750"/>
            <a:ext cx="5143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38200" y="39052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Why local NLP + LLM?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38200" y="4267200"/>
            <a:ext cx="4800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The local matcher keeps common questions fast; Hugging Face mode handles harder Text-to-SQL without paid cloud AI.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381750" y="3714750"/>
            <a:ext cx="5143500" cy="1428750"/>
          </a:xfrm>
          <a:prstGeom prst="roundRect">
            <a:avLst>
              <a:gd name="adj" fmla="val 533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381750" y="3714750"/>
            <a:ext cx="51435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553200" y="39052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What is the main contribution?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553200" y="4267200"/>
            <a:ext cx="4800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An integrated recruitment data product combining OLTP workflows, lakehouse engineering, privacy, ML, and conversational analytics.</a:t>
            </a:r>
            <a:endParaRPr sz="1050" b="0">
              <a:solidFill>
                <a:srgbClr val="E8F2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67550" y="6791325"/>
            <a:ext cx="5124450" cy="66675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8048625" y="257175"/>
            <a:ext cx="3524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EB2C7"/>
                </a:solidFill>
              </a:defRPr>
            </a:pPr>
            <a:r>
              <a:rPr sz="750" b="1">
                <a:solidFill>
                  <a:srgbClr val="9EB2C7"/>
                </a:solidFill>
              </a:rPr>
              <a:t>CLOSING</a:t>
            </a:r>
            <a:endParaRPr sz="750" b="1">
              <a:solidFill>
                <a:srgbClr val="9EB2C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25200" y="6305550"/>
            <a:ext cx="495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00" b="0">
                <a:solidFill>
                  <a:srgbClr val="9EB2C7"/>
                </a:solidFill>
              </a:defRPr>
            </a:pPr>
            <a:r>
              <a:rPr sz="600" b="0">
                <a:solidFill>
                  <a:srgbClr val="9EB2C7"/>
                </a:solidFill>
              </a:rPr>
              <a:t>Slide 24</a:t>
            </a:r>
            <a:endParaRPr sz="600" b="0">
              <a:solidFill>
                <a:srgbClr val="9EB2C7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857250"/>
            <a:ext cx="742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E8F2FF"/>
                </a:solidFill>
              </a:defRPr>
            </a:pPr>
            <a:r>
              <a:rPr sz="3150" b="1">
                <a:solidFill>
                  <a:srgbClr val="E8F2FF"/>
                </a:solidFill>
              </a:rPr>
              <a:t>Conclusion</a:t>
            </a:r>
            <a:endParaRPr sz="3150" b="1">
              <a:solidFill>
                <a:srgbClr val="E8F2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90550" y="171450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E8F2FF"/>
                </a:solidFill>
              </a:defRPr>
            </a:pPr>
            <a:r>
              <a:rPr sz="1575" b="0">
                <a:solidFill>
                  <a:srgbClr val="E8F2FF"/>
                </a:solidFill>
              </a:rPr>
              <a:t>TalentFlow AI successfully demonstrates a complete recruitment intelligence data product: operational workflows, governed lakehouse pipelines, validated analytics, machine-learning insights, and an NLP-based analytics agent.</a:t>
            </a:r>
            <a:endParaRPr sz="1575" b="0">
              <a:solidFill>
                <a:srgbClr val="E8F2FF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762000" y="3333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3333750"/>
            <a:ext cx="4953000" cy="38100"/>
          </a:xfrm>
          <a:prstGeom prst="rect">
            <a:avLst/>
          </a:prstGeom>
          <a:solidFill>
            <a:srgbClr val="22D98F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33450" y="35242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2D98F"/>
                </a:solidFill>
              </a:defRPr>
            </a:pPr>
            <a:r>
              <a:rPr sz="1200" b="1">
                <a:solidFill>
                  <a:srgbClr val="22D98F"/>
                </a:solidFill>
              </a:rPr>
              <a:t>Best examiner takeaway</a:t>
            </a:r>
            <a:endParaRPr sz="1200" b="1">
              <a:solidFill>
                <a:srgbClr val="22D98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" y="3886200"/>
            <a:ext cx="4610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This project combines data engineering, data science, privacy, validation, and practical business usability in one coherent system.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77000" y="3333750"/>
            <a:ext cx="4000500" cy="1428750"/>
          </a:xfrm>
          <a:prstGeom prst="roundRect">
            <a:avLst>
              <a:gd name="adj" fmla="val 5333"/>
            </a:avLst>
          </a:prstGeom>
          <a:solidFill>
            <a:srgbClr val="0D1B2D"/>
          </a:solidFill>
          <a:ln w="9525">
            <a:solidFill>
              <a:srgbClr val="1E3B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477000" y="3333750"/>
            <a:ext cx="4000500" cy="38100"/>
          </a:xfrm>
          <a:prstGeom prst="rect">
            <a:avLst/>
          </a:prstGeom>
          <a:solidFill>
            <a:srgbClr val="14C8FF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648450" y="3524250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4C8FF"/>
                </a:solidFill>
              </a:defRPr>
            </a:pPr>
            <a:r>
              <a:rPr sz="1200" b="1">
                <a:solidFill>
                  <a:srgbClr val="14C8FF"/>
                </a:solidFill>
              </a:rPr>
              <a:t>Thank you</a:t>
            </a:r>
            <a:endParaRPr sz="1200" b="1">
              <a:solidFill>
                <a:srgbClr val="14C8FF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648450" y="3886200"/>
            <a:ext cx="3657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Questions and discussion</a:t>
            </a:r>
            <a:endParaRPr sz="1050" b="0">
              <a:solidFill>
                <a:srgbClr val="E8F2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71500" y="604837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EB2C7"/>
                </a:solidFill>
              </a:defRPr>
            </a:pPr>
            <a:r>
              <a:rPr sz="1050" b="0">
                <a:solidFill>
                  <a:srgbClr val="9EB2C7"/>
                </a:solidFill>
              </a:rPr>
              <a:t>Malikulashtar K Malampatiwalla | 2024DA04133</a:t>
            </a:r>
            <a:endParaRPr sz="1050" b="0">
              <a:solidFill>
                <a:srgbClr val="9EB2C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13591</Words>
  <Application>WPS Presentation</Application>
  <PresentationFormat>Converted Presentation</PresentationFormat>
  <Paragraphs>600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Acer</cp:lastModifiedBy>
  <cp:revision>1</cp:revision>
  <dcterms:created xsi:type="dcterms:W3CDTF">2026-07-27T20:51:37Z</dcterms:created>
  <dcterms:modified xsi:type="dcterms:W3CDTF">2026-07-27T20:51:37Z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FE3670AF243743A9AAB72F327C09B704_12</vt:lpwstr>
  </property>
</Properties>
</file>