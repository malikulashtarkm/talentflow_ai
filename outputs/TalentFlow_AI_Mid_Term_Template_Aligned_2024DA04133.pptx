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26680a197d4fc4" /><Relationship Type="http://schemas.openxmlformats.org/officeDocument/2006/relationships/extended-properties" Target="/docProps/app.xml" Id="R6cf94ff3badc4906" /><Relationship Type="http://schemas.openxmlformats.org/officeDocument/2006/relationships/officeDocument" Target="/ppt/presentation.xml" Id="Rd63150c29b3d432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f39dd6b84f4cfa"/>
  </p:sldMasterIdLst>
  <p:notesMasterIdLst>
    <p:notesMasterId xmlns:r="http://schemas.openxmlformats.org/officeDocument/2006/relationships" r:id="R3cbe434786f14e69"/>
  </p:notesMasterIdLst>
  <p:sldIdLst>
    <p:sldId xmlns:r="http://schemas.openxmlformats.org/officeDocument/2006/relationships" id="256" r:id="Rf7bebccb19a543b1"/>
    <p:sldId xmlns:r="http://schemas.openxmlformats.org/officeDocument/2006/relationships" id="257" r:id="Ree5e6d1b0a0c4178"/>
    <p:sldId xmlns:r="http://schemas.openxmlformats.org/officeDocument/2006/relationships" id="258" r:id="R1d9155f33e3f400a"/>
    <p:sldId xmlns:r="http://schemas.openxmlformats.org/officeDocument/2006/relationships" id="259" r:id="Reef53f5f05324769"/>
    <p:sldId xmlns:r="http://schemas.openxmlformats.org/officeDocument/2006/relationships" id="260" r:id="Rbab5f3d4307d4f05"/>
    <p:sldId xmlns:r="http://schemas.openxmlformats.org/officeDocument/2006/relationships" id="261" r:id="Reb2501f081ab4e2b"/>
    <p:sldId xmlns:r="http://schemas.openxmlformats.org/officeDocument/2006/relationships" id="262" r:id="Rde50bbfe59b24281"/>
    <p:sldId xmlns:r="http://schemas.openxmlformats.org/officeDocument/2006/relationships" id="263" r:id="Rfacbdaf77a534fb4"/>
    <p:sldId xmlns:r="http://schemas.openxmlformats.org/officeDocument/2006/relationships" id="264" r:id="R39fbaa719c814fe4"/>
    <p:sldId xmlns:r="http://schemas.openxmlformats.org/officeDocument/2006/relationships" id="265" r:id="R2b21be9b95bd46fd"/>
    <p:sldId xmlns:r="http://schemas.openxmlformats.org/officeDocument/2006/relationships" id="266" r:id="R8c8feb71c46f493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xmlns:r="http://schemas.openxmlformats.org/officeDocument/2006/relationships" def="{97F74970-1820-4FA9-A6A2-EDE01B7A4CAD}">
  <a:tblStyle styleId="{97F74970-1820-4FA9-A6A2-EDE01B7A4CA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eec6cbd39884043" /><Relationship Type="http://schemas.openxmlformats.org/officeDocument/2006/relationships/slideMaster" Target="/ppt/slideMasters/slideMaster1.xml" Id="R90f39dd6b84f4cfa" /><Relationship Type="http://schemas.openxmlformats.org/officeDocument/2006/relationships/notesMaster" Target="/ppt/notesMasters/notesMaster1.xml" Id="R3cbe434786f14e69" /><Relationship Type="http://schemas.openxmlformats.org/officeDocument/2006/relationships/presProps" Target="/ppt/presProps.xml" Id="R556ce1ce32604632" /><Relationship Type="http://schemas.openxmlformats.org/officeDocument/2006/relationships/tableStyles" Target="/ppt/tableStyles.xml" Id="Rd9b91e4b335e4abe" /><Relationship Type="http://schemas.openxmlformats.org/officeDocument/2006/relationships/slide" Target="/ppt/slides/slide1.xml" Id="Rf7bebccb19a543b1" /><Relationship Type="http://schemas.openxmlformats.org/officeDocument/2006/relationships/slide" Target="/ppt/slides/slide2.xml" Id="Ree5e6d1b0a0c4178" /><Relationship Type="http://schemas.openxmlformats.org/officeDocument/2006/relationships/slide" Target="/ppt/slides/slide3.xml" Id="R1d9155f33e3f400a" /><Relationship Type="http://schemas.openxmlformats.org/officeDocument/2006/relationships/slide" Target="/ppt/slides/slide4.xml" Id="Reef53f5f05324769" /><Relationship Type="http://schemas.openxmlformats.org/officeDocument/2006/relationships/slide" Target="/ppt/slides/slide5.xml" Id="Rbab5f3d4307d4f05" /><Relationship Type="http://schemas.openxmlformats.org/officeDocument/2006/relationships/slide" Target="/ppt/slides/slide6.xml" Id="Reb2501f081ab4e2b" /><Relationship Type="http://schemas.openxmlformats.org/officeDocument/2006/relationships/slide" Target="/ppt/slides/slide7.xml" Id="Rde50bbfe59b24281" /><Relationship Type="http://schemas.openxmlformats.org/officeDocument/2006/relationships/slide" Target="/ppt/slides/slide8.xml" Id="Rfacbdaf77a534fb4" /><Relationship Type="http://schemas.openxmlformats.org/officeDocument/2006/relationships/slide" Target="/ppt/slides/slide9.xml" Id="R39fbaa719c814fe4" /><Relationship Type="http://schemas.openxmlformats.org/officeDocument/2006/relationships/slide" Target="/ppt/slides/slide10.xml" Id="R2b21be9b95bd46fd" /><Relationship Type="http://schemas.openxmlformats.org/officeDocument/2006/relationships/slide" Target="/ppt/slides/slide11.xml" Id="R8c8feb71c46f493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4a866669504e4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42f7bb1cafd48d2" /><Relationship Type="http://schemas.openxmlformats.org/officeDocument/2006/relationships/notesMaster" Target="/ppt/notesMasters/notesMaster1.xml" Id="R14e39f1c995147d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bbe292185624055" /><Relationship Type="http://schemas.openxmlformats.org/officeDocument/2006/relationships/notesMaster" Target="/ppt/notesMasters/notesMaster1.xml" Id="R9559b3444e5e40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7c194a5d1324f80" /><Relationship Type="http://schemas.openxmlformats.org/officeDocument/2006/relationships/notesMaster" Target="/ppt/notesMasters/notesMaster1.xml" Id="Raddbdda9bddc4ad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a49e70655244a80" /><Relationship Type="http://schemas.openxmlformats.org/officeDocument/2006/relationships/notesMaster" Target="/ppt/notesMasters/notesMaster1.xml" Id="R5b2cf8889037447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7f9b8aaa3d04ea3" /><Relationship Type="http://schemas.openxmlformats.org/officeDocument/2006/relationships/notesMaster" Target="/ppt/notesMasters/notesMaster1.xml" Id="R85490f7728ac438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fe75e6a4baa4833" /><Relationship Type="http://schemas.openxmlformats.org/officeDocument/2006/relationships/notesMaster" Target="/ppt/notesMasters/notesMaster1.xml" Id="Rc3d0cf56d80f43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9e7da3918154e8f" /><Relationship Type="http://schemas.openxmlformats.org/officeDocument/2006/relationships/notesMaster" Target="/ppt/notesMasters/notesMaster1.xml" Id="R51470b748632442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88e782dccfb4034" /><Relationship Type="http://schemas.openxmlformats.org/officeDocument/2006/relationships/notesMaster" Target="/ppt/notesMasters/notesMaster1.xml" Id="R57609d29720a4e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87611feba9143c3" /><Relationship Type="http://schemas.openxmlformats.org/officeDocument/2006/relationships/notesMaster" Target="/ppt/notesMasters/notesMaster1.xml" Id="Rc34adebdf02f42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6f954b549d04da2" /><Relationship Type="http://schemas.openxmlformats.org/officeDocument/2006/relationships/notesMaster" Target="/ppt/notesMasters/notesMaster1.xml" Id="Rfc857db1869d48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e23df6cf7249c7" /><Relationship Type="http://schemas.openxmlformats.org/officeDocument/2006/relationships/notesMaster" Target="/ppt/notesMasters/notesMaster1.xml" Id="R093a266eeba5481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679034606e404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6de5529869436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cbec779d65453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a3fdd97ada465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0e3c5bf1fc4f1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4caaf8b71b488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9846bef29d472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9fce348c53476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bc566c7013406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e11e74cd404b2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38a56cf48d4024" /></Relationships>
</file>

<file path=ppt/slideLayouts/slideLayout1.xml><?xml version="1.0" encoding="utf-8"?>
<p:sldLayout xmlns:p="http://schemas.openxmlformats.org/presentationml/2006/main" matchingName="Blank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FFCA5575-7437-4FA2-A742-E3CFB49E685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3" name="Google Shape;13;p2">
            <a:extLst xmlns:a="http://schemas.openxmlformats.org/drawingml/2006/main">
              <a:ext uri="{FF2B5EF4-FFF2-40B4-BE49-F238E27FC236}">
                <a16:creationId xmlns:a16="http://schemas.microsoft.com/office/drawing/2014/main" id="{14167577-7983-4789-AB7A-FC19778C6AA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4" name="Google Shape;14;p2">
            <a:extLst xmlns:a="http://schemas.openxmlformats.org/drawingml/2006/main">
              <a:ext uri="{FF2B5EF4-FFF2-40B4-BE49-F238E27FC236}">
                <a16:creationId xmlns:a16="http://schemas.microsoft.com/office/drawing/2014/main" id="{24641A8D-D870-4034-85BC-19B6642F2C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matchingName="Title Slide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Google Shape;16;p3">
            <a:extLst xmlns:a="http://schemas.openxmlformats.org/drawingml/2006/main">
              <a:ext uri="{FF2B5EF4-FFF2-40B4-BE49-F238E27FC236}">
                <a16:creationId xmlns:a16="http://schemas.microsoft.com/office/drawing/2014/main" id="{D188E409-A21E-44AA-8205-E2D0A96417C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883339B0-FE62-40CE-9760-DC096109A40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ctr">
              <a:spcBef>
                <a:spcPts val="64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1pPr>
            <a:lvl2pPr algn="ctr">
              <a:spcBef>
                <a:spcPts val="56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2pPr>
            <a:lvl3pPr algn="ctr">
              <a:spcBef>
                <a:spcPts val="48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3pPr>
            <a:lvl4pPr algn="ctr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4pPr>
            <a:lvl5pPr algn="ctr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5pPr>
            <a:lvl6pPr algn="ctr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6pPr>
            <a:lvl7pPr algn="ctr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7pPr>
            <a:lvl8pPr algn="ctr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8pPr>
            <a:lvl9pPr algn="ctr">
              <a:spcBef>
                <a:spcPts val="400"/>
              </a:spcBef>
              <a:spcAft>
                <a:spcPts val="0"/>
              </a:spcAft>
              <a:buNone/>
              <a:defRPr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D8C8BB02-2D7B-4A6B-9FFF-63D16C1449F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19" name="Google Shape;19;p3">
            <a:extLst xmlns:a="http://schemas.openxmlformats.org/drawingml/2006/main">
              <a:ext uri="{FF2B5EF4-FFF2-40B4-BE49-F238E27FC236}">
                <a16:creationId xmlns:a16="http://schemas.microsoft.com/office/drawing/2014/main" id="{47EA2F11-3BE1-4D76-8388-9A635B8B4A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0" name="Google Shape;20;p3">
            <a:extLst xmlns:a="http://schemas.openxmlformats.org/drawingml/2006/main">
              <a:ext uri="{FF2B5EF4-FFF2-40B4-BE49-F238E27FC236}">
                <a16:creationId xmlns:a16="http://schemas.microsoft.com/office/drawing/2014/main" id="{7E06D29B-08FA-457A-A7F7-EF1EDAC15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Title and Content" type="obj">
  <p:cSld name="OBJE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Google Shape;22;p4">
            <a:extLst xmlns:a="http://schemas.openxmlformats.org/drawingml/2006/main">
              <a:ext uri="{FF2B5EF4-FFF2-40B4-BE49-F238E27FC236}">
                <a16:creationId xmlns:a16="http://schemas.microsoft.com/office/drawing/2014/main" id="{68E3B87A-A68B-464D-9220-153E5C70F8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3" name="Google Shape;23;p4">
            <a:extLst xmlns:a="http://schemas.openxmlformats.org/drawingml/2006/main">
              <a:ext uri="{FF2B5EF4-FFF2-40B4-BE49-F238E27FC236}">
                <a16:creationId xmlns:a16="http://schemas.microsoft.com/office/drawing/2014/main" id="{D8C8DC80-D5E9-4817-A1C9-A1CDAAE2AF9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24" name="Google Shape;24;p4">
            <a:extLst xmlns:a="http://schemas.openxmlformats.org/drawingml/2006/main">
              <a:ext uri="{FF2B5EF4-FFF2-40B4-BE49-F238E27FC236}">
                <a16:creationId xmlns:a16="http://schemas.microsoft.com/office/drawing/2014/main" id="{7964204D-DDCF-4193-8E56-69189432BE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5" name="Google Shape;25;p4">
            <a:extLst xmlns:a="http://schemas.openxmlformats.org/drawingml/2006/main">
              <a:ext uri="{FF2B5EF4-FFF2-40B4-BE49-F238E27FC236}">
                <a16:creationId xmlns:a16="http://schemas.microsoft.com/office/drawing/2014/main" id="{5865B2CD-60EF-4CBF-AD61-56963AA0B31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6" name="Google Shape;26;p4">
            <a:extLst xmlns:a="http://schemas.openxmlformats.org/drawingml/2006/main">
              <a:ext uri="{FF2B5EF4-FFF2-40B4-BE49-F238E27FC236}">
                <a16:creationId xmlns:a16="http://schemas.microsoft.com/office/drawing/2014/main" id="{573688E4-7FCF-4F81-8BA5-E94516243A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4.xml><?xml version="1.0" encoding="utf-8"?>
<p:sldLayout xmlns:p="http://schemas.openxmlformats.org/presentationml/2006/main" matchingName="Section Header" type="secHead">
  <p:cSld name="SECTION_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Google Shape;28;p5">
            <a:extLst xmlns:a="http://schemas.openxmlformats.org/drawingml/2006/main">
              <a:ext uri="{FF2B5EF4-FFF2-40B4-BE49-F238E27FC236}">
                <a16:creationId xmlns:a16="http://schemas.microsoft.com/office/drawing/2014/main" id="{B52E4179-33DC-4D9D-BF1C-E83E39C53A4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4000" b="1" cap="none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9" name="Google Shape;29;p5">
            <a:extLst xmlns:a="http://schemas.openxmlformats.org/drawingml/2006/main">
              <a:ext uri="{FF2B5EF4-FFF2-40B4-BE49-F238E27FC236}">
                <a16:creationId xmlns:a16="http://schemas.microsoft.com/office/drawing/2014/main" id="{68D1DB52-BC48-4C3A-8A9D-7CBE96882D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00"/>
              </a:spcBef>
              <a:spcAft>
                <a:spcPts val="0"/>
              </a:spcAft>
              <a:buNone/>
              <a:defRPr sz="2000">
                <a:solidFill>
                  <a:srgbClr val="888888"/>
                </a:solidFill>
              </a:defRPr>
            </a:lvl1pPr>
            <a:lvl2pPr marL="914400" indent="-228600" algn="l">
              <a:spcBef>
                <a:spcPts val="360"/>
              </a:spcBef>
              <a:spcAft>
                <a:spcPts val="0"/>
              </a:spcAft>
              <a:buNone/>
              <a:defRPr sz="1800">
                <a:solidFill>
                  <a:srgbClr val="888888"/>
                </a:solidFill>
              </a:defRPr>
            </a:lvl2pPr>
            <a:lvl3pPr marL="1371600" indent="-228600" algn="l">
              <a:spcBef>
                <a:spcPts val="320"/>
              </a:spcBef>
              <a:spcAft>
                <a:spcPts val="0"/>
              </a:spcAft>
              <a:buNone/>
              <a:defRPr sz="1600">
                <a:solidFill>
                  <a:srgbClr val="888888"/>
                </a:solidFill>
              </a:defRPr>
            </a:lvl3pPr>
            <a:lvl4pPr marL="1828800" indent="-228600" algn="l">
              <a:spcBef>
                <a:spcPts val="280"/>
              </a:spcBef>
              <a:spcAft>
                <a:spcPts val="0"/>
              </a:spcAft>
              <a:buNone/>
              <a:defRPr sz="1400">
                <a:solidFill>
                  <a:srgbClr val="888888"/>
                </a:solidFill>
              </a:defRPr>
            </a:lvl4pPr>
            <a:lvl5pPr marL="2286000" indent="-228600" algn="l">
              <a:spcBef>
                <a:spcPts val="280"/>
              </a:spcBef>
              <a:spcAft>
                <a:spcPts val="0"/>
              </a:spcAft>
              <a:buNone/>
              <a:defRPr sz="1400">
                <a:solidFill>
                  <a:srgbClr val="888888"/>
                </a:solidFill>
              </a:defRPr>
            </a:lvl5pPr>
            <a:lvl6pPr marL="2743200" indent="-228600" algn="l">
              <a:spcBef>
                <a:spcPts val="280"/>
              </a:spcBef>
              <a:spcAft>
                <a:spcPts val="0"/>
              </a:spcAft>
              <a:buNone/>
              <a:defRPr sz="1400">
                <a:solidFill>
                  <a:srgbClr val="888888"/>
                </a:solidFill>
              </a:defRPr>
            </a:lvl6pPr>
            <a:lvl7pPr marL="3200400" indent="-228600" algn="l">
              <a:spcBef>
                <a:spcPts val="280"/>
              </a:spcBef>
              <a:spcAft>
                <a:spcPts val="0"/>
              </a:spcAft>
              <a:buNone/>
              <a:defRPr sz="1400">
                <a:solidFill>
                  <a:srgbClr val="888888"/>
                </a:solidFill>
              </a:defRPr>
            </a:lvl7pPr>
            <a:lvl8pPr marL="3657600" indent="-228600" algn="l">
              <a:spcBef>
                <a:spcPts val="280"/>
              </a:spcBef>
              <a:spcAft>
                <a:spcPts val="0"/>
              </a:spcAft>
              <a:buNone/>
              <a:defRPr sz="1400">
                <a:solidFill>
                  <a:srgbClr val="888888"/>
                </a:solidFill>
              </a:defRPr>
            </a:lvl8pPr>
            <a:lvl9pPr marL="4114800" indent="-228600" algn="l">
              <a:spcBef>
                <a:spcPts val="280"/>
              </a:spcBef>
              <a:spcAft>
                <a:spcPts val="0"/>
              </a:spcAft>
              <a:buNone/>
              <a:defRPr sz="1400">
                <a:solidFill>
                  <a:srgbClr val="888888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30" name="Google Shape;30;p5">
            <a:extLst xmlns:a="http://schemas.openxmlformats.org/drawingml/2006/main">
              <a:ext uri="{FF2B5EF4-FFF2-40B4-BE49-F238E27FC236}">
                <a16:creationId xmlns:a16="http://schemas.microsoft.com/office/drawing/2014/main" id="{6F71643A-0090-43A5-AC75-A75A557C28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1" name="Google Shape;31;p5">
            <a:extLst xmlns:a="http://schemas.openxmlformats.org/drawingml/2006/main">
              <a:ext uri="{FF2B5EF4-FFF2-40B4-BE49-F238E27FC236}">
                <a16:creationId xmlns:a16="http://schemas.microsoft.com/office/drawing/2014/main" id="{AC4A169B-F1D9-445E-B61A-C306B2543A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2" name="Google Shape;32;p5">
            <a:extLst xmlns:a="http://schemas.openxmlformats.org/drawingml/2006/main">
              <a:ext uri="{FF2B5EF4-FFF2-40B4-BE49-F238E27FC236}">
                <a16:creationId xmlns:a16="http://schemas.microsoft.com/office/drawing/2014/main" id="{2D604118-F744-4C9C-99FD-ED3F291F6ED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5.xml><?xml version="1.0" encoding="utf-8"?>
<p:sldLayout xmlns:p="http://schemas.openxmlformats.org/presentationml/2006/main" matchingName="Two Content" type="twoObj">
  <p:cSld name="TWO_OBJECT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Google Shape;34;p6">
            <a:extLst xmlns:a="http://schemas.openxmlformats.org/drawingml/2006/main">
              <a:ext uri="{FF2B5EF4-FFF2-40B4-BE49-F238E27FC236}">
                <a16:creationId xmlns:a16="http://schemas.microsoft.com/office/drawing/2014/main" id="{4FE2F0E2-7857-4E1E-8C6F-F13B583182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5" name="Google Shape;35;p6">
            <a:extLst xmlns:a="http://schemas.openxmlformats.org/drawingml/2006/main">
              <a:ext uri="{FF2B5EF4-FFF2-40B4-BE49-F238E27FC236}">
                <a16:creationId xmlns:a16="http://schemas.microsoft.com/office/drawing/2014/main" id="{6A52710A-341B-4915-AC3C-E10126F6A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6" name="Google Shape;36;p6">
            <a:extLst xmlns:a="http://schemas.openxmlformats.org/drawingml/2006/main">
              <a:ext uri="{FF2B5EF4-FFF2-40B4-BE49-F238E27FC236}">
                <a16:creationId xmlns:a16="http://schemas.microsoft.com/office/drawing/2014/main" id="{57A2B3BC-6923-4835-95E6-D12B935BEB0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648200" y="1600200"/>
            <a:ext cx="4038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06400" algn="l">
              <a:spcBef>
                <a:spcPts val="560"/>
              </a:spcBef>
              <a:spcAft>
                <a:spcPts val="0"/>
              </a:spcAft>
              <a:buChar char="•"/>
              <a:defRPr sz="2800"/>
            </a:lvl1pPr>
            <a:lvl2pPr marL="914400" indent="-381000" algn="l">
              <a:spcBef>
                <a:spcPts val="480"/>
              </a:spcBef>
              <a:spcAft>
                <a:spcPts val="0"/>
              </a:spcAft>
              <a:buChar char="–"/>
              <a:defRPr sz="2400"/>
            </a:lvl2pPr>
            <a:lvl3pPr marL="1371600" indent="-355600" algn="l">
              <a:spcBef>
                <a:spcPts val="400"/>
              </a:spcBef>
              <a:spcAft>
                <a:spcPts val="0"/>
              </a:spcAft>
              <a:buChar char="•"/>
              <a:defRPr sz="2000"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har char="–"/>
              <a:defRPr sz="1800"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har char="»"/>
              <a:defRPr sz="1800"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har char="•"/>
              <a:defRPr sz="1800"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har char="•"/>
              <a:defRPr sz="1800"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har char="•"/>
              <a:defRPr sz="1800"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har char="•"/>
              <a:defRPr sz="1800"/>
            </a:lvl9pPr>
          </a:lstStyle>
          <a:p xmlns:a="http://schemas.openxmlformats.org/drawingml/2006/main"/>
        </p:txBody>
      </p:sp>
      <p:sp>
        <p:nvSpPr>
          <p:cNvPr id="37" name="Google Shape;37;p6">
            <a:extLst xmlns:a="http://schemas.openxmlformats.org/drawingml/2006/main">
              <a:ext uri="{FF2B5EF4-FFF2-40B4-BE49-F238E27FC236}">
                <a16:creationId xmlns:a16="http://schemas.microsoft.com/office/drawing/2014/main" id="{C77A5355-FB5C-46BF-93B3-2BCCDDD4D3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8" name="Google Shape;38;p6">
            <a:extLst xmlns:a="http://schemas.openxmlformats.org/drawingml/2006/main">
              <a:ext uri="{FF2B5EF4-FFF2-40B4-BE49-F238E27FC236}">
                <a16:creationId xmlns:a16="http://schemas.microsoft.com/office/drawing/2014/main" id="{0FCAD641-A70A-44B4-A787-0AE71FC570E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39" name="Google Shape;39;p6">
            <a:extLst xmlns:a="http://schemas.openxmlformats.org/drawingml/2006/main">
              <a:ext uri="{FF2B5EF4-FFF2-40B4-BE49-F238E27FC236}">
                <a16:creationId xmlns:a16="http://schemas.microsoft.com/office/drawing/2014/main" id="{234500C2-1DB3-4E22-9E31-232BFC58509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Comparison" type="twoTxTwoObj">
  <p:cSld name="TWO_OBJECTS_WITH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Google Shape;41;p7">
            <a:extLst xmlns:a="http://schemas.openxmlformats.org/drawingml/2006/main">
              <a:ext uri="{FF2B5EF4-FFF2-40B4-BE49-F238E27FC236}">
                <a16:creationId xmlns:a16="http://schemas.microsoft.com/office/drawing/2014/main" id="{BEA053B5-AAEE-4BDD-9456-2B6688EC4E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2" name="Google Shape;42;p7">
            <a:extLst xmlns:a="http://schemas.openxmlformats.org/drawingml/2006/main">
              <a:ext uri="{FF2B5EF4-FFF2-40B4-BE49-F238E27FC236}">
                <a16:creationId xmlns:a16="http://schemas.microsoft.com/office/drawing/2014/main" id="{2B611423-5EF8-4137-AA1F-D06BC5E444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3" name="Google Shape;43;p7">
            <a:extLst xmlns:a="http://schemas.openxmlformats.org/drawingml/2006/main">
              <a:ext uri="{FF2B5EF4-FFF2-40B4-BE49-F238E27FC236}">
                <a16:creationId xmlns:a16="http://schemas.microsoft.com/office/drawing/2014/main" id="{38B0DB8A-88E2-4610-BAF8-E2ECD6A9190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2174875"/>
            <a:ext cx="4040188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4" name="Google Shape;44;p7">
            <a:extLst xmlns:a="http://schemas.openxmlformats.org/drawingml/2006/main">
              <a:ext uri="{FF2B5EF4-FFF2-40B4-BE49-F238E27FC236}">
                <a16:creationId xmlns:a16="http://schemas.microsoft.com/office/drawing/2014/main" id="{3A67154A-3272-4708-B4AF-910F02BDD80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marL="457200" indent="-228600" algn="l">
              <a:spcBef>
                <a:spcPts val="480"/>
              </a:spcBef>
              <a:spcAft>
                <a:spcPts val="0"/>
              </a:spcAft>
              <a:buNone/>
              <a:defRPr sz="2400" b="1"/>
            </a:lvl1pPr>
            <a:lvl2pPr marL="914400" indent="-228600" algn="l">
              <a:spcBef>
                <a:spcPts val="400"/>
              </a:spcBef>
              <a:spcAft>
                <a:spcPts val="0"/>
              </a:spcAft>
              <a:buNone/>
              <a:defRPr sz="2000" b="1"/>
            </a:lvl2pPr>
            <a:lvl3pPr marL="1371600" indent="-228600" algn="l">
              <a:spcBef>
                <a:spcPts val="360"/>
              </a:spcBef>
              <a:spcAft>
                <a:spcPts val="0"/>
              </a:spcAft>
              <a:buNone/>
              <a:defRPr sz="1800" b="1"/>
            </a:lvl3pPr>
            <a:lvl4pPr marL="1828800" indent="-228600" algn="l">
              <a:spcBef>
                <a:spcPts val="320"/>
              </a:spcBef>
              <a:spcAft>
                <a:spcPts val="0"/>
              </a:spcAft>
              <a:buNone/>
              <a:defRPr sz="1600" b="1"/>
            </a:lvl4pPr>
            <a:lvl5pPr marL="2286000" indent="-228600" algn="l">
              <a:spcBef>
                <a:spcPts val="320"/>
              </a:spcBef>
              <a:spcAft>
                <a:spcPts val="0"/>
              </a:spcAft>
              <a:buNone/>
              <a:defRPr sz="1600" b="1"/>
            </a:lvl5pPr>
            <a:lvl6pPr marL="2743200" indent="-228600" algn="l">
              <a:spcBef>
                <a:spcPts val="320"/>
              </a:spcBef>
              <a:spcAft>
                <a:spcPts val="0"/>
              </a:spcAft>
              <a:buNone/>
              <a:defRPr sz="1600" b="1"/>
            </a:lvl6pPr>
            <a:lvl7pPr marL="3200400" indent="-228600" algn="l">
              <a:spcBef>
                <a:spcPts val="320"/>
              </a:spcBef>
              <a:spcAft>
                <a:spcPts val="0"/>
              </a:spcAft>
              <a:buNone/>
              <a:defRPr sz="1600" b="1"/>
            </a:lvl7pPr>
            <a:lvl8pPr marL="3657600" indent="-228600" algn="l">
              <a:spcBef>
                <a:spcPts val="320"/>
              </a:spcBef>
              <a:spcAft>
                <a:spcPts val="0"/>
              </a:spcAft>
              <a:buNone/>
              <a:defRPr sz="1600" b="1"/>
            </a:lvl8pPr>
            <a:lvl9pPr marL="4114800" indent="-228600" algn="l">
              <a:spcBef>
                <a:spcPts val="320"/>
              </a:spcBef>
              <a:spcAft>
                <a:spcPts val="0"/>
              </a:spcAft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5" name="Google Shape;45;p7">
            <a:extLst xmlns:a="http://schemas.openxmlformats.org/drawingml/2006/main">
              <a:ext uri="{FF2B5EF4-FFF2-40B4-BE49-F238E27FC236}">
                <a16:creationId xmlns:a16="http://schemas.microsoft.com/office/drawing/2014/main" id="{706F4E08-CD4B-4A3F-9B38-7D93AD13EB99}"/>
              </a:ext>
            </a:extLst>
          </p:cNvPr>
          <p:cNvSpPr>
            <a:spLocks xmlns:a="http://schemas.openxmlformats.org/drawingml/2006/main" noGrp="1"/>
          </p:cNvSpPr>
          <p:nvPr>
            <p:ph type="body" idx="4"/>
          </p:nvPr>
        </p:nvSpPr>
        <p:spPr>
          <a:xfrm xmlns:a="http://schemas.openxmlformats.org/drawingml/2006/main">
            <a:off x="4645025" y="2174875"/>
            <a:ext cx="4041775" cy="39512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81000" algn="l">
              <a:spcBef>
                <a:spcPts val="480"/>
              </a:spcBef>
              <a:spcAft>
                <a:spcPts val="0"/>
              </a:spcAft>
              <a:buChar char="•"/>
              <a:defRPr sz="2400"/>
            </a:lvl1pPr>
            <a:lvl2pPr marL="914400" indent="-355600" algn="l">
              <a:spcBef>
                <a:spcPts val="400"/>
              </a:spcBef>
              <a:spcAft>
                <a:spcPts val="0"/>
              </a:spcAft>
              <a:buChar char="–"/>
              <a:defRPr sz="2000"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har char="•"/>
              <a:defRPr sz="1800"/>
            </a:lvl3pPr>
            <a:lvl4pPr marL="1828800" indent="-330200" algn="l">
              <a:spcBef>
                <a:spcPts val="320"/>
              </a:spcBef>
              <a:spcAft>
                <a:spcPts val="0"/>
              </a:spcAft>
              <a:buChar char="–"/>
              <a:defRPr sz="1600"/>
            </a:lvl4pPr>
            <a:lvl5pPr marL="2286000" indent="-330200" algn="l">
              <a:spcBef>
                <a:spcPts val="320"/>
              </a:spcBef>
              <a:spcAft>
                <a:spcPts val="0"/>
              </a:spcAft>
              <a:buChar char="»"/>
              <a:defRPr sz="1600"/>
            </a:lvl5pPr>
            <a:lvl6pPr marL="2743200" indent="-330200" algn="l">
              <a:spcBef>
                <a:spcPts val="320"/>
              </a:spcBef>
              <a:spcAft>
                <a:spcPts val="0"/>
              </a:spcAft>
              <a:buChar char="•"/>
              <a:defRPr sz="1600"/>
            </a:lvl6pPr>
            <a:lvl7pPr marL="3200400" indent="-330200" algn="l">
              <a:spcBef>
                <a:spcPts val="320"/>
              </a:spcBef>
              <a:spcAft>
                <a:spcPts val="0"/>
              </a:spcAft>
              <a:buChar char="•"/>
              <a:defRPr sz="1600"/>
            </a:lvl7pPr>
            <a:lvl8pPr marL="3657600" indent="-330200" algn="l">
              <a:spcBef>
                <a:spcPts val="320"/>
              </a:spcBef>
              <a:spcAft>
                <a:spcPts val="0"/>
              </a:spcAft>
              <a:buChar char="•"/>
              <a:defRPr sz="1600"/>
            </a:lvl8pPr>
            <a:lvl9pPr marL="4114800" indent="-330200" algn="l">
              <a:spcBef>
                <a:spcPts val="320"/>
              </a:spcBef>
              <a:spcAft>
                <a:spcPts val="0"/>
              </a:spcAft>
              <a:buChar char="•"/>
              <a:defRPr sz="1600"/>
            </a:lvl9pPr>
          </a:lstStyle>
          <a:p xmlns:a="http://schemas.openxmlformats.org/drawingml/2006/main"/>
        </p:txBody>
      </p:sp>
      <p:sp>
        <p:nvSpPr>
          <p:cNvPr id="46" name="Google Shape;46;p7">
            <a:extLst xmlns:a="http://schemas.openxmlformats.org/drawingml/2006/main">
              <a:ext uri="{FF2B5EF4-FFF2-40B4-BE49-F238E27FC236}">
                <a16:creationId xmlns:a16="http://schemas.microsoft.com/office/drawing/2014/main" id="{5D0D1071-38C0-4521-86C3-07459DC7964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7" name="Google Shape;47;p7">
            <a:extLst xmlns:a="http://schemas.openxmlformats.org/drawingml/2006/main">
              <a:ext uri="{FF2B5EF4-FFF2-40B4-BE49-F238E27FC236}">
                <a16:creationId xmlns:a16="http://schemas.microsoft.com/office/drawing/2014/main" id="{6ADCB6A9-63C1-470A-BECD-CF554DD7A36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48" name="Google Shape;48;p7">
            <a:extLst xmlns:a="http://schemas.openxmlformats.org/drawingml/2006/main">
              <a:ext uri="{FF2B5EF4-FFF2-40B4-BE49-F238E27FC236}">
                <a16:creationId xmlns:a16="http://schemas.microsoft.com/office/drawing/2014/main" id="{D5A34AB9-513C-42F0-B161-64AEAF717A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Title Only" type="titleOnly">
  <p:cSld name="TITLE_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0" name="Google Shape;50;p8">
            <a:extLst xmlns:a="http://schemas.openxmlformats.org/drawingml/2006/main">
              <a:ext uri="{FF2B5EF4-FFF2-40B4-BE49-F238E27FC236}">
                <a16:creationId xmlns:a16="http://schemas.microsoft.com/office/drawing/2014/main" id="{A01C32C4-0A73-4DD4-859F-D4E472CDDA5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1" name="Google Shape;51;p8">
            <a:extLst xmlns:a="http://schemas.openxmlformats.org/drawingml/2006/main">
              <a:ext uri="{FF2B5EF4-FFF2-40B4-BE49-F238E27FC236}">
                <a16:creationId xmlns:a16="http://schemas.microsoft.com/office/drawing/2014/main" id="{BBEAADFF-A976-49C4-A0F3-C43DCA93D8E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2" name="Google Shape;52;p8">
            <a:extLst xmlns:a="http://schemas.openxmlformats.org/drawingml/2006/main">
              <a:ext uri="{FF2B5EF4-FFF2-40B4-BE49-F238E27FC236}">
                <a16:creationId xmlns:a16="http://schemas.microsoft.com/office/drawing/2014/main" id="{AEB28F95-A52B-4E44-9738-492630D072F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3" name="Google Shape;53;p8">
            <a:extLst xmlns:a="http://schemas.openxmlformats.org/drawingml/2006/main">
              <a:ext uri="{FF2B5EF4-FFF2-40B4-BE49-F238E27FC236}">
                <a16:creationId xmlns:a16="http://schemas.microsoft.com/office/drawing/2014/main" id="{B03F6BEC-4338-41B3-BDB2-F9E13532FB1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matchingName="Content with Caption" type="objTx">
  <p:cSld name="OBJECT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Google Shape;55;p9">
            <a:extLst xmlns:a="http://schemas.openxmlformats.org/drawingml/2006/main">
              <a:ext uri="{FF2B5EF4-FFF2-40B4-BE49-F238E27FC236}">
                <a16:creationId xmlns:a16="http://schemas.microsoft.com/office/drawing/2014/main" id="{199ADE47-4140-45C5-AACD-A42C864D26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6" name="Google Shape;56;p9">
            <a:extLst xmlns:a="http://schemas.openxmlformats.org/drawingml/2006/main">
              <a:ext uri="{FF2B5EF4-FFF2-40B4-BE49-F238E27FC236}">
                <a16:creationId xmlns:a16="http://schemas.microsoft.com/office/drawing/2014/main" id="{323FC5AC-D8AC-4B02-BFC6-E87AC0FF375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575050" y="273050"/>
            <a:ext cx="5111750" cy="58531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spcBef>
                <a:spcPts val="640"/>
              </a:spcBef>
              <a:spcAft>
                <a:spcPts val="0"/>
              </a:spcAft>
              <a:buChar char="•"/>
              <a:defRPr sz="3200"/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har char="–"/>
              <a:defRPr sz="2800"/>
            </a:lvl2pPr>
            <a:lvl3pPr marL="1371600" indent="-381000" algn="l">
              <a:spcBef>
                <a:spcPts val="480"/>
              </a:spcBef>
              <a:spcAft>
                <a:spcPts val="0"/>
              </a:spcAft>
              <a:buChar char="•"/>
              <a:defRPr sz="2400"/>
            </a:lvl3pPr>
            <a:lvl4pPr marL="1828800" indent="-355600" algn="l">
              <a:spcBef>
                <a:spcPts val="400"/>
              </a:spcBef>
              <a:spcAft>
                <a:spcPts val="0"/>
              </a:spcAft>
              <a:buChar char="–"/>
              <a:defRPr sz="2000"/>
            </a:lvl4pPr>
            <a:lvl5pPr marL="2286000" indent="-355600" algn="l">
              <a:spcBef>
                <a:spcPts val="400"/>
              </a:spcBef>
              <a:spcAft>
                <a:spcPts val="0"/>
              </a:spcAft>
              <a:buChar char="»"/>
              <a:defRPr sz="2000"/>
            </a:lvl5pPr>
            <a:lvl6pPr marL="2743200" indent="-355600" algn="l">
              <a:spcBef>
                <a:spcPts val="400"/>
              </a:spcBef>
              <a:spcAft>
                <a:spcPts val="0"/>
              </a:spcAft>
              <a:buChar char="•"/>
              <a:defRPr sz="2000"/>
            </a:lvl6pPr>
            <a:lvl7pPr marL="3200400" indent="-355600" algn="l">
              <a:spcBef>
                <a:spcPts val="400"/>
              </a:spcBef>
              <a:spcAft>
                <a:spcPts val="0"/>
              </a:spcAft>
              <a:buChar char="•"/>
              <a:defRPr sz="2000"/>
            </a:lvl7pPr>
            <a:lvl8pPr marL="3657600" indent="-355600" algn="l">
              <a:spcBef>
                <a:spcPts val="400"/>
              </a:spcBef>
              <a:spcAft>
                <a:spcPts val="0"/>
              </a:spcAft>
              <a:buChar char="•"/>
              <a:defRPr sz="2000"/>
            </a:lvl8pPr>
            <a:lvl9pPr marL="4114800" indent="-355600" algn="l">
              <a:spcBef>
                <a:spcPts val="400"/>
              </a:spcBef>
              <a:spcAft>
                <a:spcPts val="0"/>
              </a:spcAft>
              <a:buChar char="•"/>
              <a:defRPr sz="2000"/>
            </a:lvl9pPr>
          </a:lstStyle>
          <a:p xmlns:a="http://schemas.openxmlformats.org/drawingml/2006/main"/>
        </p:txBody>
      </p:sp>
      <p:sp>
        <p:nvSpPr>
          <p:cNvPr id="57" name="Google Shape;57;p9">
            <a:extLst xmlns:a="http://schemas.openxmlformats.org/drawingml/2006/main">
              <a:ext uri="{FF2B5EF4-FFF2-40B4-BE49-F238E27FC236}">
                <a16:creationId xmlns:a16="http://schemas.microsoft.com/office/drawing/2014/main" id="{320FF5E5-B730-4A47-960D-61669E3E7086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58" name="Google Shape;58;p9">
            <a:extLst xmlns:a="http://schemas.openxmlformats.org/drawingml/2006/main">
              <a:ext uri="{FF2B5EF4-FFF2-40B4-BE49-F238E27FC236}">
                <a16:creationId xmlns:a16="http://schemas.microsoft.com/office/drawing/2014/main" id="{677CAC88-BE4C-46DC-970F-71C761080B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59" name="Google Shape;59;p9">
            <a:extLst xmlns:a="http://schemas.openxmlformats.org/drawingml/2006/main">
              <a:ext uri="{FF2B5EF4-FFF2-40B4-BE49-F238E27FC236}">
                <a16:creationId xmlns:a16="http://schemas.microsoft.com/office/drawing/2014/main" id="{FD405C8E-3B3E-403B-9FF1-D7B89C2D80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0" name="Google Shape;60;p9">
            <a:extLst xmlns:a="http://schemas.openxmlformats.org/drawingml/2006/main">
              <a:ext uri="{FF2B5EF4-FFF2-40B4-BE49-F238E27FC236}">
                <a16:creationId xmlns:a16="http://schemas.microsoft.com/office/drawing/2014/main" id="{CB5FE7B2-9708-4034-A659-6676D93857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9.xml><?xml version="1.0" encoding="utf-8"?>
<p:sldLayout xmlns:p="http://schemas.openxmlformats.org/presentationml/2006/main" matchingName="Picture with Caption" type="picTx">
  <p:cSld name="PICTURE_WITH_CAPTION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2" name="Google Shape;62;p10">
            <a:extLst xmlns:a="http://schemas.openxmlformats.org/drawingml/2006/main">
              <a:ext uri="{FF2B5EF4-FFF2-40B4-BE49-F238E27FC236}">
                <a16:creationId xmlns:a16="http://schemas.microsoft.com/office/drawing/2014/main" id="{475D33FF-6A10-4F11-A2C9-549CCC3F115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b">
            <a:norm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2000" b="1"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3" name="Google Shape;63;p10">
            <a:extLst xmlns:a="http://schemas.openxmlformats.org/drawingml/2006/main">
              <a:ext uri="{FF2B5EF4-FFF2-40B4-BE49-F238E27FC236}">
                <a16:creationId xmlns:a16="http://schemas.microsoft.com/office/drawing/2014/main" id="{BA562BBC-6892-4F68-A7CE-AAE329FC43BA}"/>
              </a:ext>
            </a:extLst>
          </p:cNvPr>
          <p:cNvSpPr>
            <a:spLocks xmlns:a="http://schemas.openxmlformats.org/drawingml/2006/main" noGrp="1"/>
          </p:cNvSpPr>
          <p:nvPr>
            <p:ph type="pic" idx="2"/>
          </p:nvPr>
        </p:nvSpPr>
        <p:spPr>
          <a:xfrm xmlns:a="http://schemas.openxmlformats.org/drawingml/2006/main">
            <a:off x="1792288" y="612775"/>
            <a:ext cx="5486400" cy="411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</p:sp>
      <p:sp>
        <p:nvSpPr>
          <p:cNvPr id="64" name="Google Shape;64;p10">
            <a:extLst xmlns:a="http://schemas.openxmlformats.org/drawingml/2006/main">
              <a:ext uri="{FF2B5EF4-FFF2-40B4-BE49-F238E27FC236}">
                <a16:creationId xmlns:a16="http://schemas.microsoft.com/office/drawing/2014/main" id="{BB922360-7269-46C4-BD84-FB36265B07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792288" y="5367338"/>
            <a:ext cx="5486400" cy="8048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228600" algn="l">
              <a:spcBef>
                <a:spcPts val="280"/>
              </a:spcBef>
              <a:spcAft>
                <a:spcPts val="0"/>
              </a:spcAft>
              <a:buNone/>
              <a:defRPr sz="1400"/>
            </a:lvl1pPr>
            <a:lvl2pPr marL="914400" indent="-228600" algn="l">
              <a:spcBef>
                <a:spcPts val="240"/>
              </a:spcBef>
              <a:spcAft>
                <a:spcPts val="0"/>
              </a:spcAft>
              <a:buNone/>
              <a:defRPr sz="1200"/>
            </a:lvl2pPr>
            <a:lvl3pPr marL="1371600" indent="-228600" algn="l">
              <a:spcBef>
                <a:spcPts val="200"/>
              </a:spcBef>
              <a:spcAft>
                <a:spcPts val="0"/>
              </a:spcAft>
              <a:buNone/>
              <a:defRPr sz="1000"/>
            </a:lvl3pPr>
            <a:lvl4pPr marL="1828800" indent="-228600" algn="l">
              <a:spcBef>
                <a:spcPts val="180"/>
              </a:spcBef>
              <a:spcAft>
                <a:spcPts val="0"/>
              </a:spcAft>
              <a:buNone/>
              <a:defRPr sz="900"/>
            </a:lvl4pPr>
            <a:lvl5pPr marL="2286000" indent="-228600" algn="l">
              <a:spcBef>
                <a:spcPts val="180"/>
              </a:spcBef>
              <a:spcAft>
                <a:spcPts val="0"/>
              </a:spcAft>
              <a:buNone/>
              <a:defRPr sz="900"/>
            </a:lvl5pPr>
            <a:lvl6pPr marL="2743200" indent="-228600" algn="l">
              <a:spcBef>
                <a:spcPts val="180"/>
              </a:spcBef>
              <a:spcAft>
                <a:spcPts val="0"/>
              </a:spcAft>
              <a:buNone/>
              <a:defRPr sz="900"/>
            </a:lvl6pPr>
            <a:lvl7pPr marL="3200400" indent="-228600" algn="l">
              <a:spcBef>
                <a:spcPts val="180"/>
              </a:spcBef>
              <a:spcAft>
                <a:spcPts val="0"/>
              </a:spcAft>
              <a:buNone/>
              <a:defRPr sz="900"/>
            </a:lvl7pPr>
            <a:lvl8pPr marL="3657600" indent="-228600" algn="l">
              <a:spcBef>
                <a:spcPts val="180"/>
              </a:spcBef>
              <a:spcAft>
                <a:spcPts val="0"/>
              </a:spcAft>
              <a:buNone/>
              <a:defRPr sz="900"/>
            </a:lvl8pPr>
            <a:lvl9pPr marL="4114800" indent="-228600" algn="l">
              <a:spcBef>
                <a:spcPts val="180"/>
              </a:spcBef>
              <a:spcAft>
                <a:spcPts val="0"/>
              </a:spcAft>
              <a:buNone/>
              <a:defRPr sz="900"/>
            </a:lvl9pPr>
          </a:lstStyle>
          <a:p xmlns:a="http://schemas.openxmlformats.org/drawingml/2006/main"/>
        </p:txBody>
      </p:sp>
      <p:sp>
        <p:nvSpPr>
          <p:cNvPr id="65" name="Google Shape;65;p10">
            <a:extLst xmlns:a="http://schemas.openxmlformats.org/drawingml/2006/main">
              <a:ext uri="{FF2B5EF4-FFF2-40B4-BE49-F238E27FC236}">
                <a16:creationId xmlns:a16="http://schemas.microsoft.com/office/drawing/2014/main" id="{AF8A9EFE-7ECD-4775-8D51-7D8BF550F93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6" name="Google Shape;66;p10">
            <a:extLst xmlns:a="http://schemas.openxmlformats.org/drawingml/2006/main">
              <a:ext uri="{FF2B5EF4-FFF2-40B4-BE49-F238E27FC236}">
                <a16:creationId xmlns:a16="http://schemas.microsoft.com/office/drawing/2014/main" id="{9C3592BF-D32B-48F4-A609-95A1B016B27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67" name="Google Shape;67;p10">
            <a:extLst xmlns:a="http://schemas.openxmlformats.org/drawingml/2006/main">
              <a:ext uri="{FF2B5EF4-FFF2-40B4-BE49-F238E27FC236}">
                <a16:creationId xmlns:a16="http://schemas.microsoft.com/office/drawing/2014/main" id="{7031CCF3-C111-4ADE-BA8B-5CC720917FE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0.xml><?xml version="1.0" encoding="utf-8"?>
<p:sldLayout xmlns:p="http://schemas.openxmlformats.org/presentationml/2006/main" matchingName="Title and Vertical Text" type="vertTx">
  <p:cSld name="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Google Shape;69;p11">
            <a:extLst xmlns:a="http://schemas.openxmlformats.org/drawingml/2006/main">
              <a:ext uri="{FF2B5EF4-FFF2-40B4-BE49-F238E27FC236}">
                <a16:creationId xmlns:a16="http://schemas.microsoft.com/office/drawing/2014/main" id="{0D4DEAE0-6918-4453-8DD2-E1D48CE743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0" name="Google Shape;70;p11">
            <a:extLst xmlns:a="http://schemas.openxmlformats.org/drawingml/2006/main">
              <a:ext uri="{FF2B5EF4-FFF2-40B4-BE49-F238E27FC236}">
                <a16:creationId xmlns:a16="http://schemas.microsoft.com/office/drawing/2014/main" id="{85556398-54CC-4189-AA4B-8C33B9CEF9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2309019" y="-251618"/>
            <a:ext cx="4525963" cy="822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1" name="Google Shape;71;p11">
            <a:extLst xmlns:a="http://schemas.openxmlformats.org/drawingml/2006/main">
              <a:ext uri="{FF2B5EF4-FFF2-40B4-BE49-F238E27FC236}">
                <a16:creationId xmlns:a16="http://schemas.microsoft.com/office/drawing/2014/main" id="{EF3FFDAA-02F4-497D-BCDC-33FA45388B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2" name="Google Shape;72;p11">
            <a:extLst xmlns:a="http://schemas.openxmlformats.org/drawingml/2006/main">
              <a:ext uri="{FF2B5EF4-FFF2-40B4-BE49-F238E27FC236}">
                <a16:creationId xmlns:a16="http://schemas.microsoft.com/office/drawing/2014/main" id="{37D238F9-B8A3-4066-A963-414326EAE4D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3" name="Google Shape;73;p11">
            <a:extLst xmlns:a="http://schemas.openxmlformats.org/drawingml/2006/main">
              <a:ext uri="{FF2B5EF4-FFF2-40B4-BE49-F238E27FC236}">
                <a16:creationId xmlns:a16="http://schemas.microsoft.com/office/drawing/2014/main" id="{1260C85D-9511-4FF0-A742-950D6098C6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Layouts/slideLayout11.xml><?xml version="1.0" encoding="utf-8"?>
<p:sldLayout xmlns:p="http://schemas.openxmlformats.org/presentationml/2006/main" matchingName="Vertical Title and Text" type="vertTitleAndTx">
  <p:cSld name="VERTICAL_TITLE_AND_VERTICAL_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Google Shape;75;p12">
            <a:extLst xmlns:a="http://schemas.openxmlformats.org/drawingml/2006/main">
              <a:ext uri="{FF2B5EF4-FFF2-40B4-BE49-F238E27FC236}">
                <a16:creationId xmlns:a16="http://schemas.microsoft.com/office/drawing/2014/main" id="{C258A823-3673-4E11-8A0F-F15CC98133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 rot="5400000">
            <a:off x="4732338" y="2171701"/>
            <a:ext cx="5851525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6" name="Google Shape;76;p12">
            <a:extLst xmlns:a="http://schemas.openxmlformats.org/drawingml/2006/main">
              <a:ext uri="{FF2B5EF4-FFF2-40B4-BE49-F238E27FC236}">
                <a16:creationId xmlns:a16="http://schemas.microsoft.com/office/drawing/2014/main" id="{D245B4FF-0BC9-455D-8B5D-96C68EFD188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 rot="5400000">
            <a:off x="541338" y="190500"/>
            <a:ext cx="5851525" cy="601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1pPr>
            <a:lvl2pPr marL="914400" indent="-342900" algn="l">
              <a:spcBef>
                <a:spcPts val="360"/>
              </a:spcBef>
              <a:spcAft>
                <a:spcPts val="0"/>
              </a:spcAft>
              <a:buChar char="–"/>
              <a:defRPr/>
            </a:lvl2pPr>
            <a:lvl3pPr marL="13716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3pPr>
            <a:lvl4pPr marL="1828800" indent="-342900" algn="l">
              <a:spcBef>
                <a:spcPts val="360"/>
              </a:spcBef>
              <a:spcAft>
                <a:spcPts val="0"/>
              </a:spcAft>
              <a:buChar char="–"/>
              <a:defRPr/>
            </a:lvl4pPr>
            <a:lvl5pPr marL="2286000" indent="-342900" algn="l">
              <a:spcBef>
                <a:spcPts val="360"/>
              </a:spcBef>
              <a:spcAft>
                <a:spcPts val="0"/>
              </a:spcAft>
              <a:buChar char="»"/>
              <a:defRPr/>
            </a:lvl5pPr>
            <a:lvl6pPr marL="27432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6pPr>
            <a:lvl7pPr marL="32004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7pPr>
            <a:lvl8pPr marL="36576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8pPr>
            <a:lvl9pPr marL="4114800" indent="-342900" algn="l">
              <a:spcBef>
                <a:spcPts val="360"/>
              </a:spcBef>
              <a:spcAft>
                <a:spcPts val="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77" name="Google Shape;77;p12">
            <a:extLst xmlns:a="http://schemas.openxmlformats.org/drawingml/2006/main">
              <a:ext uri="{FF2B5EF4-FFF2-40B4-BE49-F238E27FC236}">
                <a16:creationId xmlns:a16="http://schemas.microsoft.com/office/drawing/2014/main" id="{B21FC48C-5B16-4FB4-A1EA-8EB1BCE523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8" name="Google Shape;78;p12">
            <a:extLst xmlns:a="http://schemas.openxmlformats.org/drawingml/2006/main">
              <a:ext uri="{FF2B5EF4-FFF2-40B4-BE49-F238E27FC236}">
                <a16:creationId xmlns:a16="http://schemas.microsoft.com/office/drawing/2014/main" id="{D0B87698-9646-411E-B8EA-23CDE8F0094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/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/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/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/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/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/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/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79" name="Google Shape;79;p12">
            <a:extLst xmlns:a="http://schemas.openxmlformats.org/drawingml/2006/main">
              <a:ext uri="{FF2B5EF4-FFF2-40B4-BE49-F238E27FC236}">
                <a16:creationId xmlns:a16="http://schemas.microsoft.com/office/drawing/2014/main" id="{87284EC4-6855-41A4-9319-DF52E7D93F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/>
            </a:lvl1pPr>
            <a:lvl2pPr marL="0" indent="0" algn="r">
              <a:spcBef>
                <a:spcPts val="0"/>
              </a:spcBef>
              <a:buNone/>
              <a:defRPr/>
            </a:lvl2pPr>
            <a:lvl3pPr marL="0" indent="0" algn="r">
              <a:spcBef>
                <a:spcPts val="0"/>
              </a:spcBef>
              <a:buNone/>
              <a:defRPr/>
            </a:lvl3pPr>
            <a:lvl4pPr marL="0" indent="0" algn="r">
              <a:spcBef>
                <a:spcPts val="0"/>
              </a:spcBef>
              <a:buNone/>
              <a:defRPr/>
            </a:lvl4pPr>
            <a:lvl5pPr marL="0" indent="0" algn="r">
              <a:spcBef>
                <a:spcPts val="0"/>
              </a:spcBef>
              <a:buNone/>
              <a:defRPr/>
            </a:lvl5pPr>
            <a:lvl6pPr marL="0" indent="0" algn="r">
              <a:spcBef>
                <a:spcPts val="0"/>
              </a:spcBef>
              <a:buNone/>
              <a:defRPr/>
            </a:lvl6pPr>
            <a:lvl7pPr marL="0" indent="0" algn="r">
              <a:spcBef>
                <a:spcPts val="0"/>
              </a:spcBef>
              <a:buNone/>
              <a:defRPr/>
            </a:lvl7pPr>
            <a:lvl8pPr marL="0" indent="0" algn="r">
              <a:spcBef>
                <a:spcPts val="0"/>
              </a:spcBef>
              <a:buNone/>
              <a:defRPr/>
            </a:lvl8pPr>
            <a:lvl9pPr marL="0" indent="0" algn="r">
              <a:spcBef>
                <a:spcPts val="0"/>
              </a:spcBef>
              <a:buNone/>
              <a:defRPr/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baf74373f6b4be9" /><Relationship Type="http://schemas.openxmlformats.org/officeDocument/2006/relationships/slideLayout" Target="/ppt/slideLayouts/slideLayout1.xml" Id="Rd2f90b6ded2e4b22" /><Relationship Type="http://schemas.openxmlformats.org/officeDocument/2006/relationships/slideLayout" Target="/ppt/slideLayouts/slideLayout2.xml" Id="Rb3f37b8692484017" /><Relationship Type="http://schemas.openxmlformats.org/officeDocument/2006/relationships/slideLayout" Target="/ppt/slideLayouts/slideLayout3.xml" Id="R52fd9d5063a34a29" /><Relationship Type="http://schemas.openxmlformats.org/officeDocument/2006/relationships/slideLayout" Target="/ppt/slideLayouts/slideLayout4.xml" Id="R0a11821f6cb246d5" /><Relationship Type="http://schemas.openxmlformats.org/officeDocument/2006/relationships/slideLayout" Target="/ppt/slideLayouts/slideLayout5.xml" Id="R0f9fd78fdc884123" /><Relationship Type="http://schemas.openxmlformats.org/officeDocument/2006/relationships/slideLayout" Target="/ppt/slideLayouts/slideLayout6.xml" Id="R23566fffba0d45ad" /><Relationship Type="http://schemas.openxmlformats.org/officeDocument/2006/relationships/slideLayout" Target="/ppt/slideLayouts/slideLayout7.xml" Id="R62b0d05171f946c1" /><Relationship Type="http://schemas.openxmlformats.org/officeDocument/2006/relationships/slideLayout" Target="/ppt/slideLayouts/slideLayout8.xml" Id="R92f2bbe2680f44dd" /><Relationship Type="http://schemas.openxmlformats.org/officeDocument/2006/relationships/slideLayout" Target="/ppt/slideLayouts/slideLayout9.xml" Id="Re7ae990916704cd7" /><Relationship Type="http://schemas.openxmlformats.org/officeDocument/2006/relationships/slideLayout" Target="/ppt/slideLayouts/slideLayout10.xml" Id="R8b0864679e8546b7" /><Relationship Type="http://schemas.openxmlformats.org/officeDocument/2006/relationships/slideLayout" Target="/ppt/slideLayouts/slideLayout11.xml" Id="R110c61c173604d8a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l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CD0A4A8F-C754-4522-B68A-CA6FF7D25A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rm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4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15C7D045-DF24-4EF5-B7B1-C140FD9CAD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t">
            <a:normAutofit/>
          </a:bodyPr>
          <a:lstStyle xmlns:a="http://schemas.openxmlformats.org/drawingml/2006/main">
            <a:lvl1pPr marL="457200" indent="-431800" algn="l">
              <a:spcBef>
                <a:spcPts val="640"/>
              </a:spcBef>
              <a:spcAft>
                <a:spcPts val="0"/>
              </a:spcAft>
              <a:buChar char="•"/>
              <a:defRPr sz="32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1pPr>
            <a:lvl2pPr marL="914400" indent="-406400" algn="l">
              <a:spcBef>
                <a:spcPts val="560"/>
              </a:spcBef>
              <a:spcAft>
                <a:spcPts val="0"/>
              </a:spcAft>
              <a:buChar char="–"/>
              <a:defRPr sz="2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marL="1371600" indent="-381000" algn="l">
              <a:spcBef>
                <a:spcPts val="480"/>
              </a:spcBef>
              <a:spcAft>
                <a:spcPts val="0"/>
              </a:spcAft>
              <a:buChar char="•"/>
              <a:defRPr sz="24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marL="1828800" indent="-355600" algn="l">
              <a:spcBef>
                <a:spcPts val="400"/>
              </a:spcBef>
              <a:spcAft>
                <a:spcPts val="0"/>
              </a:spcAft>
              <a:buChar char="–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marL="2286000" indent="-355600" algn="l">
              <a:spcBef>
                <a:spcPts val="400"/>
              </a:spcBef>
              <a:spcAft>
                <a:spcPts val="0"/>
              </a:spcAft>
              <a:buChar char="»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marL="2743200" indent="-355600" algn="l">
              <a:spcBef>
                <a:spcPts val="400"/>
              </a:spcBef>
              <a:spcAft>
                <a:spcPts val="0"/>
              </a:spcAft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marL="3200400" indent="-355600" algn="l">
              <a:spcBef>
                <a:spcPts val="400"/>
              </a:spcBef>
              <a:spcAft>
                <a:spcPts val="0"/>
              </a:spcAft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marL="3657600" indent="-355600" algn="l">
              <a:spcBef>
                <a:spcPts val="400"/>
              </a:spcBef>
              <a:spcAft>
                <a:spcPts val="0"/>
              </a:spcAft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marL="4114800" indent="-355600" algn="l">
              <a:spcBef>
                <a:spcPts val="400"/>
              </a:spcBef>
              <a:spcAft>
                <a:spcPts val="0"/>
              </a:spcAft>
              <a:buChar char="•"/>
              <a:defRPr sz="20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258F525A-0DB9-476B-9ADA-751CC9F6B8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9" name="Google Shape;9;p1">
            <a:extLst xmlns:a="http://schemas.openxmlformats.org/drawingml/2006/main">
              <a:ext uri="{FF2B5EF4-FFF2-40B4-BE49-F238E27FC236}">
                <a16:creationId xmlns:a16="http://schemas.microsoft.com/office/drawing/2014/main" id="{BCEA661E-792A-485A-A733-FE7C30836FB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2pPr>
            <a:lvl3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3pPr>
            <a:lvl4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4pPr>
            <a:lvl5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5pPr>
            <a:lvl6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6pPr>
            <a:lvl7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7pPr>
            <a:lvl8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8pPr>
            <a:lvl9pPr algn="l">
              <a:spcBef>
                <a:spcPts val="0"/>
              </a:spcBef>
              <a:spcAft>
                <a:spcPts val="0"/>
              </a:spcAft>
              <a:buNone/>
              <a:defRPr sz="1800" b="0" i="0" u="none" cap="none">
                <a:solidFill>
                  <a:schemeClr val="dk1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/>
        </p:txBody>
      </p:sp>
      <p:sp>
        <p:nvSpPr>
          <p:cNvPr id="10" name="Google Shape;10;p1">
            <a:extLst xmlns:a="http://schemas.openxmlformats.org/drawingml/2006/main">
              <a:ext uri="{FF2B5EF4-FFF2-40B4-BE49-F238E27FC236}">
                <a16:creationId xmlns:a16="http://schemas.microsoft.com/office/drawing/2014/main" id="{CAF78FF9-0923-43F9-8A21-DA440FF2F93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1pPr>
            <a:lvl2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2pPr>
            <a:lvl3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3pPr>
            <a:lvl4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4pPr>
            <a:lvl5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5pPr>
            <a:lvl6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6pPr>
            <a:lvl7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7pPr>
            <a:lvl8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8pPr>
            <a:lvl9pPr marL="0" indent="0" algn="r">
              <a:spcBef>
                <a:spcPts val="0"/>
              </a:spcBef>
              <a:buNone/>
              <a:defRPr sz="1200" b="0" i="0" u="none" cap="none">
                <a:solidFill>
                  <a:srgbClr val="888888"/>
                </a:solidFill>
                <a:latin typeface="Calibri"/>
                <a:ea typeface="Calibri"/>
                <a:cs typeface="Calibri"/>
              </a:defRPr>
            </a:lvl9pPr>
          </a:lstStyle>
          <a:p xmlns:a="http://schemas.openxmlformats.org/drawingml/2006/main"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f90b6ded2e4b22"/>
    <p:sldLayoutId xmlns:r="http://schemas.openxmlformats.org/officeDocument/2006/relationships" id="2147483650" r:id="Rb3f37b8692484017"/>
    <p:sldLayoutId xmlns:r="http://schemas.openxmlformats.org/officeDocument/2006/relationships" id="2147483651" r:id="R52fd9d5063a34a29"/>
    <p:sldLayoutId xmlns:r="http://schemas.openxmlformats.org/officeDocument/2006/relationships" id="2147483652" r:id="R0a11821f6cb246d5"/>
    <p:sldLayoutId xmlns:r="http://schemas.openxmlformats.org/officeDocument/2006/relationships" id="2147483653" r:id="R0f9fd78fdc884123"/>
    <p:sldLayoutId xmlns:r="http://schemas.openxmlformats.org/officeDocument/2006/relationships" id="2147483654" r:id="R23566fffba0d45ad"/>
    <p:sldLayoutId xmlns:r="http://schemas.openxmlformats.org/officeDocument/2006/relationships" id="2147483655" r:id="R62b0d05171f946c1"/>
    <p:sldLayoutId xmlns:r="http://schemas.openxmlformats.org/officeDocument/2006/relationships" id="2147483656" r:id="R92f2bbe2680f44dd"/>
    <p:sldLayoutId xmlns:r="http://schemas.openxmlformats.org/officeDocument/2006/relationships" id="2147483657" r:id="Re7ae990916704cd7"/>
    <p:sldLayoutId xmlns:r="http://schemas.openxmlformats.org/officeDocument/2006/relationships" id="2147483658" r:id="R8b0864679e8546b7"/>
    <p:sldLayoutId xmlns:r="http://schemas.openxmlformats.org/officeDocument/2006/relationships" id="2147483659" r:id="R110c61c173604d8a"/>
  </p:sldLayoutIdLst>
  <p:hf sldNum="0" hdr="0" ftr="0" dt="0"/>
  <p:txStyles>
    <p:title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algn="l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cap="none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fef3a9d0e2457b" /><Relationship Type="http://schemas.openxmlformats.org/officeDocument/2006/relationships/image" Target="/ppt/media/image.png" Id="Rc041a9bedc294420" /><Relationship Type="http://schemas.openxmlformats.org/officeDocument/2006/relationships/image" Target="/ppt/media/image2.png" Id="Ra8292540bd404dfe" /><Relationship Type="http://schemas.openxmlformats.org/officeDocument/2006/relationships/image" Target="/ppt/media/image3.png" Id="Rf1656b3fa9544838" /><Relationship Type="http://schemas.openxmlformats.org/officeDocument/2006/relationships/image" Target="/ppt/media/image4.png" Id="R2f28cc405c364231" /><Relationship Type="http://schemas.openxmlformats.org/officeDocument/2006/relationships/notesSlide" Target="/ppt/notesSlides/notesSlide1.xml" Id="R7b29c23fc0d741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9477ed17f24466" /><Relationship Type="http://schemas.openxmlformats.org/officeDocument/2006/relationships/image" Target="/ppt/media/image5.png" Id="R9544264c78184181" /><Relationship Type="http://schemas.openxmlformats.org/officeDocument/2006/relationships/image" Target="/ppt/media/image6.png" Id="R92668694c080488a" /><Relationship Type="http://schemas.openxmlformats.org/officeDocument/2006/relationships/image" Target="/ppt/media/image7.png" Id="R85c79715ddc44167" /><Relationship Type="http://schemas.openxmlformats.org/officeDocument/2006/relationships/image" Target="/ppt/media/image8.png" Id="R1131da422e53491a" /><Relationship Type="http://schemas.openxmlformats.org/officeDocument/2006/relationships/image" Target="/ppt/media/image9.png" Id="Reb9582b404e946db" /><Relationship Type="http://schemas.openxmlformats.org/officeDocument/2006/relationships/image" Target="/ppt/media/image10.png" Id="R188f153143324211" /><Relationship Type="http://schemas.openxmlformats.org/officeDocument/2006/relationships/image" Target="/ppt/media/image11.png" Id="Reea69dd667a44aed" /><Relationship Type="http://schemas.openxmlformats.org/officeDocument/2006/relationships/image" Target="/ppt/media/image12.png" Id="Re26b225c207744aa" /><Relationship Type="http://schemas.openxmlformats.org/officeDocument/2006/relationships/image" Target="/ppt/media/image13.png" Id="R16d75cf2446d4d6c" /><Relationship Type="http://schemas.openxmlformats.org/officeDocument/2006/relationships/image" Target="/ppt/media/image14.png" Id="R2a0b02bb7e4f46ea" /><Relationship Type="http://schemas.openxmlformats.org/officeDocument/2006/relationships/notesSlide" Target="/ppt/notesSlides/notesSlide2.xml" Id="Rbd757a2599074f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0888c111234681" /><Relationship Type="http://schemas.openxmlformats.org/officeDocument/2006/relationships/image" Target="/ppt/media/image15.png" Id="R9b79b7fa0f6d4e99" /><Relationship Type="http://schemas.openxmlformats.org/officeDocument/2006/relationships/image" Target="/ppt/media/image16.png" Id="R850360929cd046ce" /><Relationship Type="http://schemas.openxmlformats.org/officeDocument/2006/relationships/image" Target="/ppt/media/image8.png" Id="Rad560097f5c24c63" /><Relationship Type="http://schemas.openxmlformats.org/officeDocument/2006/relationships/image" Target="/ppt/media/image17.png" Id="R23d8c81daeea40e1" /><Relationship Type="http://schemas.openxmlformats.org/officeDocument/2006/relationships/image" Target="/ppt/media/image18.png" Id="Ra5b6f6f13d0d4f2e" /><Relationship Type="http://schemas.openxmlformats.org/officeDocument/2006/relationships/image" Target="/ppt/media/image19.png" Id="R992c4f09376a458f" /><Relationship Type="http://schemas.openxmlformats.org/officeDocument/2006/relationships/image" Target="/ppt/media/image20.png" Id="R1a0bf701de0a4d15" /><Relationship Type="http://schemas.openxmlformats.org/officeDocument/2006/relationships/notesSlide" Target="/ppt/notesSlides/notesSlide3.xml" Id="R7f4f218922b34f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0b7d12fd854984" /><Relationship Type="http://schemas.openxmlformats.org/officeDocument/2006/relationships/image" Target="/ppt/media/image15.png" Id="R758c47584e9649e9" /><Relationship Type="http://schemas.openxmlformats.org/officeDocument/2006/relationships/image" Target="/ppt/media/image21.png" Id="R8b93e8fbd04a4475" /><Relationship Type="http://schemas.openxmlformats.org/officeDocument/2006/relationships/image" Target="/ppt/media/image22.png" Id="R4d6c6ce5d5d34c72" /><Relationship Type="http://schemas.openxmlformats.org/officeDocument/2006/relationships/image" Target="/ppt/media/image23.png" Id="R9dfab301005e44e0" /><Relationship Type="http://schemas.openxmlformats.org/officeDocument/2006/relationships/image" Target="/ppt/media/image24.png" Id="Rf8f0161652c14e24" /><Relationship Type="http://schemas.openxmlformats.org/officeDocument/2006/relationships/image" Target="/ppt/media/image25.png" Id="Rd5a77230b7614a11" /><Relationship Type="http://schemas.openxmlformats.org/officeDocument/2006/relationships/image" Target="/ppt/media/image26.png" Id="Rbec776d057844f59" /><Relationship Type="http://schemas.openxmlformats.org/officeDocument/2006/relationships/image" Target="/ppt/media/image8.png" Id="R1ad8b50211234bf8" /><Relationship Type="http://schemas.openxmlformats.org/officeDocument/2006/relationships/image" Target="/ppt/media/image27.png" Id="R703801124d1543e3" /><Relationship Type="http://schemas.openxmlformats.org/officeDocument/2006/relationships/image" Target="/ppt/media/image28.png" Id="R4f51e1aed55b4c7e" /><Relationship Type="http://schemas.openxmlformats.org/officeDocument/2006/relationships/image" Target="/ppt/media/image29.png" Id="Rda068eafa84b4de5" /><Relationship Type="http://schemas.openxmlformats.org/officeDocument/2006/relationships/image" Target="/ppt/media/image30.png" Id="R2aacf56e9e9b4d56" /><Relationship Type="http://schemas.openxmlformats.org/officeDocument/2006/relationships/image" Target="/ppt/media/image31.png" Id="R567db793d65e4689" /><Relationship Type="http://schemas.openxmlformats.org/officeDocument/2006/relationships/image" Target="/ppt/media/image32.png" Id="Radd4bf2faa074b7e" /><Relationship Type="http://schemas.openxmlformats.org/officeDocument/2006/relationships/image" Target="/ppt/media/image33.png" Id="R4746079fc12744a3" /><Relationship Type="http://schemas.openxmlformats.org/officeDocument/2006/relationships/image" Target="/ppt/media/image34.png" Id="Rd91e72ca54134bf8" /><Relationship Type="http://schemas.openxmlformats.org/officeDocument/2006/relationships/image" Target="/ppt/media/image35.png" Id="R26a1994e9b0c45fe" /><Relationship Type="http://schemas.openxmlformats.org/officeDocument/2006/relationships/image" Target="/ppt/media/image36.png" Id="R8e6f7c163fcc49b1" /><Relationship Type="http://schemas.openxmlformats.org/officeDocument/2006/relationships/image" Target="/ppt/media/image37.png" Id="R4a55b1c8525b49d1" /><Relationship Type="http://schemas.openxmlformats.org/officeDocument/2006/relationships/image" Target="/ppt/media/image38.png" Id="R35abddd5414642f8" /><Relationship Type="http://schemas.openxmlformats.org/officeDocument/2006/relationships/image" Target="/ppt/media/image39.png" Id="R1835b8bc93914e83" /><Relationship Type="http://schemas.openxmlformats.org/officeDocument/2006/relationships/notesSlide" Target="/ppt/notesSlides/notesSlide4.xml" Id="R2e911c1e72554f1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269b6978634e3e" /><Relationship Type="http://schemas.openxmlformats.org/officeDocument/2006/relationships/image" Target="/ppt/media/image40.png" Id="R456bab34f7454725" /><Relationship Type="http://schemas.openxmlformats.org/officeDocument/2006/relationships/image" Target="/ppt/media/image41.png" Id="Rb345bf4a4ddd49db" /><Relationship Type="http://schemas.openxmlformats.org/officeDocument/2006/relationships/image" Target="/ppt/media/image42.png" Id="Rb405c8b656114041" /><Relationship Type="http://schemas.openxmlformats.org/officeDocument/2006/relationships/image" Target="/ppt/media/image43.png" Id="Rf689c5bf2ad34d4c" /><Relationship Type="http://schemas.openxmlformats.org/officeDocument/2006/relationships/image" Target="/ppt/media/image8.png" Id="R96b537ef9a1f4147" /><Relationship Type="http://schemas.openxmlformats.org/officeDocument/2006/relationships/image" Target="/ppt/media/image44.png" Id="Rec7cfd3967754bce" /><Relationship Type="http://schemas.openxmlformats.org/officeDocument/2006/relationships/image" Target="/ppt/media/image45.png" Id="R01a1cb6f45624bbe" /><Relationship Type="http://schemas.openxmlformats.org/officeDocument/2006/relationships/image" Target="/ppt/media/image46.png" Id="R7798f2b57d934d5f" /><Relationship Type="http://schemas.openxmlformats.org/officeDocument/2006/relationships/image" Target="/ppt/media/image47.png" Id="R4d114bea630945f8" /><Relationship Type="http://schemas.openxmlformats.org/officeDocument/2006/relationships/image" Target="/ppt/media/image48.png" Id="R8fb3c3e74a424d65" /><Relationship Type="http://schemas.openxmlformats.org/officeDocument/2006/relationships/notesSlide" Target="/ppt/notesSlides/notesSlide5.xml" Id="R09100acbff0d42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a38b49049d45ef" /><Relationship Type="http://schemas.openxmlformats.org/officeDocument/2006/relationships/image" Target="/ppt/media/image49.png" Id="R003e2dad07bb4ad8" /><Relationship Type="http://schemas.openxmlformats.org/officeDocument/2006/relationships/image" Target="/ppt/media/image50.png" Id="R1c934c3d205a4290" /><Relationship Type="http://schemas.openxmlformats.org/officeDocument/2006/relationships/image" Target="/ppt/media/image51.png" Id="Re3c206f0e003404f" /><Relationship Type="http://schemas.openxmlformats.org/officeDocument/2006/relationships/image" Target="/ppt/media/image52.png" Id="R70c31b9a10334bda" /><Relationship Type="http://schemas.openxmlformats.org/officeDocument/2006/relationships/image" Target="/ppt/media/image8.png" Id="Raf762cb4f57e4cd7" /><Relationship Type="http://schemas.openxmlformats.org/officeDocument/2006/relationships/image" Target="/ppt/media/image53.png" Id="R031ec8ff6b364209" /><Relationship Type="http://schemas.openxmlformats.org/officeDocument/2006/relationships/image" Target="/ppt/media/image54.png" Id="R211e7fb872d34aa0" /><Relationship Type="http://schemas.openxmlformats.org/officeDocument/2006/relationships/image" Target="/ppt/media/image55.png" Id="R67e8f34ef8dd484f" /><Relationship Type="http://schemas.openxmlformats.org/officeDocument/2006/relationships/notesSlide" Target="/ppt/notesSlides/notesSlide6.xml" Id="Rd48b753a60cc443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4f5ecc57c24c55" /><Relationship Type="http://schemas.openxmlformats.org/officeDocument/2006/relationships/image" Target="/ppt/media/image56.png" Id="Rc8186ee1cd304fd0" /><Relationship Type="http://schemas.openxmlformats.org/officeDocument/2006/relationships/image" Target="/ppt/media/image57.png" Id="Rdbb340c6e36b4dd7" /><Relationship Type="http://schemas.openxmlformats.org/officeDocument/2006/relationships/image" Target="/ppt/media/image58.png" Id="R4ddf4c5d1615463c" /><Relationship Type="http://schemas.openxmlformats.org/officeDocument/2006/relationships/image" Target="/ppt/media/image59.png" Id="Ref328b27fcba4529" /><Relationship Type="http://schemas.openxmlformats.org/officeDocument/2006/relationships/image" Target="/ppt/media/image60.png" Id="Rdd9d08ebf9604236" /><Relationship Type="http://schemas.openxmlformats.org/officeDocument/2006/relationships/image" Target="/ppt/media/image61.png" Id="R41ffc2ddaef64b0b" /><Relationship Type="http://schemas.openxmlformats.org/officeDocument/2006/relationships/image" Target="/ppt/media/image62.png" Id="Reb64e79955da4705" /><Relationship Type="http://schemas.openxmlformats.org/officeDocument/2006/relationships/image" Target="/ppt/media/image63.png" Id="R7fcb16a35b084f34" /><Relationship Type="http://schemas.openxmlformats.org/officeDocument/2006/relationships/image" Target="/ppt/media/image64.png" Id="Rdb11f0bf930b42e6" /><Relationship Type="http://schemas.openxmlformats.org/officeDocument/2006/relationships/image" Target="/ppt/media/image65.png" Id="Rea25f5f3c4104260" /><Relationship Type="http://schemas.openxmlformats.org/officeDocument/2006/relationships/image" Target="/ppt/media/image66.png" Id="Rd0d48ea752cd49ae" /><Relationship Type="http://schemas.openxmlformats.org/officeDocument/2006/relationships/image" Target="/ppt/media/image67.png" Id="R4ec6f43e43b543fb" /><Relationship Type="http://schemas.openxmlformats.org/officeDocument/2006/relationships/image" Target="/ppt/media/image8.png" Id="R1652c0d129eb486e" /><Relationship Type="http://schemas.openxmlformats.org/officeDocument/2006/relationships/image" Target="/ppt/media/image68.png" Id="R3b8b6651d64b41d0" /><Relationship Type="http://schemas.openxmlformats.org/officeDocument/2006/relationships/image" Target="/ppt/media/image69.png" Id="R4102b56e42c34612" /><Relationship Type="http://schemas.openxmlformats.org/officeDocument/2006/relationships/notesSlide" Target="/ppt/notesSlides/notesSlide7.xml" Id="Rbc6039ec88ca467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fd9812c3f5476c" /><Relationship Type="http://schemas.openxmlformats.org/officeDocument/2006/relationships/image" Target="/ppt/media/image70.png" Id="Rec89a75e057541be" /><Relationship Type="http://schemas.openxmlformats.org/officeDocument/2006/relationships/image" Target="/ppt/media/image71.png" Id="R696085e743ab4d8c" /><Relationship Type="http://schemas.openxmlformats.org/officeDocument/2006/relationships/image" Target="/ppt/media/image72.png" Id="R1d024920d4fc49e6" /><Relationship Type="http://schemas.openxmlformats.org/officeDocument/2006/relationships/image" Target="/ppt/media/image8.png" Id="Rfa00dcb0c6054e87" /><Relationship Type="http://schemas.openxmlformats.org/officeDocument/2006/relationships/image" Target="/ppt/media/image73.png" Id="R711ae07b7b164658" /><Relationship Type="http://schemas.openxmlformats.org/officeDocument/2006/relationships/image" Target="/ppt/media/image74.png" Id="R466e15fcc55d4879" /><Relationship Type="http://schemas.openxmlformats.org/officeDocument/2006/relationships/image" Target="/ppt/media/image75.png" Id="R7ff7a25e5b8c4200" /><Relationship Type="http://schemas.openxmlformats.org/officeDocument/2006/relationships/image" Target="/ppt/media/image76.png" Id="R9c32fddff6404461" /><Relationship Type="http://schemas.openxmlformats.org/officeDocument/2006/relationships/image" Target="/ppt/media/image77.png" Id="Rec31d3ddeabd48ec" /><Relationship Type="http://schemas.openxmlformats.org/officeDocument/2006/relationships/image" Target="/ppt/media/image78.png" Id="R91fa34432a614eef" /><Relationship Type="http://schemas.openxmlformats.org/officeDocument/2006/relationships/image" Target="/ppt/media/image79.png" Id="R79fe707bef8949e1" /><Relationship Type="http://schemas.openxmlformats.org/officeDocument/2006/relationships/image" Target="/ppt/media/image80.png" Id="Rae6a04ebb8654234" /><Relationship Type="http://schemas.openxmlformats.org/officeDocument/2006/relationships/notesSlide" Target="/ppt/notesSlides/notesSlide8.xml" Id="Rf2a370997056449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50b95442bc4b4f" /><Relationship Type="http://schemas.openxmlformats.org/officeDocument/2006/relationships/image" Target="/ppt/media/image70.png" Id="R265d52f0da544215" /><Relationship Type="http://schemas.openxmlformats.org/officeDocument/2006/relationships/image" Target="/ppt/media/image81.png" Id="R796ef281cf6f4574" /><Relationship Type="http://schemas.openxmlformats.org/officeDocument/2006/relationships/image" Target="/ppt/media/image8.png" Id="R3e06d8c38a3242b2" /><Relationship Type="http://schemas.openxmlformats.org/officeDocument/2006/relationships/image" Target="/ppt/media/image82.png" Id="Re9f7225731a74767" /><Relationship Type="http://schemas.openxmlformats.org/officeDocument/2006/relationships/notesSlide" Target="/ppt/notesSlides/notesSlide9.xml" Id="R8ccc324fb47b478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2a4f3abc4646ff" /><Relationship Type="http://schemas.openxmlformats.org/officeDocument/2006/relationships/image" Target="/ppt/media/image70.png" Id="Rf404d02a178d469d" /><Relationship Type="http://schemas.openxmlformats.org/officeDocument/2006/relationships/image" Target="/ppt/media/image83.png" Id="R8f087d703bde472b" /><Relationship Type="http://schemas.openxmlformats.org/officeDocument/2006/relationships/image" Target="/ppt/media/image84.png" Id="Rf2de1c65d5cc4d2c" /><Relationship Type="http://schemas.openxmlformats.org/officeDocument/2006/relationships/image" Target="/ppt/media/image85.png" Id="R36956fb3a9de46c3" /><Relationship Type="http://schemas.openxmlformats.org/officeDocument/2006/relationships/image" Target="/ppt/media/image86.png" Id="R24e87740f2c44e33" /><Relationship Type="http://schemas.openxmlformats.org/officeDocument/2006/relationships/image" Target="/ppt/media/image87.png" Id="Rb47af21ba7c148e3" /><Relationship Type="http://schemas.openxmlformats.org/officeDocument/2006/relationships/image" Target="/ppt/media/image88.png" Id="R79995c7d30c245ed" /><Relationship Type="http://schemas.openxmlformats.org/officeDocument/2006/relationships/image" Target="/ppt/media/image8.png" Id="R6634f3bfb82c42ac" /><Relationship Type="http://schemas.openxmlformats.org/officeDocument/2006/relationships/image" Target="/ppt/media/image89.png" Id="R68aa9c6baa6745f1" /><Relationship Type="http://schemas.openxmlformats.org/officeDocument/2006/relationships/image" Target="/ppt/media/image90.png" Id="Rb9e808e761fc4076" /><Relationship Type="http://schemas.openxmlformats.org/officeDocument/2006/relationships/notesSlide" Target="/ppt/notesSlides/notesSlide10.xml" Id="Rcce90fae39014c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30426cc1e54215" /><Relationship Type="http://schemas.openxmlformats.org/officeDocument/2006/relationships/image" Target="/ppt/media/image70.png" Id="Rf1f7761a5499497b" /><Relationship Type="http://schemas.openxmlformats.org/officeDocument/2006/relationships/image" Target="/ppt/media/image91.png" Id="R5e9b93028c32426d" /><Relationship Type="http://schemas.openxmlformats.org/officeDocument/2006/relationships/image" Target="/ppt/media/image92.png" Id="R72feeabb8ef24f9d" /><Relationship Type="http://schemas.openxmlformats.org/officeDocument/2006/relationships/image" Target="/ppt/media/image8.png" Id="Rf5b65296da6143aa" /><Relationship Type="http://schemas.openxmlformats.org/officeDocument/2006/relationships/notesSlide" Target="/ppt/notesSlides/notesSlide11.xml" Id="Ra5add3534ded461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8" name="Google Shape;84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041a9bedc29442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99" name="Google Shape;85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8292540bd404df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1025" y="4991100"/>
            <a:ext cx="11029950" cy="1047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6" name="Google Shape;86;p13">
            <a:extLst xmlns:a="http://schemas.openxmlformats.org/drawingml/2006/main">
              <a:ext uri="{FF2B5EF4-FFF2-40B4-BE49-F238E27FC236}">
                <a16:creationId xmlns:a16="http://schemas.microsoft.com/office/drawing/2014/main" id="{6B132FF8-24FC-40A5-8E8B-BF0FC6C5F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47650"/>
            <a:ext cx="3257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9CA3AF"/>
                </a:solidFill>
                <a:latin typeface="Fira Code"/>
                <a:ea typeface="Fira Code"/>
                <a:cs typeface="Fira Code"/>
              </a:rPr>
              <a:t>TALENTFLOW AI | MID-TERM REVIEW</a:t>
            </a:r>
          </a:p>
        </p:txBody>
      </p:sp>
      <p:pic>
        <p:nvPicPr>
          <p:cNvPr id="101" name="Google Shape;87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1656b3fa954483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1025" y="962025"/>
            <a:ext cx="2771775" cy="2857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8" name="Google Shape;88;p13">
            <a:extLst xmlns:a="http://schemas.openxmlformats.org/drawingml/2006/main">
              <a:ext uri="{FF2B5EF4-FFF2-40B4-BE49-F238E27FC236}">
                <a16:creationId xmlns:a16="http://schemas.microsoft.com/office/drawing/2014/main" id="{A4D4227C-DFCA-4E55-A45C-E8CDD3A66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1438275"/>
            <a:ext cx="11001375" cy="16430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24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3450" b="0" i="0" u="none" cap="none">
                <a:solidFill>
                  <a:srgbClr val="FFFFFF"/>
                </a:solidFill>
                <a:latin typeface="Plus Jakarta Sans ExtraBold"/>
                <a:ea typeface="Plus Jakarta Sans ExtraBold"/>
                <a:cs typeface="Plus Jakarta Sans ExtraBold"/>
              </a:rPr>
              <a:t>TalentFlow AI: Mid-Term Project Review</a:t>
            </a:r>
          </a:p>
        </p:txBody>
      </p:sp>
      <p:sp>
        <p:nvSpPr>
          <p:cNvPr id="89" name="Google Shape;89;p13">
            <a:extLst xmlns:a="http://schemas.openxmlformats.org/drawingml/2006/main">
              <a:ext uri="{FF2B5EF4-FFF2-40B4-BE49-F238E27FC236}">
                <a16:creationId xmlns:a16="http://schemas.microsoft.com/office/drawing/2014/main" id="{02A9C1FA-27BC-4437-8B54-64CDDFEFC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429012"/>
            <a:ext cx="90489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9CA3AF"/>
                </a:solidFill>
                <a:latin typeface="Inter"/>
                <a:ea typeface="Inter"/>
                <a:cs typeface="Inter"/>
              </a:rPr>
              <a:t>Recruitment intelligence platform combining Streamlit portals, PostgreSQL OLTP, Azure lakehouse ETL, Gold KPIs, and predictive AI foundations.</a:t>
            </a:r>
          </a:p>
        </p:txBody>
      </p:sp>
      <p:sp>
        <p:nvSpPr>
          <p:cNvPr id="90" name="Google Shape;90;p13">
            <a:extLst xmlns:a="http://schemas.openxmlformats.org/drawingml/2006/main">
              <a:ext uri="{FF2B5EF4-FFF2-40B4-BE49-F238E27FC236}">
                <a16:creationId xmlns:a16="http://schemas.microsoft.com/office/drawing/2014/main" id="{96F777CC-2909-427D-9FF6-7D404541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334000"/>
            <a:ext cx="2578800" cy="92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6B7280"/>
                </a:solidFill>
                <a:latin typeface="Inter"/>
                <a:ea typeface="Inter"/>
                <a:cs typeface="Inter"/>
              </a:rPr>
              <a:t>STUDENT NAME: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F3F4F6"/>
                </a:solidFill>
                <a:latin typeface="Inter"/>
                <a:ea typeface="Inter"/>
                <a:cs typeface="Inter"/>
              </a:rPr>
              <a:t>Malikulashtar K Malampatiwalla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6B7280"/>
                </a:solidFill>
                <a:latin typeface="Inter"/>
                <a:ea typeface="Inter"/>
                <a:cs typeface="Inter"/>
              </a:rPr>
              <a:t>BITS ID: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E5E7EB"/>
                </a:solidFill>
                <a:latin typeface="Inter"/>
                <a:ea typeface="Inter"/>
                <a:cs typeface="Inter"/>
              </a:rPr>
              <a:t>2024DA04133</a:t>
            </a:r>
          </a:p>
        </p:txBody>
      </p:sp>
      <p:sp>
        <p:nvSpPr>
          <p:cNvPr id="91" name="Google Shape;91;p13">
            <a:extLst xmlns:a="http://schemas.openxmlformats.org/drawingml/2006/main">
              <a:ext uri="{FF2B5EF4-FFF2-40B4-BE49-F238E27FC236}">
                <a16:creationId xmlns:a16="http://schemas.microsoft.com/office/drawing/2014/main" id="{9D05DC31-B382-441B-A90E-131F1E39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8043" y="5334000"/>
            <a:ext cx="2578800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6B7280"/>
                </a:solidFill>
                <a:latin typeface="Inter"/>
                <a:ea typeface="Inter"/>
                <a:cs typeface="Inter"/>
              </a:rPr>
              <a:t>Academic Program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E5E7EB"/>
                </a:solidFill>
                <a:latin typeface="Inter SemiBold"/>
                <a:ea typeface="Inter SemiBold"/>
                <a:cs typeface="Inter SemiBold"/>
              </a:rPr>
              <a:t>M.Tech in Data Science &amp; Data Engineering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E5E7EB"/>
                </a:solidFill>
                <a:latin typeface="Inter SemiBold"/>
                <a:ea typeface="Inter SemiBold"/>
                <a:cs typeface="Inter SemiBold"/>
              </a:rPr>
              <a:t>BITS Pilani</a:t>
            </a:r>
          </a:p>
        </p:txBody>
      </p:sp>
      <p:sp>
        <p:nvSpPr>
          <p:cNvPr id="92" name="Google Shape;92;p13">
            <a:extLst xmlns:a="http://schemas.openxmlformats.org/drawingml/2006/main">
              <a:ext uri="{FF2B5EF4-FFF2-40B4-BE49-F238E27FC236}">
                <a16:creationId xmlns:a16="http://schemas.microsoft.com/office/drawing/2014/main" id="{FC05F76E-B086-4550-9FB9-7BD49E9F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5062" y="5334000"/>
            <a:ext cx="2578800" cy="55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6B7280"/>
                </a:solidFill>
                <a:latin typeface="Inter"/>
                <a:ea typeface="Inter"/>
                <a:cs typeface="Inter"/>
              </a:rPr>
              <a:t>Project Stage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F3F4F6"/>
                </a:solidFill>
                <a:latin typeface="Inter"/>
                <a:ea typeface="Inter"/>
                <a:cs typeface="Inter"/>
              </a:rPr>
              <a:t>Mid-Term Evaluation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F3F4F6"/>
                </a:solidFill>
                <a:latin typeface="Inter"/>
                <a:ea typeface="Inter"/>
                <a:cs typeface="Inter"/>
              </a:rPr>
              <a:t>FrontEnd + ETL Proof of Concept</a:t>
            </a:r>
          </a:p>
        </p:txBody>
      </p:sp>
      <p:sp>
        <p:nvSpPr>
          <p:cNvPr id="93" name="Google Shape;93;p13">
            <a:extLst xmlns:a="http://schemas.openxmlformats.org/drawingml/2006/main">
              <a:ext uri="{FF2B5EF4-FFF2-40B4-BE49-F238E27FC236}">
                <a16:creationId xmlns:a16="http://schemas.microsoft.com/office/drawing/2014/main" id="{09ABEE99-F57D-49EE-96E5-FB220B36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2081" y="5334000"/>
            <a:ext cx="257880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6B7280"/>
                </a:solidFill>
                <a:latin typeface="Inter"/>
                <a:ea typeface="Inter"/>
                <a:cs typeface="Inter"/>
              </a:rPr>
              <a:t>Host Organization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E5E7EB"/>
                </a:solidFill>
                <a:latin typeface="Inter SemiBold"/>
                <a:ea typeface="Inter SemiBold"/>
                <a:cs typeface="Inter SemiBold"/>
              </a:rPr>
              <a:t>Altimetrik Pvt Ltd</a:t>
            </a:r>
          </a:p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E5E7EB"/>
                </a:solidFill>
                <a:latin typeface="Inter SemiBold"/>
                <a:ea typeface="Inter SemiBold"/>
                <a:cs typeface="Inter SemiBold"/>
              </a:rPr>
              <a:t>Bangalore, India</a:t>
            </a:r>
          </a:p>
        </p:txBody>
      </p:sp>
      <p:pic>
        <p:nvPicPr>
          <p:cNvPr id="108" name="Google Shape;94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f28cc405c36423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3900" y="1047750"/>
            <a:ext cx="123825" cy="114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08368918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8" name="Google Shape;99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544264c7818418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29" name="Google Shape;100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2668694c080488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1025" y="2164109"/>
            <a:ext cx="3524250" cy="2562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0" name="Google Shape;101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5c79715ddc4416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333875" y="2164109"/>
            <a:ext cx="3524250" cy="2562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31" name="Google Shape;102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2668694c080488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086725" y="2164109"/>
            <a:ext cx="3524250" cy="25622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3" name="Google Shape;103;p14">
            <a:extLst xmlns:a="http://schemas.openxmlformats.org/drawingml/2006/main">
              <a:ext uri="{FF2B5EF4-FFF2-40B4-BE49-F238E27FC236}">
                <a16:creationId xmlns:a16="http://schemas.microsoft.com/office/drawing/2014/main" id="{D986207A-BD62-440C-A6D5-E58D5CDAD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247650"/>
            <a:ext cx="37719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9CA3AF"/>
                </a:solidFill>
                <a:latin typeface="Fira Code"/>
                <a:ea typeface="Fira Code"/>
                <a:cs typeface="Fira Code"/>
              </a:rPr>
              <a:t>TALENTFLOW AI | CONTEXT &amp; PROBLEM DEFINITION</a:t>
            </a:r>
          </a:p>
        </p:txBody>
      </p:sp>
      <p:sp>
        <p:nvSpPr>
          <p:cNvPr id="104" name="Google Shape;104;p14">
            <a:extLst xmlns:a="http://schemas.openxmlformats.org/drawingml/2006/main">
              <a:ext uri="{FF2B5EF4-FFF2-40B4-BE49-F238E27FC236}">
                <a16:creationId xmlns:a16="http://schemas.microsoft.com/office/drawing/2014/main" id="{7A954AEE-9DF5-4479-85D7-E11398F4D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"/>
            <a:ext cx="11431428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The Business Problem (The "Why")</a:t>
            </a:r>
          </a:p>
        </p:txBody>
      </p:sp>
      <p:sp>
        <p:nvSpPr>
          <p:cNvPr id="105" name="Google Shape;105;p14">
            <a:extLst xmlns:a="http://schemas.openxmlformats.org/drawingml/2006/main">
              <a:ext uri="{FF2B5EF4-FFF2-40B4-BE49-F238E27FC236}">
                <a16:creationId xmlns:a16="http://schemas.microsoft.com/office/drawing/2014/main" id="{E60DA44C-0E1E-409A-887E-A98701F6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85775"/>
            <a:ext cx="47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35" name="Google Shape;106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131da422e53491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3900" y="6023669"/>
            <a:ext cx="104775" cy="114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7" name="Google Shape;107;p14">
            <a:extLst xmlns:a="http://schemas.openxmlformats.org/drawingml/2006/main">
              <a:ext uri="{FF2B5EF4-FFF2-40B4-BE49-F238E27FC236}">
                <a16:creationId xmlns:a16="http://schemas.microsoft.com/office/drawing/2014/main" id="{4C834A2C-12A0-467D-8C05-BF2C385F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004619"/>
            <a:ext cx="10544175" cy="319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cap="none">
                <a:solidFill>
                  <a:srgbClr val="9CA3AF"/>
                </a:solidFill>
                <a:latin typeface="Inter"/>
                <a:ea typeface="Inter"/>
                <a:cs typeface="Inter"/>
              </a:rPr>
              <a:t>Presenter Notes: "The project is not only a portal. It solves fragmented recruitment data by preserving candidate history, preparing trusted analytics, and reducing dependency on manually written SQL reports."</a:t>
            </a:r>
          </a:p>
        </p:txBody>
      </p:sp>
      <p:pic>
        <p:nvPicPr>
          <p:cNvPr id="137" name="Google Shape;108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b9582b404e946d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9150" y="2402234"/>
            <a:ext cx="41910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9" name="Google Shape;109;p14">
            <a:extLst xmlns:a="http://schemas.openxmlformats.org/drawingml/2006/main">
              <a:ext uri="{FF2B5EF4-FFF2-40B4-BE49-F238E27FC236}">
                <a16:creationId xmlns:a16="http://schemas.microsoft.com/office/drawing/2014/main" id="{13ED3142-DE70-4882-91F4-3E7A2598C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64209"/>
            <a:ext cx="320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F3F4F6"/>
                </a:solidFill>
                <a:latin typeface="Plus Jakarta Sans SemiBold"/>
                <a:ea typeface="Plus Jakarta Sans SemiBold"/>
                <a:cs typeface="Plus Jakarta Sans SemiBold"/>
              </a:rPr>
              <a:t>The Gap</a:t>
            </a:r>
          </a:p>
        </p:txBody>
      </p:sp>
      <p:sp>
        <p:nvSpPr>
          <p:cNvPr id="110" name="Google Shape;110;p14">
            <a:extLst xmlns:a="http://schemas.openxmlformats.org/drawingml/2006/main">
              <a:ext uri="{FF2B5EF4-FFF2-40B4-BE49-F238E27FC236}">
                <a16:creationId xmlns:a16="http://schemas.microsoft.com/office/drawing/2014/main" id="{59470656-867A-4597-AF8C-1846B1C24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45209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 u="none" cap="none">
                <a:solidFill>
                  <a:srgbClr val="D1D5DB"/>
                </a:solidFill>
                <a:latin typeface="Inter"/>
                <a:ea typeface="Inter"/>
                <a:cs typeface="Inter"/>
              </a:rPr>
              <a:t>Recruitment data sits across candidate screens, interview feedback, admin actions, and reports. Important history is lost when systems only keep the latest record.</a:t>
            </a:r>
          </a:p>
        </p:txBody>
      </p:sp>
      <p:pic>
        <p:nvPicPr>
          <p:cNvPr id="140" name="Google Shape;111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88f15314332421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72000" y="2402234"/>
            <a:ext cx="41910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2" name="Google Shape;112;p14">
            <a:extLst xmlns:a="http://schemas.openxmlformats.org/drawingml/2006/main">
              <a:ext uri="{FF2B5EF4-FFF2-40B4-BE49-F238E27FC236}">
                <a16:creationId xmlns:a16="http://schemas.microsoft.com/office/drawing/2014/main" id="{255BC6E9-91DA-4B7E-8FD5-03A763CA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64209"/>
            <a:ext cx="320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F3F4F6"/>
                </a:solidFill>
                <a:latin typeface="Plus Jakarta Sans SemiBold"/>
                <a:ea typeface="Plus Jakarta Sans SemiBold"/>
                <a:cs typeface="Plus Jakarta Sans SemiBold"/>
              </a:rPr>
              <a:t>The Bottleneck</a:t>
            </a:r>
          </a:p>
        </p:txBody>
      </p:sp>
      <p:sp>
        <p:nvSpPr>
          <p:cNvPr id="113" name="Google Shape;113;p14">
            <a:extLst xmlns:a="http://schemas.openxmlformats.org/drawingml/2006/main">
              <a:ext uri="{FF2B5EF4-FFF2-40B4-BE49-F238E27FC236}">
                <a16:creationId xmlns:a16="http://schemas.microsoft.com/office/drawing/2014/main" id="{56456A6C-07B7-47A1-8617-1CC3F4C3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345209"/>
            <a:ext cx="3048000" cy="1097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 u="none" cap="none">
                <a:solidFill>
                  <a:srgbClr val="D1D5DB"/>
                </a:solidFill>
                <a:latin typeface="Inter"/>
                <a:ea typeface="Inter"/>
                <a:cs typeface="Inter"/>
              </a:rPr>
              <a:t>Useful questions such as funnel movement, skill demand, and candidate quality require SQL knowledge or manual exports, slowing decision cycles.</a:t>
            </a:r>
          </a:p>
        </p:txBody>
      </p:sp>
      <p:pic>
        <p:nvPicPr>
          <p:cNvPr id="143" name="Google Shape;114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ea69dd667a44ae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324850" y="2402234"/>
            <a:ext cx="41910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15" name="Google Shape;115;p14">
            <a:extLst xmlns:a="http://schemas.openxmlformats.org/drawingml/2006/main">
              <a:ext uri="{FF2B5EF4-FFF2-40B4-BE49-F238E27FC236}">
                <a16:creationId xmlns:a16="http://schemas.microsoft.com/office/drawing/2014/main" id="{0233FCF3-DE22-48A5-9FA9-89564930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64209"/>
            <a:ext cx="3200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0" i="0" u="none" cap="none">
                <a:solidFill>
                  <a:srgbClr val="F3F4F6"/>
                </a:solidFill>
                <a:latin typeface="Plus Jakarta Sans SemiBold"/>
                <a:ea typeface="Plus Jakarta Sans SemiBold"/>
                <a:cs typeface="Plus Jakarta Sans SemiBold"/>
              </a:rPr>
              <a:t>The Need</a:t>
            </a:r>
          </a:p>
        </p:txBody>
      </p:sp>
      <p:sp>
        <p:nvSpPr>
          <p:cNvPr id="116" name="Google Shape;116;p14">
            <a:extLst xmlns:a="http://schemas.openxmlformats.org/drawingml/2006/main">
              <a:ext uri="{FF2B5EF4-FFF2-40B4-BE49-F238E27FC236}">
                <a16:creationId xmlns:a16="http://schemas.microsoft.com/office/drawing/2014/main" id="{80EB8FA1-4A49-4253-8E08-271FDDF26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345209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 u="none" cap="none">
                <a:solidFill>
                  <a:srgbClr val="D1D5DB"/>
                </a:solidFill>
                <a:latin typeface="Inter"/>
                <a:ea typeface="Inter"/>
                <a:cs typeface="Inter"/>
              </a:rPr>
              <a:t>A governed lakehouse that separates raw, refined, and business-ready data, then exposes KPIs and future natural-language analytics to recruiters.</a:t>
            </a:r>
          </a:p>
        </p:txBody>
      </p:sp>
      <p:pic>
        <p:nvPicPr>
          <p:cNvPr id="146" name="Google Shape;117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26b225c207744a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62025" y="2526059"/>
            <a:ext cx="1333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7" name="Google Shape;118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6d75cf2446d4d6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05350" y="2526059"/>
            <a:ext cx="1524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48" name="Google Shape;119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a0b02bb7e4f46e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48675" y="2526059"/>
            <a:ext cx="1714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2706369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4" name="Google Shape;124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b79b7fa0f6d4e9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5" name="Google Shape;125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50360929cd046c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1025" y="1925984"/>
            <a:ext cx="5372100" cy="3038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56" name="Google Shape;126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50360929cd046c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38875" y="1925984"/>
            <a:ext cx="5372100" cy="3038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27" name="Google Shape;127;p15">
            <a:extLst xmlns:a="http://schemas.openxmlformats.org/drawingml/2006/main">
              <a:ext uri="{FF2B5EF4-FFF2-40B4-BE49-F238E27FC236}">
                <a16:creationId xmlns:a16="http://schemas.microsoft.com/office/drawing/2014/main" id="{5D620578-269B-4443-B339-41744D34A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7650"/>
            <a:ext cx="3086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9CA3AF"/>
                </a:solidFill>
                <a:latin typeface="Fira Code"/>
                <a:ea typeface="Fira Code"/>
                <a:cs typeface="Fira Code"/>
              </a:rPr>
              <a:t>TALENTFLOW AI | STRATEGIC OBJECTIVES</a:t>
            </a:r>
          </a:p>
        </p:txBody>
      </p:sp>
      <p:sp>
        <p:nvSpPr>
          <p:cNvPr id="128" name="Google Shape;128;p15">
            <a:extLst xmlns:a="http://schemas.openxmlformats.org/drawingml/2006/main">
              <a:ext uri="{FF2B5EF4-FFF2-40B4-BE49-F238E27FC236}">
                <a16:creationId xmlns:a16="http://schemas.microsoft.com/office/drawing/2014/main" id="{01A07AEE-4658-412C-8F70-84884637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"/>
            <a:ext cx="11431428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Project Objectives</a:t>
            </a:r>
          </a:p>
        </p:txBody>
      </p:sp>
      <p:sp>
        <p:nvSpPr>
          <p:cNvPr id="129" name="Google Shape;129;p15">
            <a:extLst xmlns:a="http://schemas.openxmlformats.org/drawingml/2006/main">
              <a:ext uri="{FF2B5EF4-FFF2-40B4-BE49-F238E27FC236}">
                <a16:creationId xmlns:a16="http://schemas.microsoft.com/office/drawing/2014/main" id="{EF971B8A-B047-4B13-A077-A4B294564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85775"/>
            <a:ext cx="47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60" name="Google Shape;130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d560097f5c24c6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3900" y="6023669"/>
            <a:ext cx="104775" cy="114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1" name="Google Shape;131;p15">
            <a:extLst xmlns:a="http://schemas.openxmlformats.org/drawingml/2006/main">
              <a:ext uri="{FF2B5EF4-FFF2-40B4-BE49-F238E27FC236}">
                <a16:creationId xmlns:a16="http://schemas.microsoft.com/office/drawing/2014/main" id="{DC2F7449-8036-4035-A708-90D408755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004619"/>
            <a:ext cx="10544175" cy="319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cap="none">
                <a:solidFill>
                  <a:srgbClr val="9CA3AF"/>
                </a:solidFill>
                <a:latin typeface="Inter"/>
                <a:ea typeface="Inter"/>
                <a:cs typeface="Inter"/>
              </a:rPr>
              <a:t>Presenter Notes: "The objectives separate operational reliability from analytical scale: PostgreSQL runs the app, while the lakehouse preserves history and powers reporting and AI."</a:t>
            </a:r>
          </a:p>
        </p:txBody>
      </p:sp>
      <p:sp>
        <p:nvSpPr>
          <p:cNvPr id="132" name="Google Shape;132;p15">
            <a:extLst xmlns:a="http://schemas.openxmlformats.org/drawingml/2006/main">
              <a:ext uri="{FF2B5EF4-FFF2-40B4-BE49-F238E27FC236}">
                <a16:creationId xmlns:a16="http://schemas.microsoft.com/office/drawing/2014/main" id="{E3E0C29D-84BE-4AA7-AFAF-CE45D07C3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164109"/>
            <a:ext cx="4740592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 u="non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</a:rPr>
              <a:t>Engineering Objectives</a:t>
            </a:r>
          </a:p>
        </p:txBody>
      </p:sp>
      <p:sp>
        <p:nvSpPr>
          <p:cNvPr id="133" name="Google Shape;133;p15">
            <a:extLst xmlns:a="http://schemas.openxmlformats.org/drawingml/2006/main">
              <a:ext uri="{FF2B5EF4-FFF2-40B4-BE49-F238E27FC236}">
                <a16:creationId xmlns:a16="http://schemas.microsoft.com/office/drawing/2014/main" id="{1DCE1C8F-34BD-47E7-A2DC-BEB1332AF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26059"/>
            <a:ext cx="4895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134" name="Google Shape;134;p15">
            <a:extLst xmlns:a="http://schemas.openxmlformats.org/drawingml/2006/main">
              <a:ext uri="{FF2B5EF4-FFF2-40B4-BE49-F238E27FC236}">
                <a16:creationId xmlns:a16="http://schemas.microsoft.com/office/drawing/2014/main" id="{A16685BA-3666-4708-B646-FB3AF880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64109"/>
            <a:ext cx="4800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 u="non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</a:rPr>
              <a:t>Intelligence Objectives</a:t>
            </a:r>
          </a:p>
        </p:txBody>
      </p:sp>
      <p:sp>
        <p:nvSpPr>
          <p:cNvPr id="135" name="Google Shape;135;p15">
            <a:extLst xmlns:a="http://schemas.openxmlformats.org/drawingml/2006/main">
              <a:ext uri="{FF2B5EF4-FFF2-40B4-BE49-F238E27FC236}">
                <a16:creationId xmlns:a16="http://schemas.microsoft.com/office/drawing/2014/main" id="{D6530AF6-0932-49AB-8089-B1F07235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26059"/>
            <a:ext cx="4895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166" name="Google Shape;136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3d8c81daeea40e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9150" y="2192684"/>
            <a:ext cx="2667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37" name="Google Shape;137;p15">
            <a:extLst xmlns:a="http://schemas.openxmlformats.org/drawingml/2006/main">
              <a:ext uri="{FF2B5EF4-FFF2-40B4-BE49-F238E27FC236}">
                <a16:creationId xmlns:a16="http://schemas.microsoft.com/office/drawing/2014/main" id="{D912FF74-0CF4-456A-8EDF-E7EEE383A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26084"/>
            <a:ext cx="4610100" cy="642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 u="none" cap="none">
                <a:solidFill>
                  <a:srgbClr val="E5E7EB"/>
                </a:solidFill>
                <a:latin typeface="Inter"/>
                <a:ea typeface="Inter"/>
                <a:cs typeface="Inter"/>
              </a:rPr>
              <a:t>Build role-based Streamlit portals backed by a normalized PostgreSQL schema for candidate, interviewer, admin, and feedback workflows.</a:t>
            </a:r>
          </a:p>
        </p:txBody>
      </p:sp>
      <p:sp>
        <p:nvSpPr>
          <p:cNvPr id="138" name="Google Shape;138;p15">
            <a:extLst xmlns:a="http://schemas.openxmlformats.org/drawingml/2006/main">
              <a:ext uri="{FF2B5EF4-FFF2-40B4-BE49-F238E27FC236}">
                <a16:creationId xmlns:a16="http://schemas.microsoft.com/office/drawing/2014/main" id="{902D14C7-0A47-42BF-8D7F-5EEF36B14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11897"/>
            <a:ext cx="4610100" cy="514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 u="none" cap="none">
                <a:solidFill>
                  <a:srgbClr val="E5E7EB"/>
                </a:solidFill>
                <a:latin typeface="Inter"/>
                <a:ea typeface="Inter"/>
                <a:cs typeface="Inter"/>
              </a:rPr>
              <a:t>Implement Bronze, Silver, and Gold lakehouse layers on Azure storage with repeatable Parquet snapshots and SCD Type 2 history.</a:t>
            </a:r>
          </a:p>
        </p:txBody>
      </p:sp>
      <p:sp>
        <p:nvSpPr>
          <p:cNvPr id="139" name="Google Shape;139;p15">
            <a:extLst xmlns:a="http://schemas.openxmlformats.org/drawingml/2006/main">
              <a:ext uri="{FF2B5EF4-FFF2-40B4-BE49-F238E27FC236}">
                <a16:creationId xmlns:a16="http://schemas.microsoft.com/office/drawing/2014/main" id="{3F899234-9CEF-4ED8-A190-97301383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83397"/>
            <a:ext cx="4610100" cy="642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 u="none" cap="none">
                <a:solidFill>
                  <a:srgbClr val="E5E7EB"/>
                </a:solidFill>
                <a:latin typeface="Inter"/>
                <a:ea typeface="Inter"/>
                <a:cs typeface="Inter"/>
              </a:rPr>
              <a:t>Use Prefect Cloud for scheduled orchestration and visibility, with DuckDB for analytical SQL over Parquet datasets.</a:t>
            </a:r>
          </a:p>
        </p:txBody>
      </p:sp>
      <p:pic>
        <p:nvPicPr>
          <p:cNvPr id="170" name="Google Shape;140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5b6f6f13d0d4f2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77000" y="2192684"/>
            <a:ext cx="209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1" name="Google Shape;141;p15">
            <a:extLst xmlns:a="http://schemas.openxmlformats.org/drawingml/2006/main">
              <a:ext uri="{FF2B5EF4-FFF2-40B4-BE49-F238E27FC236}">
                <a16:creationId xmlns:a16="http://schemas.microsoft.com/office/drawing/2014/main" id="{111BBAF2-0A86-42EB-AAF8-EFABB8A5E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26084"/>
            <a:ext cx="4610100" cy="514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 u="none" cap="none">
                <a:solidFill>
                  <a:srgbClr val="E5E7EB"/>
                </a:solidFill>
                <a:latin typeface="Inter"/>
                <a:ea typeface="Inter"/>
                <a:cs typeface="Inter"/>
              </a:rPr>
              <a:t>Create Gold KPIs and a Random Forest baseline for candidate outcome intelligence and feature-importance explanation.</a:t>
            </a:r>
          </a:p>
        </p:txBody>
      </p:sp>
      <p:sp>
        <p:nvSpPr>
          <p:cNvPr id="142" name="Google Shape;142;p15">
            <a:extLst xmlns:a="http://schemas.openxmlformats.org/drawingml/2006/main">
              <a:ext uri="{FF2B5EF4-FFF2-40B4-BE49-F238E27FC236}">
                <a16:creationId xmlns:a16="http://schemas.microsoft.com/office/drawing/2014/main" id="{975840B7-46DA-4B1E-96C9-CE79BAAD7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97584"/>
            <a:ext cx="4610100" cy="642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 u="none" cap="none">
                <a:solidFill>
                  <a:srgbClr val="E5E7EB"/>
                </a:solidFill>
                <a:latin typeface="Inter"/>
                <a:ea typeface="Inter"/>
                <a:cs typeface="Inter"/>
              </a:rPr>
              <a:t>Prepare the foundation for a Text-to-SQL conversational layer so non-technical users can ask recruitment questions naturally.</a:t>
            </a:r>
          </a:p>
        </p:txBody>
      </p:sp>
      <p:pic>
        <p:nvPicPr>
          <p:cNvPr id="173" name="Google Shape;143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92c4f09376a458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6775" y="2759422"/>
            <a:ext cx="133350" cy="142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4" name="Google Shape;144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92c4f09376a458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6775" y="3545234"/>
            <a:ext cx="133350" cy="142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5" name="Google Shape;145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92c4f09376a458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66775" y="4116734"/>
            <a:ext cx="133350" cy="142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6" name="Google Shape;146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a0bf701de0a4d1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24625" y="2759422"/>
            <a:ext cx="133350" cy="142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77" name="Google Shape;147;p1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a0bf701de0a4d1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24625" y="3330922"/>
            <a:ext cx="133350" cy="142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79360255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3" name="Google Shape;152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58c47584e9649e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4" name="Google Shape;153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b93e8fbd04a447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1025" y="2254597"/>
            <a:ext cx="1743075" cy="2381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5" name="Google Shape;154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d6c6ce5d5d34c7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438400" y="2254597"/>
            <a:ext cx="1743075" cy="2381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6" name="Google Shape;155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dfab301005e44e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295775" y="2254597"/>
            <a:ext cx="1743075" cy="2381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7" name="Google Shape;156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8f0161652c14e2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53150" y="2254597"/>
            <a:ext cx="1743075" cy="2381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8" name="Google Shape;157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5a77230b7614a1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010525" y="2254597"/>
            <a:ext cx="1743075" cy="2381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19" name="Google Shape;158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ec776d057844f5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867900" y="2254597"/>
            <a:ext cx="1743075" cy="23812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59" name="Google Shape;159;p16">
            <a:extLst xmlns:a="http://schemas.openxmlformats.org/drawingml/2006/main">
              <a:ext uri="{FF2B5EF4-FFF2-40B4-BE49-F238E27FC236}">
                <a16:creationId xmlns:a16="http://schemas.microsoft.com/office/drawing/2014/main" id="{2A93BC26-5AA3-49DE-84A1-14FD8C20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47650"/>
            <a:ext cx="47148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9CA3AF"/>
                </a:solidFill>
                <a:latin typeface="Fira Code"/>
                <a:ea typeface="Fira Code"/>
                <a:cs typeface="Fira Code"/>
              </a:rPr>
              <a:t>TALENTFLOW AI | CURRENT ARCHITECTURE</a:t>
            </a:r>
          </a:p>
        </p:txBody>
      </p:sp>
      <p:sp>
        <p:nvSpPr>
          <p:cNvPr id="160" name="Google Shape;160;p16">
            <a:extLst xmlns:a="http://schemas.openxmlformats.org/drawingml/2006/main">
              <a:ext uri="{FF2B5EF4-FFF2-40B4-BE49-F238E27FC236}">
                <a16:creationId xmlns:a16="http://schemas.microsoft.com/office/drawing/2014/main" id="{E3674E31-1A66-4888-BDA1-7D821209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"/>
            <a:ext cx="11431428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Current System Architecture</a:t>
            </a:r>
          </a:p>
        </p:txBody>
      </p:sp>
      <p:sp>
        <p:nvSpPr>
          <p:cNvPr id="161" name="Google Shape;161;p16">
            <a:extLst xmlns:a="http://schemas.openxmlformats.org/drawingml/2006/main">
              <a:ext uri="{FF2B5EF4-FFF2-40B4-BE49-F238E27FC236}">
                <a16:creationId xmlns:a16="http://schemas.microsoft.com/office/drawing/2014/main" id="{5E776E10-DE8A-4F4D-BFDA-898F4ED9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85775"/>
            <a:ext cx="47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23" name="Google Shape;162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ad8b50211234bf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3900" y="6023669"/>
            <a:ext cx="104775" cy="114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3" name="Google Shape;163;p16">
            <a:extLst xmlns:a="http://schemas.openxmlformats.org/drawingml/2006/main">
              <a:ext uri="{FF2B5EF4-FFF2-40B4-BE49-F238E27FC236}">
                <a16:creationId xmlns:a16="http://schemas.microsoft.com/office/drawing/2014/main" id="{57C26D95-16C5-42DC-93D1-74B5FA048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004619"/>
            <a:ext cx="10544175" cy="319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cap="none">
                <a:solidFill>
                  <a:srgbClr val="9CA3AF"/>
                </a:solidFill>
                <a:latin typeface="Inter"/>
                <a:ea typeface="Inter"/>
                <a:cs typeface="Inter"/>
              </a:rPr>
              <a:t>Presenter Notes: "The architecture follows a medallion pattern: Bronze captures source snapshots, Silver secures and versions records, Gold serves KPIs and ML features."</a:t>
            </a:r>
          </a:p>
        </p:txBody>
      </p:sp>
      <p:pic>
        <p:nvPicPr>
          <p:cNvPr id="225" name="Google Shape;164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03801124d1543e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35843" y="2416522"/>
            <a:ext cx="833437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26" name="Google Shape;165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f51e1aed55b4c7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352550" y="2911226"/>
            <a:ext cx="200025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6" name="Google Shape;166;p16">
            <a:extLst xmlns:a="http://schemas.openxmlformats.org/drawingml/2006/main">
              <a:ext uri="{FF2B5EF4-FFF2-40B4-BE49-F238E27FC236}">
                <a16:creationId xmlns:a16="http://schemas.microsoft.com/office/drawing/2014/main" id="{5B6D6824-BD94-4A45-B3A5-199BD868E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510" y="3577381"/>
            <a:ext cx="830103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Streamlit + OLTP</a:t>
            </a:r>
          </a:p>
        </p:txBody>
      </p:sp>
      <p:sp>
        <p:nvSpPr>
          <p:cNvPr id="167" name="Google Shape;167;p16">
            <a:extLst xmlns:a="http://schemas.openxmlformats.org/drawingml/2006/main">
              <a:ext uri="{FF2B5EF4-FFF2-40B4-BE49-F238E27FC236}">
                <a16:creationId xmlns:a16="http://schemas.microsoft.com/office/drawing/2014/main" id="{82E4AA48-EEF5-4AE1-963E-99F602341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33986"/>
            <a:ext cx="1495425" cy="528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9CA3AF"/>
                </a:solidFill>
                <a:latin typeface="Inter"/>
                <a:ea typeface="Inter"/>
                <a:cs typeface="Inter"/>
              </a:rPr>
              <a:t>Candidate, interviewer, and admin screens write operational records to Azure PostgreSQL.</a:t>
            </a:r>
          </a:p>
        </p:txBody>
      </p:sp>
      <p:pic>
        <p:nvPicPr>
          <p:cNvPr id="229" name="Google Shape;168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a068eafa84b4de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919412" y="2416522"/>
            <a:ext cx="7810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30" name="Google Shape;169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aacf56e9e9b4d5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167062" y="2911226"/>
            <a:ext cx="2857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0" name="Google Shape;170;p16">
            <a:extLst xmlns:a="http://schemas.openxmlformats.org/drawingml/2006/main">
              <a:ext uri="{FF2B5EF4-FFF2-40B4-BE49-F238E27FC236}">
                <a16:creationId xmlns:a16="http://schemas.microsoft.com/office/drawing/2014/main" id="{5BE997A8-F006-4DFA-B1FD-009ECED1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9877" y="3577381"/>
            <a:ext cx="96012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Prefect Cloud</a:t>
            </a:r>
          </a:p>
        </p:txBody>
      </p:sp>
      <p:sp>
        <p:nvSpPr>
          <p:cNvPr id="171" name="Google Shape;171;p16">
            <a:extLst xmlns:a="http://schemas.openxmlformats.org/drawingml/2006/main">
              <a:ext uri="{FF2B5EF4-FFF2-40B4-BE49-F238E27FC236}">
                <a16:creationId xmlns:a16="http://schemas.microsoft.com/office/drawing/2014/main" id="{701928EF-4B64-496B-94DC-85BDE9DD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033986"/>
            <a:ext cx="1495425" cy="7040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9CA3AF"/>
                </a:solidFill>
                <a:latin typeface="Inter"/>
                <a:ea typeface="Inter"/>
                <a:cs typeface="Inter"/>
              </a:rPr>
              <a:t>Schedules the ELT every few minutes during demo and monitors each Bronze, Silver, and Gold run.</a:t>
            </a:r>
          </a:p>
        </p:txBody>
      </p:sp>
      <p:pic>
        <p:nvPicPr>
          <p:cNvPr id="233" name="Google Shape;172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67db793d65e468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776787" y="2416522"/>
            <a:ext cx="7810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34" name="Google Shape;173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dd4bf2faa074b7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024437" y="2911226"/>
            <a:ext cx="2857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4" name="Google Shape;174;p16">
            <a:extLst xmlns:a="http://schemas.openxmlformats.org/drawingml/2006/main">
              <a:ext uri="{FF2B5EF4-FFF2-40B4-BE49-F238E27FC236}">
                <a16:creationId xmlns:a16="http://schemas.microsoft.com/office/drawing/2014/main" id="{34D77C56-1B2C-4515-B1FE-2CC49D91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2265" y="3577381"/>
            <a:ext cx="750093" cy="320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Bronze Parquet</a:t>
            </a:r>
          </a:p>
        </p:txBody>
      </p:sp>
      <p:sp>
        <p:nvSpPr>
          <p:cNvPr id="175" name="Google Shape;175;p16">
            <a:extLst xmlns:a="http://schemas.openxmlformats.org/drawingml/2006/main">
              <a:ext uri="{FF2B5EF4-FFF2-40B4-BE49-F238E27FC236}">
                <a16:creationId xmlns:a16="http://schemas.microsoft.com/office/drawing/2014/main" id="{20F08E4F-0607-4B23-A2AB-14C8D7DD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033986"/>
            <a:ext cx="1495425" cy="528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9CA3AF"/>
                </a:solidFill>
                <a:latin typeface="Inter"/>
                <a:ea typeface="Inter"/>
                <a:cs typeface="Inter"/>
              </a:rPr>
              <a:t>Stores raw source extracts and latest copies for traceable ingestion from PostgreSQL.</a:t>
            </a:r>
          </a:p>
        </p:txBody>
      </p:sp>
      <p:pic>
        <p:nvPicPr>
          <p:cNvPr id="237" name="Google Shape;176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746079fc12744a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529387" y="2416522"/>
            <a:ext cx="99060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38" name="Google Shape;177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91e72ca54134bf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938962" y="2911226"/>
            <a:ext cx="1714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78" name="Google Shape;178;p16">
            <a:extLst xmlns:a="http://schemas.openxmlformats.org/drawingml/2006/main">
              <a:ext uri="{FF2B5EF4-FFF2-40B4-BE49-F238E27FC236}">
                <a16:creationId xmlns:a16="http://schemas.microsoft.com/office/drawing/2014/main" id="{C011DC33-AF8D-423B-A7AA-02F9C18F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623" y="3577381"/>
            <a:ext cx="103012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Silver Secure</a:t>
            </a:r>
          </a:p>
        </p:txBody>
      </p:sp>
      <p:sp>
        <p:nvSpPr>
          <p:cNvPr id="179" name="Google Shape;179;p16">
            <a:extLst xmlns:a="http://schemas.openxmlformats.org/drawingml/2006/main">
              <a:ext uri="{FF2B5EF4-FFF2-40B4-BE49-F238E27FC236}">
                <a16:creationId xmlns:a16="http://schemas.microsoft.com/office/drawing/2014/main" id="{381ECBCA-9A65-4B50-A11B-6727F24DA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033986"/>
            <a:ext cx="1495425" cy="528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9CA3AF"/>
                </a:solidFill>
                <a:latin typeface="Inter"/>
                <a:ea typeface="Inter"/>
                <a:cs typeface="Inter"/>
              </a:rPr>
              <a:t>Applies PII encryption, row hashing, SCD Type 2 versioning, and current-record flags.</a:t>
            </a:r>
          </a:p>
        </p:txBody>
      </p:sp>
      <p:pic>
        <p:nvPicPr>
          <p:cNvPr id="241" name="Google Shape;180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6a1994e9b0c45f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439150" y="2416522"/>
            <a:ext cx="885825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2" name="Google Shape;181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e6f7c163fcc49b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796337" y="2911226"/>
            <a:ext cx="1714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2" name="Google Shape;182;p16">
            <a:extLst xmlns:a="http://schemas.openxmlformats.org/drawingml/2006/main">
              <a:ext uri="{FF2B5EF4-FFF2-40B4-BE49-F238E27FC236}">
                <a16:creationId xmlns:a16="http://schemas.microsoft.com/office/drawing/2014/main" id="{693EE923-B08C-4BF8-B345-DA03F37D2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2008" y="3577381"/>
            <a:ext cx="860107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Gold + BI</a:t>
            </a:r>
          </a:p>
        </p:txBody>
      </p:sp>
      <p:sp>
        <p:nvSpPr>
          <p:cNvPr id="183" name="Google Shape;183;p16">
            <a:extLst xmlns:a="http://schemas.openxmlformats.org/drawingml/2006/main">
              <a:ext uri="{FF2B5EF4-FFF2-40B4-BE49-F238E27FC236}">
                <a16:creationId xmlns:a16="http://schemas.microsoft.com/office/drawing/2014/main" id="{F104D12C-7801-4CBE-B80C-02036773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033986"/>
            <a:ext cx="1495425" cy="528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9CA3AF"/>
                </a:solidFill>
                <a:latin typeface="Inter"/>
                <a:ea typeface="Inter"/>
                <a:cs typeface="Inter"/>
              </a:rPr>
              <a:t>Publishes recruitment KPIs, funnel metrics, and feature tables for dashboards and ML.</a:t>
            </a:r>
          </a:p>
        </p:txBody>
      </p:sp>
      <p:pic>
        <p:nvPicPr>
          <p:cNvPr id="245" name="Google Shape;184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a55b1c8525b49d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427493" y="2416522"/>
            <a:ext cx="623887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6" name="Google Shape;185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5abddd5414642f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96562" y="2911226"/>
            <a:ext cx="2857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6" name="Google Shape;186;p16">
            <a:extLst xmlns:a="http://schemas.openxmlformats.org/drawingml/2006/main">
              <a:ext uri="{FF2B5EF4-FFF2-40B4-BE49-F238E27FC236}">
                <a16:creationId xmlns:a16="http://schemas.microsoft.com/office/drawing/2014/main" id="{B87386A6-EEC6-4007-805C-21A62317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363" y="3577381"/>
            <a:ext cx="1190148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050" b="1" i="0" u="non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AI Layer</a:t>
            </a:r>
          </a:p>
        </p:txBody>
      </p:sp>
      <p:sp>
        <p:nvSpPr>
          <p:cNvPr id="187" name="Google Shape;187;p16">
            <a:extLst xmlns:a="http://schemas.openxmlformats.org/drawingml/2006/main">
              <a:ext uri="{FF2B5EF4-FFF2-40B4-BE49-F238E27FC236}">
                <a16:creationId xmlns:a16="http://schemas.microsoft.com/office/drawing/2014/main" id="{F65C071B-DA60-4FEE-9304-642DB36CC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1725" y="4033986"/>
            <a:ext cx="1495425" cy="528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9CA3AF"/>
                </a:solidFill>
                <a:latin typeface="Inter"/>
                <a:ea typeface="Inter"/>
                <a:cs typeface="Inter"/>
              </a:rPr>
              <a:t>Uses Gold features for ML training now, with Text-to-SQL planned as the final interaction layer.</a:t>
            </a:r>
          </a:p>
        </p:txBody>
      </p:sp>
      <p:pic>
        <p:nvPicPr>
          <p:cNvPr id="249" name="Google Shape;188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835b8bc93914e8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286000" y="3435697"/>
            <a:ext cx="114300" cy="142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0" name="Google Shape;189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835b8bc93914e8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143375" y="3435697"/>
            <a:ext cx="114300" cy="142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1" name="Google Shape;190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835b8bc93914e8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000750" y="3435697"/>
            <a:ext cx="114300" cy="142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2" name="Google Shape;191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835b8bc93914e8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858125" y="3435697"/>
            <a:ext cx="114300" cy="142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3" name="Google Shape;192;p1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835b8bc93914e8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9715500" y="3435697"/>
            <a:ext cx="114300" cy="142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70842488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42" name="Google Shape;197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56bab34f745472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702" y="10702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3" name="Google Shape;198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345bf4a4ddd49d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238875" y="1725959"/>
            <a:ext cx="5372100" cy="34385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4" name="Google Shape;199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405c8b65611404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1025" y="1725959"/>
            <a:ext cx="5372100" cy="1285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45" name="Google Shape;200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689c5bf2ad34d4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1025" y="3650009"/>
            <a:ext cx="5372100" cy="15144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1" name="Google Shape;201;p17">
            <a:extLst xmlns:a="http://schemas.openxmlformats.org/drawingml/2006/main">
              <a:ext uri="{FF2B5EF4-FFF2-40B4-BE49-F238E27FC236}">
                <a16:creationId xmlns:a16="http://schemas.microsoft.com/office/drawing/2014/main" id="{CEA3C4DD-1E67-4108-880B-1AC12EE92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7650"/>
            <a:ext cx="351472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9CA3AF"/>
                </a:solidFill>
                <a:latin typeface="Fira Code"/>
                <a:ea typeface="Fira Code"/>
                <a:cs typeface="Fira Code"/>
              </a:rPr>
              <a:t>TALENTFLOW AI | CORE DIMENSIONAL MODELING</a:t>
            </a:r>
          </a:p>
        </p:txBody>
      </p:sp>
      <p:sp>
        <p:nvSpPr>
          <p:cNvPr id="202" name="Google Shape;202;p17">
            <a:extLst xmlns:a="http://schemas.openxmlformats.org/drawingml/2006/main">
              <a:ext uri="{FF2B5EF4-FFF2-40B4-BE49-F238E27FC236}">
                <a16:creationId xmlns:a16="http://schemas.microsoft.com/office/drawing/2014/main" id="{8F9E2E84-8ACF-4AE7-814F-046074E16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"/>
            <a:ext cx="11431428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Data Engineering Deep Dive (SCD Type 2)</a:t>
            </a:r>
          </a:p>
        </p:txBody>
      </p:sp>
      <p:sp>
        <p:nvSpPr>
          <p:cNvPr id="203" name="Google Shape;203;p17">
            <a:extLst xmlns:a="http://schemas.openxmlformats.org/drawingml/2006/main">
              <a:ext uri="{FF2B5EF4-FFF2-40B4-BE49-F238E27FC236}">
                <a16:creationId xmlns:a16="http://schemas.microsoft.com/office/drawing/2014/main" id="{73C43CC2-EE95-4BB7-B9C4-00D1DAC2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85775"/>
            <a:ext cx="47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49" name="Google Shape;204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6b537ef9a1f414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3900" y="6023669"/>
            <a:ext cx="104775" cy="114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5" name="Google Shape;205;p17">
            <a:extLst xmlns:a="http://schemas.openxmlformats.org/drawingml/2006/main">
              <a:ext uri="{FF2B5EF4-FFF2-40B4-BE49-F238E27FC236}">
                <a16:creationId xmlns:a16="http://schemas.microsoft.com/office/drawing/2014/main" id="{56D1ECFF-D512-4C63-BAC9-9FEA7606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004619"/>
            <a:ext cx="10544175" cy="3199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cap="none">
                <a:solidFill>
                  <a:srgbClr val="9CA3AF"/>
                </a:solidFill>
                <a:latin typeface="Inter"/>
                <a:ea typeface="Inter"/>
                <a:cs typeface="Inter"/>
              </a:rPr>
              <a:t>Presenter Notes: "SCD Type 2 matters because recruitment decisions depend on the timeline of changes, not just the final value. This follows dimensional modeling guidance from Kimball and Ross."</a:t>
            </a:r>
          </a:p>
        </p:txBody>
      </p:sp>
      <p:sp>
        <p:nvSpPr>
          <p:cNvPr id="206" name="Google Shape;206;p17">
            <a:extLst xmlns:a="http://schemas.openxmlformats.org/drawingml/2006/main">
              <a:ext uri="{FF2B5EF4-FFF2-40B4-BE49-F238E27FC236}">
                <a16:creationId xmlns:a16="http://schemas.microsoft.com/office/drawing/2014/main" id="{75F5904E-928C-4574-BD66-22002E27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897659"/>
            <a:ext cx="4895850" cy="10287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111827"/>
          </a:solidFill>
          <a:ln xmlns:a="http://schemas.openxmlformats.org/drawingml/2006/main" w="9525" cmpd="sng">
            <a:solidFill>
              <a:srgbClr val="4A7DBA"/>
            </a:solidFill>
            <a:prstDash val="solid"/>
          </a:ln>
          <a:effectLst xmlns:a="http://schemas.openxmlformats.org/drawingml/2006/main"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graphicFrame>
        <p:nvGraphicFramePr>
          <p:cNvPr id="252" name="Google Shape;207;p17"/>
          <p:cNvGraphicFramePr/>
          <p:nvPr/>
        </p:nvGraphicFramePr>
        <p:xfrm>
          <a:off xmlns:a="http://schemas.openxmlformats.org/drawingml/2006/main" x="6477000" y="3897659"/>
          <a:ext xmlns:a="http://schemas.openxmlformats.org/drawingml/2006/main" cx="3000000" cy="300000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{97F74970-1820-4FA9-A6A2-EDE01B7A4CAD}</a:tableStyleId>
              </a:tblPr>
              <a:tblGrid>
                <a:gridCol w="724050"/>
                <a:gridCol w="945650"/>
                <a:gridCol w="689525"/>
                <a:gridCol w="866925"/>
                <a:gridCol w="866925"/>
                <a:gridCol w="793250"/>
              </a:tblGrid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 i="0" u="none" cap="non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</a:rPr>
                        <a:t>Surr_Key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 i="0" u="none" cap="non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</a:rPr>
                        <a:t>Candidate_ID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 i="0" u="none" cap="non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</a:rPr>
                        <a:t>Salary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 i="0" u="none" cap="non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</a:rPr>
                        <a:t>Start_Date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 i="0" u="none" cap="non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</a:rPr>
                        <a:t>End_Date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 i="0" u="none" cap="none">
                          <a:solidFill>
                            <a:srgbClr val="38BDF8"/>
                          </a:solidFill>
                          <a:latin typeface="Inter SemiBold"/>
                          <a:ea typeface="Inter SemiBold"/>
                          <a:cs typeface="Inter SemiBold"/>
                        </a:rPr>
                        <a:t>Is_Current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  <a:solidFill>
                      <a:srgbClr val="38BDF8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 i="0" u="none" cap="non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1012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 i="0" u="none" cap="non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C-5582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 i="0" u="none" cap="non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$80,000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 i="0" u="none" cap="non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2025-01-10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 i="0" u="none" cap="non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2025-06-15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 i="0" u="none" cap="non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FALSE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 i="0" u="none" cap="non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1249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 i="0" u="none" cap="non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C-5582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 i="0" u="none" cap="non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$90,000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 i="0" u="none" cap="non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2025-06-16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 i="0" u="none" cap="non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9999-12-31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sz="900" b="0" i="0" u="none" cap="none">
                          <a:solidFill>
                            <a:srgbClr val="111827"/>
                          </a:solidFill>
                          <a:latin typeface="Inter"/>
                          <a:ea typeface="Inter"/>
                          <a:cs typeface="Inter"/>
                        </a:rPr>
                        <a:t>TRUE</a:t>
                      </a:r>
                    </a:p>
                  </a:txBody>
                  <a:tcPr marL="63500" marR="63500" marT="25400" marB="25400" anchor="ctr">
                    <a:lnL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L>
                    <a:lnR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R>
                    <a:lnT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T>
                    <a:lnB w="9525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08" name="Google Shape;208;p17">
            <a:extLst xmlns:a="http://schemas.openxmlformats.org/drawingml/2006/main">
              <a:ext uri="{FF2B5EF4-FFF2-40B4-BE49-F238E27FC236}">
                <a16:creationId xmlns:a16="http://schemas.microsoft.com/office/drawing/2014/main" id="{FD2BB44C-24FA-4822-9D32-E252AC851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4084"/>
            <a:ext cx="5140642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9050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The Challenge</a:t>
            </a:r>
          </a:p>
        </p:txBody>
      </p:sp>
      <p:sp>
        <p:nvSpPr>
          <p:cNvPr id="209" name="Google Shape;209;p17">
            <a:extLst xmlns:a="http://schemas.openxmlformats.org/drawingml/2006/main">
              <a:ext uri="{FF2B5EF4-FFF2-40B4-BE49-F238E27FC236}">
                <a16:creationId xmlns:a16="http://schemas.microsoft.com/office/drawing/2014/main" id="{00B3369A-E2C3-4DE5-B0D2-1F2448B9F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16509"/>
            <a:ext cx="4895850" cy="548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 u="none" cap="none">
                <a:solidFill>
                  <a:srgbClr val="D1D5DB"/>
                </a:solidFill>
                <a:latin typeface="Inter"/>
                <a:ea typeface="Inter"/>
                <a:cs typeface="Inter"/>
              </a:rPr>
              <a:t>Track profile, stage, salary, and feedback changes without deleting the earlier state that explains the candidate journey.</a:t>
            </a:r>
          </a:p>
        </p:txBody>
      </p:sp>
      <p:sp>
        <p:nvSpPr>
          <p:cNvPr id="210" name="Google Shape;210;p17">
            <a:extLst xmlns:a="http://schemas.openxmlformats.org/drawingml/2006/main">
              <a:ext uri="{FF2B5EF4-FFF2-40B4-BE49-F238E27FC236}">
                <a16:creationId xmlns:a16="http://schemas.microsoft.com/office/drawing/2014/main" id="{67472B0B-5564-471F-93F0-52BBFA19B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88134"/>
            <a:ext cx="5140642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9050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500" b="1" i="0" u="non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The Solution</a:t>
            </a:r>
          </a:p>
        </p:txBody>
      </p:sp>
      <p:sp>
        <p:nvSpPr>
          <p:cNvPr id="211" name="Google Shape;211;p17">
            <a:extLst xmlns:a="http://schemas.openxmlformats.org/drawingml/2006/main">
              <a:ext uri="{FF2B5EF4-FFF2-40B4-BE49-F238E27FC236}">
                <a16:creationId xmlns:a16="http://schemas.microsoft.com/office/drawing/2014/main" id="{6672E236-7AAF-4477-8FBF-335585D33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0559"/>
            <a:ext cx="48958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 u="none" cap="none">
                <a:solidFill>
                  <a:srgbClr val="D1D5DB"/>
                </a:solidFill>
                <a:latin typeface="Inter"/>
                <a:ea typeface="Inter"/>
                <a:cs typeface="Inter"/>
              </a:rPr>
              <a:t>Silver creates new active versions when row_hash changes, closes old rows with end_date, and keeps is_current for fast reporting.</a:t>
            </a:r>
          </a:p>
        </p:txBody>
      </p:sp>
      <p:sp>
        <p:nvSpPr>
          <p:cNvPr id="212" name="Google Shape;212;p17">
            <a:extLst xmlns:a="http://schemas.openxmlformats.org/drawingml/2006/main">
              <a:ext uri="{FF2B5EF4-FFF2-40B4-BE49-F238E27FC236}">
                <a16:creationId xmlns:a16="http://schemas.microsoft.com/office/drawing/2014/main" id="{5189C800-E7BF-4467-A98C-7A5A36C9B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964084"/>
            <a:ext cx="5140642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17145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350" b="1" i="0" u="none" cap="none">
                <a:solidFill>
                  <a:srgbClr val="F3F4F6"/>
                </a:solidFill>
                <a:latin typeface="Plus Jakarta Sans"/>
                <a:ea typeface="Plus Jakarta Sans"/>
                <a:cs typeface="Plus Jakarta Sans"/>
              </a:rPr>
              <a:t>Key Database Enablers</a:t>
            </a:r>
          </a:p>
        </p:txBody>
      </p:sp>
      <p:pic>
        <p:nvPicPr>
          <p:cNvPr id="258" name="Google Shape;213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c7cfd3967754bc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9150" y="2002184"/>
            <a:ext cx="190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59" name="Google Shape;214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1a1cb6f45624bb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9150" y="3926234"/>
            <a:ext cx="19050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60" name="Google Shape;215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798f2b57d934d5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477000" y="2002184"/>
            <a:ext cx="17145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16" name="Google Shape;216;p17">
            <a:extLst xmlns:a="http://schemas.openxmlformats.org/drawingml/2006/main">
              <a:ext uri="{FF2B5EF4-FFF2-40B4-BE49-F238E27FC236}">
                <a16:creationId xmlns:a16="http://schemas.microsoft.com/office/drawing/2014/main" id="{B561B9A7-9CC9-4F75-9CFB-C589BBA4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78409"/>
            <a:ext cx="4610100" cy="514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 u="none" cap="none">
                <a:solidFill>
                  <a:srgbClr val="E5E7EB"/>
                </a:solidFill>
                <a:latin typeface="Inter"/>
                <a:ea typeface="Inter"/>
                <a:cs typeface="Inter"/>
              </a:rPr>
              <a:t>Business Key: Candidate IDs connect operational records to historical versions across pipeline runs.</a:t>
            </a:r>
          </a:p>
        </p:txBody>
      </p:sp>
      <p:sp>
        <p:nvSpPr>
          <p:cNvPr id="217" name="Google Shape;217;p17">
            <a:extLst xmlns:a="http://schemas.openxmlformats.org/drawingml/2006/main">
              <a:ext uri="{FF2B5EF4-FFF2-40B4-BE49-F238E27FC236}">
                <a16:creationId xmlns:a16="http://schemas.microsoft.com/office/drawing/2014/main" id="{C27EB489-26A8-452E-A0F1-45E1D53FF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802284"/>
            <a:ext cx="4610100" cy="514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 u="none" cap="none">
                <a:solidFill>
                  <a:srgbClr val="E5E7EB"/>
                </a:solidFill>
                <a:latin typeface="Inter"/>
                <a:ea typeface="Inter"/>
                <a:cs typeface="Inter"/>
              </a:rPr>
              <a:t>Effective Dates: start_date and end_date preserve point-in-time validity for every version.</a:t>
            </a:r>
          </a:p>
        </p:txBody>
      </p:sp>
      <p:sp>
        <p:nvSpPr>
          <p:cNvPr id="218" name="Google Shape;218;p17">
            <a:extLst xmlns:a="http://schemas.openxmlformats.org/drawingml/2006/main">
              <a:ext uri="{FF2B5EF4-FFF2-40B4-BE49-F238E27FC236}">
                <a16:creationId xmlns:a16="http://schemas.microsoft.com/office/drawing/2014/main" id="{D20F6DC8-5844-4EC7-8E94-AE8281A8A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26159"/>
            <a:ext cx="4610100" cy="514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 u="none" cap="none">
                <a:solidFill>
                  <a:srgbClr val="E5E7EB"/>
                </a:solidFill>
                <a:latin typeface="Inter"/>
                <a:ea typeface="Inter"/>
                <a:cs typeface="Inter"/>
              </a:rPr>
              <a:t>Privacy Controls: encrypted PII columns are isolated before serving analytics-ready Gold data.</a:t>
            </a:r>
          </a:p>
        </p:txBody>
      </p:sp>
      <p:sp>
        <p:nvSpPr>
          <p:cNvPr id="219" name="Google Shape;219;p17">
            <a:extLst xmlns:a="http://schemas.openxmlformats.org/drawingml/2006/main">
              <a:ext uri="{FF2B5EF4-FFF2-40B4-BE49-F238E27FC236}">
                <a16:creationId xmlns:a16="http://schemas.microsoft.com/office/drawing/2014/main" id="{58512E84-A94A-4923-9618-860D793E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2" y="4569172"/>
            <a:ext cx="72404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0" name="Google Shape;220;p17">
            <a:extLst xmlns:a="http://schemas.openxmlformats.org/drawingml/2006/main">
              <a:ext uri="{FF2B5EF4-FFF2-40B4-BE49-F238E27FC236}">
                <a16:creationId xmlns:a16="http://schemas.microsoft.com/office/drawing/2014/main" id="{D399FDAD-6650-43AE-BD52-63E3A12F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811" y="4569172"/>
            <a:ext cx="94565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1" name="Google Shape;221;p17">
            <a:extLst xmlns:a="http://schemas.openxmlformats.org/drawingml/2006/main">
              <a:ext uri="{FF2B5EF4-FFF2-40B4-BE49-F238E27FC236}">
                <a16:creationId xmlns:a16="http://schemas.microsoft.com/office/drawing/2014/main" id="{F2342C2A-804F-4FEE-88D2-FE5C37E4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465" y="4569172"/>
            <a:ext cx="68952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2" name="Google Shape;222;p17">
            <a:extLst xmlns:a="http://schemas.openxmlformats.org/drawingml/2006/main">
              <a:ext uri="{FF2B5EF4-FFF2-40B4-BE49-F238E27FC236}">
                <a16:creationId xmlns:a16="http://schemas.microsoft.com/office/drawing/2014/main" id="{B2CFFF94-CDA5-4B6A-B817-D8FA551BB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0985" y="4569172"/>
            <a:ext cx="86692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3" name="Google Shape;223;p17">
            <a:extLst xmlns:a="http://schemas.openxmlformats.org/drawingml/2006/main">
              <a:ext uri="{FF2B5EF4-FFF2-40B4-BE49-F238E27FC236}">
                <a16:creationId xmlns:a16="http://schemas.microsoft.com/office/drawing/2014/main" id="{BF80C370-547B-4366-8DA8-4917B507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909" y="4569172"/>
            <a:ext cx="86692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4" name="Google Shape;224;p17">
            <a:extLst xmlns:a="http://schemas.openxmlformats.org/drawingml/2006/main">
              <a:ext uri="{FF2B5EF4-FFF2-40B4-BE49-F238E27FC236}">
                <a16:creationId xmlns:a16="http://schemas.microsoft.com/office/drawing/2014/main" id="{A11DFCD6-AE3C-41FC-9561-4CE960046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4833" y="4569172"/>
            <a:ext cx="79325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5" name="Google Shape;225;p17">
            <a:extLst xmlns:a="http://schemas.openxmlformats.org/drawingml/2006/main">
              <a:ext uri="{FF2B5EF4-FFF2-40B4-BE49-F238E27FC236}">
                <a16:creationId xmlns:a16="http://schemas.microsoft.com/office/drawing/2014/main" id="{FBC15133-31BE-4D94-88DA-9D565ADA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1762" y="4912072"/>
            <a:ext cx="724048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6" name="Google Shape;226;p17">
            <a:extLst xmlns:a="http://schemas.openxmlformats.org/drawingml/2006/main">
              <a:ext uri="{FF2B5EF4-FFF2-40B4-BE49-F238E27FC236}">
                <a16:creationId xmlns:a16="http://schemas.microsoft.com/office/drawing/2014/main" id="{FC847C7A-6A30-4CFE-AE5D-A39810BFA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5811" y="4912072"/>
            <a:ext cx="94565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7" name="Google Shape;227;p17">
            <a:extLst xmlns:a="http://schemas.openxmlformats.org/drawingml/2006/main">
              <a:ext uri="{FF2B5EF4-FFF2-40B4-BE49-F238E27FC236}">
                <a16:creationId xmlns:a16="http://schemas.microsoft.com/office/drawing/2014/main" id="{B09C1DF4-65AD-4A79-9077-3BC32E6C8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1465" y="4912072"/>
            <a:ext cx="68952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8" name="Google Shape;228;p17">
            <a:extLst xmlns:a="http://schemas.openxmlformats.org/drawingml/2006/main">
              <a:ext uri="{FF2B5EF4-FFF2-40B4-BE49-F238E27FC236}">
                <a16:creationId xmlns:a16="http://schemas.microsoft.com/office/drawing/2014/main" id="{D801D3B9-29DC-4130-8500-AA2157CD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0985" y="4912072"/>
            <a:ext cx="86692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29" name="Google Shape;229;p17">
            <a:extLst xmlns:a="http://schemas.openxmlformats.org/drawingml/2006/main">
              <a:ext uri="{FF2B5EF4-FFF2-40B4-BE49-F238E27FC236}">
                <a16:creationId xmlns:a16="http://schemas.microsoft.com/office/drawing/2014/main" id="{E610576E-0EDD-4BFA-8B5D-CC0D5F05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7909" y="4912072"/>
            <a:ext cx="86692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230" name="Google Shape;230;p17">
            <a:extLst xmlns:a="http://schemas.openxmlformats.org/drawingml/2006/main">
              <a:ext uri="{FF2B5EF4-FFF2-40B4-BE49-F238E27FC236}">
                <a16:creationId xmlns:a16="http://schemas.microsoft.com/office/drawing/2014/main" id="{307982E0-EB55-44A9-8B03-68A9F69B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4833" y="4912072"/>
            <a:ext cx="793253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76" name="Google Shape;231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d114bea630945f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81334" y="4306356"/>
            <a:ext cx="443850" cy="1905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77" name="Google Shape;232;p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fb3c3e74a424d6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575249" y="4657402"/>
            <a:ext cx="417909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4420146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74" name="Google Shape;23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03e2dad07bb4ad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75" name="Google Shape;238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c934c3d205a429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1025" y="2149822"/>
            <a:ext cx="3517850" cy="2590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76" name="Google Shape;239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3c206f0e003404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337000" y="2149822"/>
            <a:ext cx="3517850" cy="2590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77" name="Google Shape;240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0c31b9a10334bd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092975" y="2149822"/>
            <a:ext cx="3517999" cy="25908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41" name="Google Shape;241;p18">
            <a:extLst xmlns:a="http://schemas.openxmlformats.org/drawingml/2006/main">
              <a:ext uri="{FF2B5EF4-FFF2-40B4-BE49-F238E27FC236}">
                <a16:creationId xmlns:a16="http://schemas.microsoft.com/office/drawing/2014/main" id="{638725E5-6D45-4422-9562-956ED7A46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47650"/>
            <a:ext cx="325755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9CA3AF"/>
                </a:solidFill>
                <a:latin typeface="Fira Code"/>
                <a:ea typeface="Fira Code"/>
                <a:cs typeface="Fira Code"/>
              </a:rPr>
              <a:t>TALENTFLOW AI | REFERENCE-BACKED DESIGN</a:t>
            </a:r>
          </a:p>
        </p:txBody>
      </p:sp>
      <p:sp>
        <p:nvSpPr>
          <p:cNvPr id="242" name="Google Shape;242;p18">
            <a:extLst xmlns:a="http://schemas.openxmlformats.org/drawingml/2006/main">
              <a:ext uri="{FF2B5EF4-FFF2-40B4-BE49-F238E27FC236}">
                <a16:creationId xmlns:a16="http://schemas.microsoft.com/office/drawing/2014/main" id="{2F4BD9C4-60DF-4E8B-8559-3F1A15A6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"/>
            <a:ext cx="11431428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Modern Data Stack: Why This Stack?</a:t>
            </a:r>
          </a:p>
        </p:txBody>
      </p:sp>
      <p:sp>
        <p:nvSpPr>
          <p:cNvPr id="243" name="Google Shape;243;p18">
            <a:extLst xmlns:a="http://schemas.openxmlformats.org/drawingml/2006/main">
              <a:ext uri="{FF2B5EF4-FFF2-40B4-BE49-F238E27FC236}">
                <a16:creationId xmlns:a16="http://schemas.microsoft.com/office/drawing/2014/main" id="{A641C637-8405-48CD-ADF0-84C1D587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85775"/>
            <a:ext cx="47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281" name="Google Shape;244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f762cb4f57e4cd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3900" y="6023669"/>
            <a:ext cx="104775" cy="114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45" name="Google Shape;245;p18">
            <a:extLst xmlns:a="http://schemas.openxmlformats.org/drawingml/2006/main">
              <a:ext uri="{FF2B5EF4-FFF2-40B4-BE49-F238E27FC236}">
                <a16:creationId xmlns:a16="http://schemas.microsoft.com/office/drawing/2014/main" id="{19CE3E15-BFA0-4506-9F82-E3408A64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7947"/>
            <a:ext cx="304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8BDF8"/>
                </a:solidFill>
                <a:latin typeface="Inter"/>
                <a:ea typeface="Inter"/>
                <a:cs typeface="Inter"/>
              </a:rPr>
              <a:t>Orchestration</a:t>
            </a:r>
          </a:p>
        </p:txBody>
      </p:sp>
      <p:sp>
        <p:nvSpPr>
          <p:cNvPr id="246" name="Google Shape;246;p18">
            <a:extLst xmlns:a="http://schemas.openxmlformats.org/drawingml/2006/main">
              <a:ext uri="{FF2B5EF4-FFF2-40B4-BE49-F238E27FC236}">
                <a16:creationId xmlns:a16="http://schemas.microsoft.com/office/drawing/2014/main" id="{F238AB88-AF24-40F1-B2EA-0FEE660F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59422"/>
            <a:ext cx="31936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Prefect Cloud</a:t>
            </a:r>
          </a:p>
        </p:txBody>
      </p:sp>
      <p:sp>
        <p:nvSpPr>
          <p:cNvPr id="247" name="Google Shape;247;p18">
            <a:extLst xmlns:a="http://schemas.openxmlformats.org/drawingml/2006/main">
              <a:ext uri="{FF2B5EF4-FFF2-40B4-BE49-F238E27FC236}">
                <a16:creationId xmlns:a16="http://schemas.microsoft.com/office/drawing/2014/main" id="{210DB9B7-E0D7-4CBE-A375-37721E70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125" y="2387947"/>
            <a:ext cx="3041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10B981"/>
                </a:solidFill>
                <a:latin typeface="Inter"/>
                <a:ea typeface="Inter"/>
                <a:cs typeface="Inter"/>
              </a:rPr>
              <a:t>Compute</a:t>
            </a:r>
          </a:p>
        </p:txBody>
      </p:sp>
      <p:sp>
        <p:nvSpPr>
          <p:cNvPr id="248" name="Google Shape;248;p18">
            <a:extLst xmlns:a="http://schemas.openxmlformats.org/drawingml/2006/main">
              <a:ext uri="{FF2B5EF4-FFF2-40B4-BE49-F238E27FC236}">
                <a16:creationId xmlns:a16="http://schemas.microsoft.com/office/drawing/2014/main" id="{CB48C80F-C8FA-4430-9745-DDE68EB3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125" y="2759422"/>
            <a:ext cx="319368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DuckDB</a:t>
            </a:r>
          </a:p>
        </p:txBody>
      </p:sp>
      <p:sp>
        <p:nvSpPr>
          <p:cNvPr id="249" name="Google Shape;249;p18">
            <a:extLst xmlns:a="http://schemas.openxmlformats.org/drawingml/2006/main">
              <a:ext uri="{FF2B5EF4-FFF2-40B4-BE49-F238E27FC236}">
                <a16:creationId xmlns:a16="http://schemas.microsoft.com/office/drawing/2014/main" id="{BB144FBD-B1F0-4B5E-A989-672D0375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100" y="2387947"/>
            <a:ext cx="3041749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38BDF8"/>
                </a:solidFill>
                <a:latin typeface="Inter"/>
                <a:ea typeface="Inter"/>
                <a:cs typeface="Inter"/>
              </a:rPr>
              <a:t>Storage</a:t>
            </a:r>
          </a:p>
        </p:txBody>
      </p:sp>
      <p:sp>
        <p:nvSpPr>
          <p:cNvPr id="250" name="Google Shape;250;p18">
            <a:extLst xmlns:a="http://schemas.openxmlformats.org/drawingml/2006/main">
              <a:ext uri="{FF2B5EF4-FFF2-40B4-BE49-F238E27FC236}">
                <a16:creationId xmlns:a16="http://schemas.microsoft.com/office/drawing/2014/main" id="{94E25D13-BD6E-494E-BB39-161BCF58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100" y="2759422"/>
            <a:ext cx="319383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800" b="1" i="0" u="non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Azure ADLS Gen2</a:t>
            </a:r>
          </a:p>
        </p:txBody>
      </p:sp>
      <p:pic>
        <p:nvPicPr>
          <p:cNvPr id="288" name="Google Shape;251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31ec8ff6b36420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632150" y="2387947"/>
            <a:ext cx="22860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2" name="Google Shape;252;p18">
            <a:extLst xmlns:a="http://schemas.openxmlformats.org/drawingml/2006/main">
              <a:ext uri="{FF2B5EF4-FFF2-40B4-BE49-F238E27FC236}">
                <a16:creationId xmlns:a16="http://schemas.microsoft.com/office/drawing/2014/main" id="{C281A48A-6CC5-422C-BF50-DD9A04A59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88047"/>
            <a:ext cx="2851100" cy="720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D1D5DB"/>
                </a:solidFill>
                <a:latin typeface="Inter"/>
                <a:ea typeface="Inter"/>
                <a:cs typeface="Inter"/>
              </a:rPr>
              <a:t>Compared with manual scripts, Prefect gives scheduled runs, task visibility, retries, and Cloud UI evidence.</a:t>
            </a:r>
          </a:p>
        </p:txBody>
      </p:sp>
      <p:sp>
        <p:nvSpPr>
          <p:cNvPr id="253" name="Google Shape;253;p18">
            <a:extLst xmlns:a="http://schemas.openxmlformats.org/drawingml/2006/main">
              <a:ext uri="{FF2B5EF4-FFF2-40B4-BE49-F238E27FC236}">
                <a16:creationId xmlns:a16="http://schemas.microsoft.com/office/drawing/2014/main" id="{A81AD854-15C3-4CDB-A664-5747A2DCE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02422"/>
            <a:ext cx="28511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D1D5DB"/>
                </a:solidFill>
                <a:latin typeface="Inter"/>
                <a:ea typeface="Inter"/>
                <a:cs typeface="Inter"/>
              </a:rPr>
              <a:t>The 2-minute demo schedule proves repeated ELT loads without manually starting every step.</a:t>
            </a:r>
          </a:p>
        </p:txBody>
      </p:sp>
      <p:pic>
        <p:nvPicPr>
          <p:cNvPr id="291" name="Google Shape;254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11e7fb872d34aa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416700" y="2387947"/>
            <a:ext cx="200025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5" name="Google Shape;255;p18">
            <a:extLst xmlns:a="http://schemas.openxmlformats.org/drawingml/2006/main">
              <a:ext uri="{FF2B5EF4-FFF2-40B4-BE49-F238E27FC236}">
                <a16:creationId xmlns:a16="http://schemas.microsoft.com/office/drawing/2014/main" id="{B4DEE6B5-B4DC-435C-8641-7E0DB7510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5625" y="3188047"/>
            <a:ext cx="2851100" cy="720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D1D5DB"/>
                </a:solidFill>
                <a:latin typeface="Inter"/>
                <a:ea typeface="Inter"/>
                <a:cs typeface="Inter"/>
              </a:rPr>
              <a:t>Compared with querying only OLTP, DuckDB reads Parquet directly and keeps analytics separate from app traffic.</a:t>
            </a:r>
          </a:p>
        </p:txBody>
      </p:sp>
      <p:sp>
        <p:nvSpPr>
          <p:cNvPr id="256" name="Google Shape;256;p18">
            <a:extLst xmlns:a="http://schemas.openxmlformats.org/drawingml/2006/main">
              <a:ext uri="{FF2B5EF4-FFF2-40B4-BE49-F238E27FC236}">
                <a16:creationId xmlns:a16="http://schemas.microsoft.com/office/drawing/2014/main" id="{16FA8028-1077-4C9B-ACA7-0CEEAED9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5625" y="3902422"/>
            <a:ext cx="2851100" cy="720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D1D5DB"/>
                </a:solidFill>
                <a:latin typeface="Inter"/>
                <a:ea typeface="Inter"/>
                <a:cs typeface="Inter"/>
              </a:rPr>
              <a:t>This supports Kimball-style business marts while keeping transformation logic lightweight and reproducible.</a:t>
            </a:r>
          </a:p>
        </p:txBody>
      </p:sp>
      <p:pic>
        <p:nvPicPr>
          <p:cNvPr id="294" name="Google Shape;257;p1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7e8f34ef8dd484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1087100" y="2387947"/>
            <a:ext cx="285750" cy="228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58" name="Google Shape;258;p18">
            <a:extLst xmlns:a="http://schemas.openxmlformats.org/drawingml/2006/main">
              <a:ext uri="{FF2B5EF4-FFF2-40B4-BE49-F238E27FC236}">
                <a16:creationId xmlns:a16="http://schemas.microsoft.com/office/drawing/2014/main" id="{2A144BE5-7332-42DB-90EB-1FC7905A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600" y="3188047"/>
            <a:ext cx="2851249" cy="720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D1D5DB"/>
                </a:solidFill>
                <a:latin typeface="Inter"/>
                <a:ea typeface="Inter"/>
                <a:cs typeface="Inter"/>
              </a:rPr>
              <a:t>Compared with flat local files, Azure storage supports cloud-scale lakehouse folders and versioned Parquet.</a:t>
            </a:r>
          </a:p>
        </p:txBody>
      </p:sp>
      <p:sp>
        <p:nvSpPr>
          <p:cNvPr id="259" name="Google Shape;259;p18">
            <a:extLst xmlns:a="http://schemas.openxmlformats.org/drawingml/2006/main">
              <a:ext uri="{FF2B5EF4-FFF2-40B4-BE49-F238E27FC236}">
                <a16:creationId xmlns:a16="http://schemas.microsoft.com/office/drawing/2014/main" id="{D132039A-091B-4601-96DA-C7EBE666E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1600" y="3902422"/>
            <a:ext cx="2851249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D1D5DB"/>
                </a:solidFill>
                <a:latin typeface="Inter"/>
                <a:ea typeface="Inter"/>
                <a:cs typeface="Inter"/>
              </a:rPr>
              <a:t>Bronze/Silver/Gold design aligns with medallion architecture and Azure data lake patterns.</a:t>
            </a:r>
          </a:p>
        </p:txBody>
      </p:sp>
      <p:sp>
        <p:nvSpPr>
          <p:cNvPr id="260" name="Google Shape;260;p18">
            <a:extLst xmlns:a="http://schemas.openxmlformats.org/drawingml/2006/main">
              <a:ext uri="{FF2B5EF4-FFF2-40B4-BE49-F238E27FC236}">
                <a16:creationId xmlns:a16="http://schemas.microsoft.com/office/drawing/2014/main" id="{25300165-AFC3-461A-905B-68CE1C5FC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8047"/>
            <a:ext cx="1333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10B981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61" name="Google Shape;261;p18">
            <a:extLst xmlns:a="http://schemas.openxmlformats.org/drawingml/2006/main">
              <a:ext uri="{FF2B5EF4-FFF2-40B4-BE49-F238E27FC236}">
                <a16:creationId xmlns:a16="http://schemas.microsoft.com/office/drawing/2014/main" id="{F79F97FC-3079-4FF7-8206-DE632BC34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902422"/>
            <a:ext cx="1333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10B981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62" name="Google Shape;262;p18">
            <a:extLst xmlns:a="http://schemas.openxmlformats.org/drawingml/2006/main">
              <a:ext uri="{FF2B5EF4-FFF2-40B4-BE49-F238E27FC236}">
                <a16:creationId xmlns:a16="http://schemas.microsoft.com/office/drawing/2014/main" id="{FA494531-AD94-4C5A-BDFF-ED9BF5E1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125" y="3188047"/>
            <a:ext cx="1333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10B981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63" name="Google Shape;263;p18">
            <a:extLst xmlns:a="http://schemas.openxmlformats.org/drawingml/2006/main">
              <a:ext uri="{FF2B5EF4-FFF2-40B4-BE49-F238E27FC236}">
                <a16:creationId xmlns:a16="http://schemas.microsoft.com/office/drawing/2014/main" id="{102FAA9A-0969-4730-9886-790C77EA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5125" y="3902422"/>
            <a:ext cx="1333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10B981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64" name="Google Shape;264;p18">
            <a:extLst xmlns:a="http://schemas.openxmlformats.org/drawingml/2006/main">
              <a:ext uri="{FF2B5EF4-FFF2-40B4-BE49-F238E27FC236}">
                <a16:creationId xmlns:a16="http://schemas.microsoft.com/office/drawing/2014/main" id="{F577E951-130E-4426-927F-B72BDA2E5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100" y="3188047"/>
            <a:ext cx="1333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10B981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  <p:sp>
        <p:nvSpPr>
          <p:cNvPr id="265" name="Google Shape;265;p18">
            <a:extLst xmlns:a="http://schemas.openxmlformats.org/drawingml/2006/main">
              <a:ext uri="{FF2B5EF4-FFF2-40B4-BE49-F238E27FC236}">
                <a16:creationId xmlns:a16="http://schemas.microsoft.com/office/drawing/2014/main" id="{E1D89D00-C2EE-454B-8B3B-12BC3D8F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1100" y="3902422"/>
            <a:ext cx="133350" cy="2400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10B981"/>
                </a:solidFill>
                <a:latin typeface="Inter"/>
                <a:ea typeface="Inter"/>
                <a:cs typeface="Inter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26221783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13" name="Google Shape;270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8186ee1cd304fd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14" name="Google Shape;271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bb340c6e36b4dd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1025" y="1853505"/>
            <a:ext cx="4883646" cy="3343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15" name="Google Shape;272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ddf4c5d1615463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750421" y="1853505"/>
            <a:ext cx="5860405" cy="33432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16" name="Google Shape;273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f328b27fcba452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9150" y="4568130"/>
            <a:ext cx="4407396" cy="3905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17" name="Google Shape;274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d9d08ebf960423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988546" y="2996505"/>
            <a:ext cx="5384155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18" name="Google Shape;275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1ffc2ddaef64b0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988546" y="3510855"/>
            <a:ext cx="5384155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19" name="Google Shape;276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b64e79955da470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988546" y="4025205"/>
            <a:ext cx="5384155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20" name="Google Shape;277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fcb16a35b084f3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988546" y="4539555"/>
            <a:ext cx="5384155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21" name="Google Shape;278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b11f0bf930b42e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31421" y="3101280"/>
            <a:ext cx="209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22" name="Google Shape;279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a25f5f3c410426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31421" y="3615630"/>
            <a:ext cx="209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23" name="Google Shape;280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d0d48ea752cd49a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31421" y="4129980"/>
            <a:ext cx="209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24" name="Google Shape;281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ec6f43e43b543f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31421" y="4644330"/>
            <a:ext cx="20955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82" name="Google Shape;282;p19">
            <a:extLst xmlns:a="http://schemas.openxmlformats.org/drawingml/2006/main">
              <a:ext uri="{FF2B5EF4-FFF2-40B4-BE49-F238E27FC236}">
                <a16:creationId xmlns:a16="http://schemas.microsoft.com/office/drawing/2014/main" id="{A43936C8-90D2-4FB7-A411-7EEF631A1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7650"/>
            <a:ext cx="3086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9CA3AF"/>
                </a:solidFill>
                <a:latin typeface="Fira Code"/>
                <a:ea typeface="Fira Code"/>
                <a:cs typeface="Fira Code"/>
              </a:rPr>
              <a:t>TALENTFLOW AI | AI ENGINEERING LAYER</a:t>
            </a:r>
          </a:p>
        </p:txBody>
      </p:sp>
      <p:sp>
        <p:nvSpPr>
          <p:cNvPr id="283" name="Google Shape;283;p19">
            <a:extLst xmlns:a="http://schemas.openxmlformats.org/drawingml/2006/main">
              <a:ext uri="{FF2B5EF4-FFF2-40B4-BE49-F238E27FC236}">
                <a16:creationId xmlns:a16="http://schemas.microsoft.com/office/drawing/2014/main" id="{A69E2D50-3FF4-4370-920E-6C0E6832D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"/>
            <a:ext cx="11431428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AI &amp; Predictive Intelligence</a:t>
            </a:r>
          </a:p>
        </p:txBody>
      </p:sp>
      <p:sp>
        <p:nvSpPr>
          <p:cNvPr id="284" name="Google Shape;284;p19">
            <a:extLst xmlns:a="http://schemas.openxmlformats.org/drawingml/2006/main">
              <a:ext uri="{FF2B5EF4-FFF2-40B4-BE49-F238E27FC236}">
                <a16:creationId xmlns:a16="http://schemas.microsoft.com/office/drawing/2014/main" id="{D62A43A9-D1C0-4381-85B8-D64D21E76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85775"/>
            <a:ext cx="47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28" name="Google Shape;285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652c0d129eb486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3900" y="6183659"/>
            <a:ext cx="104775" cy="114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86" name="Google Shape;286;p19">
            <a:extLst xmlns:a="http://schemas.openxmlformats.org/drawingml/2006/main">
              <a:ext uri="{FF2B5EF4-FFF2-40B4-BE49-F238E27FC236}">
                <a16:creationId xmlns:a16="http://schemas.microsoft.com/office/drawing/2014/main" id="{3B6E2E3F-0069-42A6-B6D0-6351CF536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546" y="2091630"/>
            <a:ext cx="5653362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6670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 u="none" cap="none">
                <a:solidFill>
                  <a:srgbClr val="10B981"/>
                </a:solidFill>
                <a:latin typeface="Plus Jakarta Sans"/>
                <a:ea typeface="Plus Jakarta Sans"/>
                <a:cs typeface="Plus Jakarta Sans"/>
              </a:rPr>
              <a:t>Conversational Analytics (Planned)</a:t>
            </a:r>
          </a:p>
        </p:txBody>
      </p:sp>
      <p:sp>
        <p:nvSpPr>
          <p:cNvPr id="287" name="Google Shape;287;p19">
            <a:extLst xmlns:a="http://schemas.openxmlformats.org/drawingml/2006/main">
              <a:ext uri="{FF2B5EF4-FFF2-40B4-BE49-F238E27FC236}">
                <a16:creationId xmlns:a16="http://schemas.microsoft.com/office/drawing/2014/main" id="{67661458-1A0C-4023-8199-AD30F62CD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8546" y="2453580"/>
            <a:ext cx="5384155" cy="48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 b="0" i="0" u="none" cap="none">
                <a:solidFill>
                  <a:srgbClr val="D1D5DB"/>
                </a:solidFill>
                <a:latin typeface="Inter"/>
                <a:ea typeface="Inter"/>
                <a:cs typeface="Inter"/>
              </a:rPr>
              <a:t>The Text-to-SQL layer will translate recruiter questions into governed SQL over Gold tables, using LLM foundations from Transformer research.</a:t>
            </a:r>
          </a:p>
        </p:txBody>
      </p:sp>
      <p:sp>
        <p:nvSpPr>
          <p:cNvPr id="288" name="Google Shape;288;p19">
            <a:extLst xmlns:a="http://schemas.openxmlformats.org/drawingml/2006/main">
              <a:ext uri="{FF2B5EF4-FFF2-40B4-BE49-F238E27FC236}">
                <a16:creationId xmlns:a16="http://schemas.microsoft.com/office/drawing/2014/main" id="{812FAE38-81D8-4B95-A4B2-CAAC89B8D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91630"/>
            <a:ext cx="462776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238125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 u="non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</a:rPr>
              <a:t>Predictive Engine</a:t>
            </a:r>
          </a:p>
        </p:txBody>
      </p:sp>
      <p:pic>
        <p:nvPicPr>
          <p:cNvPr id="332" name="Google Shape;289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b8b6651d64b41d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988546" y="2129730"/>
            <a:ext cx="266700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33" name="Google Shape;290;p1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102b56e42c3461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19150" y="2129730"/>
            <a:ext cx="238125" cy="2095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91" name="Google Shape;291;p19">
            <a:extLst xmlns:a="http://schemas.openxmlformats.org/drawingml/2006/main">
              <a:ext uri="{FF2B5EF4-FFF2-40B4-BE49-F238E27FC236}">
                <a16:creationId xmlns:a16="http://schemas.microsoft.com/office/drawing/2014/main" id="{9615BF8A-CF5E-46B7-94D6-6325F92D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72630"/>
            <a:ext cx="4121646" cy="514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 u="none" cap="none">
                <a:solidFill>
                  <a:srgbClr val="E5E7EB"/>
                </a:solidFill>
                <a:latin typeface="Inter"/>
                <a:ea typeface="Inter"/>
                <a:cs typeface="Inter"/>
              </a:rPr>
              <a:t>Goal: estimate recruitment outcome signals such as candidate conversion, decision probability, or quality indicators.</a:t>
            </a:r>
          </a:p>
        </p:txBody>
      </p:sp>
      <p:sp>
        <p:nvSpPr>
          <p:cNvPr id="292" name="Google Shape;292;p19">
            <a:extLst xmlns:a="http://schemas.openxmlformats.org/drawingml/2006/main">
              <a:ext uri="{FF2B5EF4-FFF2-40B4-BE49-F238E27FC236}">
                <a16:creationId xmlns:a16="http://schemas.microsoft.com/office/drawing/2014/main" id="{6CD9EC6A-D8F2-4074-996F-E2D6C308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44130"/>
            <a:ext cx="4121646" cy="642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 u="none" cap="none">
                <a:solidFill>
                  <a:srgbClr val="E5E7EB"/>
                </a:solidFill>
                <a:latin typeface="Inter"/>
                <a:ea typeface="Inter"/>
                <a:cs typeface="Inter"/>
              </a:rPr>
              <a:t>Features: engagement activity, role fit, salary gap, experience band, feedback ratings, and funnel-stage behaviour.</a:t>
            </a:r>
          </a:p>
        </p:txBody>
      </p:sp>
      <p:sp>
        <p:nvSpPr>
          <p:cNvPr id="293" name="Google Shape;293;p19">
            <a:extLst xmlns:a="http://schemas.openxmlformats.org/drawingml/2006/main">
              <a:ext uri="{FF2B5EF4-FFF2-40B4-BE49-F238E27FC236}">
                <a16:creationId xmlns:a16="http://schemas.microsoft.com/office/drawing/2014/main" id="{22B6B872-BA3E-4652-8F28-20557D0E2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29942"/>
            <a:ext cx="4121646" cy="5141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5" b="1" i="0" u="none" cap="none">
                <a:solidFill>
                  <a:srgbClr val="E5E7EB"/>
                </a:solidFill>
                <a:latin typeface="Inter"/>
                <a:ea typeface="Inter"/>
                <a:cs typeface="Inter"/>
              </a:rPr>
              <a:t>Current baseline: Random Forest via scikit-learn because it is robust, interpretable, and suitable for tabular data.</a:t>
            </a:r>
          </a:p>
        </p:txBody>
      </p:sp>
      <p:sp>
        <p:nvSpPr>
          <p:cNvPr id="294" name="Google Shape;294;p19">
            <a:extLst xmlns:a="http://schemas.openxmlformats.org/drawingml/2006/main">
              <a:ext uri="{FF2B5EF4-FFF2-40B4-BE49-F238E27FC236}">
                <a16:creationId xmlns:a16="http://schemas.microsoft.com/office/drawing/2014/main" id="{105C69BF-D3DC-4057-96E8-9BFC9723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271" y="3129855"/>
            <a:ext cx="4743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 i="0" u="none" cap="none">
                <a:solidFill>
                  <a:srgbClr val="F3F4F6"/>
                </a:solidFill>
                <a:latin typeface="Inter"/>
                <a:ea typeface="Inter"/>
                <a:cs typeface="Inter"/>
              </a:rPr>
              <a:t>Recruiter asks: "Which candidates are strongest for this role?"</a:t>
            </a:r>
          </a:p>
        </p:txBody>
      </p:sp>
      <p:sp>
        <p:nvSpPr>
          <p:cNvPr id="295" name="Google Shape;295;p19">
            <a:extLst xmlns:a="http://schemas.openxmlformats.org/drawingml/2006/main">
              <a:ext uri="{FF2B5EF4-FFF2-40B4-BE49-F238E27FC236}">
                <a16:creationId xmlns:a16="http://schemas.microsoft.com/office/drawing/2014/main" id="{2EAEF3D7-E932-40CD-8EB1-1BBA27F5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271" y="3644205"/>
            <a:ext cx="3257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 i="0" u="none" cap="none">
                <a:solidFill>
                  <a:srgbClr val="F3F4F6"/>
                </a:solidFill>
                <a:latin typeface="Inter"/>
                <a:ea typeface="Inter"/>
                <a:cs typeface="Inter"/>
              </a:rPr>
              <a:t>LLM interprets intent, entities, and filters.</a:t>
            </a:r>
          </a:p>
        </p:txBody>
      </p:sp>
      <p:sp>
        <p:nvSpPr>
          <p:cNvPr id="296" name="Google Shape;296;p19">
            <a:extLst xmlns:a="http://schemas.openxmlformats.org/drawingml/2006/main">
              <a:ext uri="{FF2B5EF4-FFF2-40B4-BE49-F238E27FC236}">
                <a16:creationId xmlns:a16="http://schemas.microsoft.com/office/drawing/2014/main" id="{0BFDB836-F969-473A-8FDE-B7CB0C56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271" y="4158555"/>
            <a:ext cx="347662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 i="0" u="none" cap="none">
                <a:solidFill>
                  <a:srgbClr val="F3F4F6"/>
                </a:solidFill>
                <a:latin typeface="Inter"/>
                <a:ea typeface="Inter"/>
                <a:cs typeface="Inter"/>
              </a:rPr>
              <a:t>Text-to-SQL agent generates a controlled SQL query.</a:t>
            </a:r>
          </a:p>
        </p:txBody>
      </p:sp>
      <p:sp>
        <p:nvSpPr>
          <p:cNvPr id="297" name="Google Shape;297;p19">
            <a:extLst xmlns:a="http://schemas.openxmlformats.org/drawingml/2006/main">
              <a:ext uri="{FF2B5EF4-FFF2-40B4-BE49-F238E27FC236}">
                <a16:creationId xmlns:a16="http://schemas.microsoft.com/office/drawing/2014/main" id="{8BC50FAF-E95D-4B43-93CC-711F98D2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5271" y="4672905"/>
            <a:ext cx="4057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75" b="1" i="0" u="none" cap="none">
                <a:solidFill>
                  <a:srgbClr val="F3F4F6"/>
                </a:solidFill>
                <a:latin typeface="Inter"/>
                <a:ea typeface="Inter"/>
                <a:cs typeface="Inter"/>
              </a:rPr>
              <a:t>Gold tables return auditable results and explanation-ready KPIs.</a:t>
            </a:r>
          </a:p>
        </p:txBody>
      </p:sp>
    </p:spTree>
    <p:extLst>
      <p:ext uri="{BB962C8B-B14F-4D97-AF65-F5344CB8AC3E}">
        <p14:creationId xmlns:p14="http://schemas.microsoft.com/office/powerpoint/2010/main" val="84057491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8" name="Google Shape;302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c89a75e057541be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39" name="Google Shape;303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96085e743ab4d8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1025" y="2454771"/>
            <a:ext cx="2614612" cy="214074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40" name="Google Shape;304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96085e743ab4d8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86137" y="2454771"/>
            <a:ext cx="2614612" cy="214074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41" name="Google Shape;305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96085e743ab4d8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91250" y="2454771"/>
            <a:ext cx="2614612" cy="214074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42" name="Google Shape;306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d024920d4fc49e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996362" y="2454771"/>
            <a:ext cx="2614612" cy="214074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07" name="Google Shape;307;p20">
            <a:extLst xmlns:a="http://schemas.openxmlformats.org/drawingml/2006/main">
              <a:ext uri="{FF2B5EF4-FFF2-40B4-BE49-F238E27FC236}">
                <a16:creationId xmlns:a16="http://schemas.microsoft.com/office/drawing/2014/main" id="{60A60964-F5EC-4D2E-B3BE-1BD467886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47650"/>
            <a:ext cx="30003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9CA3AF"/>
                </a:solidFill>
                <a:latin typeface="Fira Code"/>
                <a:ea typeface="Fira Code"/>
                <a:cs typeface="Fira Code"/>
              </a:rPr>
              <a:t>TALENTFLOW AI | PORTAL ENVIRONMENTS</a:t>
            </a:r>
          </a:p>
        </p:txBody>
      </p:sp>
      <p:sp>
        <p:nvSpPr>
          <p:cNvPr id="308" name="Google Shape;308;p20">
            <a:extLst xmlns:a="http://schemas.openxmlformats.org/drawingml/2006/main">
              <a:ext uri="{FF2B5EF4-FFF2-40B4-BE49-F238E27FC236}">
                <a16:creationId xmlns:a16="http://schemas.microsoft.com/office/drawing/2014/main" id="{A6C1C43A-335A-4BF5-90C8-99C8A7CA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"/>
            <a:ext cx="11431428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Role-Based Product Ecosystem</a:t>
            </a:r>
          </a:p>
        </p:txBody>
      </p:sp>
      <p:sp>
        <p:nvSpPr>
          <p:cNvPr id="309" name="Google Shape;309;p20">
            <a:extLst xmlns:a="http://schemas.openxmlformats.org/drawingml/2006/main">
              <a:ext uri="{FF2B5EF4-FFF2-40B4-BE49-F238E27FC236}">
                <a16:creationId xmlns:a16="http://schemas.microsoft.com/office/drawing/2014/main" id="{64FF4A80-2DA6-4511-9E9F-59824D4FE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85775"/>
            <a:ext cx="47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46" name="Google Shape;310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a00dcb0c6054e8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3900" y="6183659"/>
            <a:ext cx="104775" cy="114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11" name="Google Shape;311;p20">
            <a:extLst xmlns:a="http://schemas.openxmlformats.org/drawingml/2006/main">
              <a:ext uri="{FF2B5EF4-FFF2-40B4-BE49-F238E27FC236}">
                <a16:creationId xmlns:a16="http://schemas.microsoft.com/office/drawing/2014/main" id="{054087E1-A428-4D85-AD29-CD0E0D58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164609"/>
            <a:ext cx="10077450" cy="192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cap="none">
                <a:solidFill>
                  <a:srgbClr val="9CA3AF"/>
                </a:solidFill>
                <a:latin typeface="Inter"/>
                <a:ea typeface="Inter"/>
                <a:cs typeface="Inter"/>
              </a:rPr>
              <a:t>Presenter Notes: "The application layer is deliberately role-based. Each portal creates operational events that later become analytical signals in the lakehouse."</a:t>
            </a:r>
          </a:p>
        </p:txBody>
      </p:sp>
      <p:pic>
        <p:nvPicPr>
          <p:cNvPr id="348" name="Google Shape;312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11ae07b7b16465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26393" y="2673846"/>
            <a:ext cx="523875" cy="523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13" name="Google Shape;313;p20">
            <a:extLst xmlns:a="http://schemas.openxmlformats.org/drawingml/2006/main">
              <a:ext uri="{FF2B5EF4-FFF2-40B4-BE49-F238E27FC236}">
                <a16:creationId xmlns:a16="http://schemas.microsoft.com/office/drawing/2014/main" id="{2C94A2E7-F9A4-4A71-92DD-2BADEAC87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" y="3359646"/>
            <a:ext cx="1380172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 u="non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Candidate Portal</a:t>
            </a:r>
          </a:p>
        </p:txBody>
      </p:sp>
      <p:sp>
        <p:nvSpPr>
          <p:cNvPr id="314" name="Google Shape;314;p20">
            <a:extLst xmlns:a="http://schemas.openxmlformats.org/drawingml/2006/main">
              <a:ext uri="{FF2B5EF4-FFF2-40B4-BE49-F238E27FC236}">
                <a16:creationId xmlns:a16="http://schemas.microsoft.com/office/drawing/2014/main" id="{68AA34A6-E2B4-429A-BD44-B9ECA663E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683496"/>
            <a:ext cx="2176462" cy="692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75" b="0" i="0" u="none" cap="none">
                <a:solidFill>
                  <a:srgbClr val="9CA3AF"/>
                </a:solidFill>
                <a:latin typeface="Inter"/>
                <a:ea typeface="Inter"/>
                <a:cs typeface="Inter"/>
              </a:rPr>
              <a:t>Supports registration, profile capture, login behaviour, and candidate-side interaction data.</a:t>
            </a:r>
          </a:p>
        </p:txBody>
      </p:sp>
      <p:pic>
        <p:nvPicPr>
          <p:cNvPr id="351" name="Google Shape;315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466e15fcc55d487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431506" y="2673846"/>
            <a:ext cx="523875" cy="523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16" name="Google Shape;316;p20">
            <a:extLst xmlns:a="http://schemas.openxmlformats.org/drawingml/2006/main">
              <a:ext uri="{FF2B5EF4-FFF2-40B4-BE49-F238E27FC236}">
                <a16:creationId xmlns:a16="http://schemas.microsoft.com/office/drawing/2014/main" id="{D291E871-7231-45CF-BF99-DBF27A18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353" y="3359646"/>
            <a:ext cx="1450181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 u="non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Interviewer Portal</a:t>
            </a:r>
          </a:p>
        </p:txBody>
      </p:sp>
      <p:sp>
        <p:nvSpPr>
          <p:cNvPr id="317" name="Google Shape;317;p20">
            <a:extLst xmlns:a="http://schemas.openxmlformats.org/drawingml/2006/main">
              <a:ext uri="{FF2B5EF4-FFF2-40B4-BE49-F238E27FC236}">
                <a16:creationId xmlns:a16="http://schemas.microsoft.com/office/drawing/2014/main" id="{ABABDD3C-2A86-47CA-BF73-3BA87A01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2" y="3683496"/>
            <a:ext cx="2176462" cy="623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75" b="0" i="0" u="none" cap="none">
                <a:solidFill>
                  <a:srgbClr val="9CA3AF"/>
                </a:solidFill>
                <a:latin typeface="Inter"/>
                <a:ea typeface="Inter"/>
                <a:cs typeface="Inter"/>
              </a:rPr>
              <a:t>Captures interview schedules, structured feedback, ratings, and decision-support inputs.</a:t>
            </a:r>
          </a:p>
        </p:txBody>
      </p:sp>
      <p:pic>
        <p:nvPicPr>
          <p:cNvPr id="354" name="Google Shape;318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ff7a25e5b8c4200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36618" y="2673846"/>
            <a:ext cx="523875" cy="523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19" name="Google Shape;319;p20">
            <a:extLst xmlns:a="http://schemas.openxmlformats.org/drawingml/2006/main">
              <a:ext uri="{FF2B5EF4-FFF2-40B4-BE49-F238E27FC236}">
                <a16:creationId xmlns:a16="http://schemas.microsoft.com/office/drawing/2014/main" id="{E70F28B3-3E23-4B9E-A1D6-A0F1BDCF2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8482" y="3359646"/>
            <a:ext cx="1180147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 u="non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Admin Center</a:t>
            </a:r>
          </a:p>
        </p:txBody>
      </p:sp>
      <p:sp>
        <p:nvSpPr>
          <p:cNvPr id="320" name="Google Shape;320;p20">
            <a:extLst xmlns:a="http://schemas.openxmlformats.org/drawingml/2006/main">
              <a:ext uri="{FF2B5EF4-FFF2-40B4-BE49-F238E27FC236}">
                <a16:creationId xmlns:a16="http://schemas.microsoft.com/office/drawing/2014/main" id="{6C73D55F-7CD3-4055-8C74-977B2F9E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683496"/>
            <a:ext cx="2176462" cy="623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75" b="0" i="0" u="none" cap="none">
                <a:solidFill>
                  <a:srgbClr val="9CA3AF"/>
                </a:solidFill>
                <a:latin typeface="Inter"/>
                <a:ea typeface="Inter"/>
                <a:cs typeface="Inter"/>
              </a:rPr>
              <a:t>Manages users, recruitment operations, dashboards, and visibility into ETL and Gold KPIs.</a:t>
            </a:r>
          </a:p>
        </p:txBody>
      </p:sp>
      <p:pic>
        <p:nvPicPr>
          <p:cNvPr id="357" name="Google Shape;321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c32fddff640446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041731" y="2673846"/>
            <a:ext cx="523875" cy="5238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22" name="Google Shape;322;p20">
            <a:extLst xmlns:a="http://schemas.openxmlformats.org/drawingml/2006/main">
              <a:ext uri="{FF2B5EF4-FFF2-40B4-BE49-F238E27FC236}">
                <a16:creationId xmlns:a16="http://schemas.microsoft.com/office/drawing/2014/main" id="{027D5567-4BD8-40E5-ABBB-B62955195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8605" y="3359646"/>
            <a:ext cx="1010126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75" b="1" i="0" u="non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Governance</a:t>
            </a:r>
          </a:p>
        </p:txBody>
      </p:sp>
      <p:sp>
        <p:nvSpPr>
          <p:cNvPr id="323" name="Google Shape;323;p20">
            <a:extLst xmlns:a="http://schemas.openxmlformats.org/drawingml/2006/main">
              <a:ext uri="{FF2B5EF4-FFF2-40B4-BE49-F238E27FC236}">
                <a16:creationId xmlns:a16="http://schemas.microsoft.com/office/drawing/2014/main" id="{DC4671ED-DA07-497B-8AB0-5D9CD2DE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5437" y="3683496"/>
            <a:ext cx="2176462" cy="6236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75" b="0" i="0" u="none" cap="none">
                <a:solidFill>
                  <a:srgbClr val="9CA3AF"/>
                </a:solidFill>
                <a:latin typeface="Inter"/>
                <a:ea typeface="Inter"/>
                <a:cs typeface="Inter"/>
              </a:rPr>
              <a:t>Separates PII, applies encrypted Silver processing, and prepares for stronger RBAC and audit controls.</a:t>
            </a:r>
          </a:p>
        </p:txBody>
      </p:sp>
      <p:pic>
        <p:nvPicPr>
          <p:cNvPr id="360" name="Google Shape;324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c31d3ddeabd48e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769268" y="2802433"/>
            <a:ext cx="238125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61" name="Google Shape;325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1fa34432a614ee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593431" y="2802433"/>
            <a:ext cx="200025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62" name="Google Shape;326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9fe707bef8949e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65206" y="2802433"/>
            <a:ext cx="2667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63" name="Google Shape;327;p2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e6a04ebb865423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170318" y="2802433"/>
            <a:ext cx="266700" cy="266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7597376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64" name="Google Shape;332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65d52f0da544215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65" name="Google Shape;333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96ef281cf6f4574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727180" y="2457598"/>
            <a:ext cx="4883646" cy="197524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4" name="Google Shape;334;p21">
            <a:extLst xmlns:a="http://schemas.openxmlformats.org/drawingml/2006/main">
              <a:ext uri="{FF2B5EF4-FFF2-40B4-BE49-F238E27FC236}">
                <a16:creationId xmlns:a16="http://schemas.microsoft.com/office/drawing/2014/main" id="{D1CA4821-7610-43BA-A4B2-0044AEB59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7650"/>
            <a:ext cx="30861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9CA3AF"/>
                </a:solidFill>
                <a:latin typeface="Fira Code"/>
                <a:ea typeface="Fira Code"/>
                <a:cs typeface="Fira Code"/>
              </a:rPr>
              <a:t>TALENTFLOW AI | MID-TERM PROGRESS</a:t>
            </a:r>
          </a:p>
        </p:txBody>
      </p:sp>
      <p:sp>
        <p:nvSpPr>
          <p:cNvPr id="335" name="Google Shape;335;p21">
            <a:extLst xmlns:a="http://schemas.openxmlformats.org/drawingml/2006/main">
              <a:ext uri="{FF2B5EF4-FFF2-40B4-BE49-F238E27FC236}">
                <a16:creationId xmlns:a16="http://schemas.microsoft.com/office/drawing/2014/main" id="{F8859FF1-9B53-41A0-B91A-9D14357A0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"/>
            <a:ext cx="11431428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Current Progress (Proof of Concept)</a:t>
            </a:r>
          </a:p>
        </p:txBody>
      </p:sp>
      <p:sp>
        <p:nvSpPr>
          <p:cNvPr id="336" name="Google Shape;336;p21">
            <a:extLst xmlns:a="http://schemas.openxmlformats.org/drawingml/2006/main">
              <a:ext uri="{FF2B5EF4-FFF2-40B4-BE49-F238E27FC236}">
                <a16:creationId xmlns:a16="http://schemas.microsoft.com/office/drawing/2014/main" id="{761421A9-9471-462F-A49F-6380EB96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85775"/>
            <a:ext cx="47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369" name="Google Shape;337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e06d8c38a3242b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3900" y="6023669"/>
            <a:ext cx="104775" cy="114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38" name="Google Shape;338;p21">
            <a:extLst xmlns:a="http://schemas.openxmlformats.org/drawingml/2006/main">
              <a:ext uri="{FF2B5EF4-FFF2-40B4-BE49-F238E27FC236}">
                <a16:creationId xmlns:a16="http://schemas.microsoft.com/office/drawing/2014/main" id="{2B1A19E2-CD56-4F65-9AEE-141D469B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64097"/>
            <a:ext cx="5860500" cy="409500"/>
          </a:xfrm>
          <a:prstGeom xmlns:a="http://schemas.openxmlformats.org/drawingml/2006/main" prst="roundRect">
            <a:avLst>
              <a:gd name="adj" fmla="val 18604"/>
            </a:avLst>
          </a:prstGeom>
          <a:solidFill xmlns:a="http://schemas.openxmlformats.org/drawingml/2006/main">
            <a:srgbClr val="161E3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39" name="Google Shape;339;p21">
            <a:extLst xmlns:a="http://schemas.openxmlformats.org/drawingml/2006/main">
              <a:ext uri="{FF2B5EF4-FFF2-40B4-BE49-F238E27FC236}">
                <a16:creationId xmlns:a16="http://schemas.microsoft.com/office/drawing/2014/main" id="{7C7949B2-822A-454C-8F85-99C70F76A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8397"/>
            <a:ext cx="524128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 u="none" cap="none">
                <a:solidFill>
                  <a:srgbClr val="E5E7EB"/>
                </a:solidFill>
                <a:latin typeface="Inter"/>
                <a:ea typeface="Inter"/>
                <a:cs typeface="Inter"/>
              </a:rPr>
              <a:t>Abstract and outline report completed and submitted.</a:t>
            </a:r>
          </a:p>
        </p:txBody>
      </p:sp>
      <p:sp>
        <p:nvSpPr>
          <p:cNvPr id="340" name="Google Shape;340;p21">
            <a:extLst xmlns:a="http://schemas.openxmlformats.org/drawingml/2006/main">
              <a:ext uri="{FF2B5EF4-FFF2-40B4-BE49-F238E27FC236}">
                <a16:creationId xmlns:a16="http://schemas.microsoft.com/office/drawing/2014/main" id="{F2D8A07B-44C6-4A01-AB13-D946E9908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064097"/>
            <a:ext cx="38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1" name="Google Shape;341;p21">
            <a:extLst xmlns:a="http://schemas.openxmlformats.org/drawingml/2006/main">
              <a:ext uri="{FF2B5EF4-FFF2-40B4-BE49-F238E27FC236}">
                <a16:creationId xmlns:a16="http://schemas.microsoft.com/office/drawing/2014/main" id="{DA7E073A-6314-4801-B0A4-8DBBC5AB9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07022"/>
            <a:ext cx="5860405" cy="409575"/>
          </a:xfrm>
          <a:prstGeom xmlns:a="http://schemas.openxmlformats.org/drawingml/2006/main" prst="roundRect">
            <a:avLst>
              <a:gd name="adj" fmla="val 18604"/>
            </a:avLst>
          </a:prstGeom>
          <a:solidFill xmlns:a="http://schemas.openxmlformats.org/drawingml/2006/main">
            <a:srgbClr val="161E3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2" name="Google Shape;342;p21">
            <a:extLst xmlns:a="http://schemas.openxmlformats.org/drawingml/2006/main">
              <a:ext uri="{FF2B5EF4-FFF2-40B4-BE49-F238E27FC236}">
                <a16:creationId xmlns:a16="http://schemas.microsoft.com/office/drawing/2014/main" id="{FCEBE106-3CC0-4FB1-ACB1-106A4EC0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1322"/>
            <a:ext cx="524128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 u="none" cap="none">
                <a:solidFill>
                  <a:srgbClr val="E5E7EB"/>
                </a:solidFill>
                <a:latin typeface="Inter"/>
                <a:ea typeface="Inter"/>
                <a:cs typeface="Inter"/>
              </a:rPr>
              <a:t>Streamlit frontend screens completed for Candidate, Interviewer, and Admin roles.</a:t>
            </a:r>
          </a:p>
        </p:txBody>
      </p:sp>
      <p:sp>
        <p:nvSpPr>
          <p:cNvPr id="343" name="Google Shape;343;p21">
            <a:extLst xmlns:a="http://schemas.openxmlformats.org/drawingml/2006/main">
              <a:ext uri="{FF2B5EF4-FFF2-40B4-BE49-F238E27FC236}">
                <a16:creationId xmlns:a16="http://schemas.microsoft.com/office/drawing/2014/main" id="{37DBD1E4-E6A1-4158-AC3A-1B60EC71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07022"/>
            <a:ext cx="38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4" name="Google Shape;344;p21">
            <a:extLst xmlns:a="http://schemas.openxmlformats.org/drawingml/2006/main">
              <a:ext uri="{FF2B5EF4-FFF2-40B4-BE49-F238E27FC236}">
                <a16:creationId xmlns:a16="http://schemas.microsoft.com/office/drawing/2014/main" id="{EA2FF479-AA1F-4EE1-9420-13A2BDFAF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49947"/>
            <a:ext cx="5860405" cy="409575"/>
          </a:xfrm>
          <a:prstGeom xmlns:a="http://schemas.openxmlformats.org/drawingml/2006/main" prst="roundRect">
            <a:avLst>
              <a:gd name="adj" fmla="val 18604"/>
            </a:avLst>
          </a:prstGeom>
          <a:solidFill xmlns:a="http://schemas.openxmlformats.org/drawingml/2006/main">
            <a:srgbClr val="161E3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5" name="Google Shape;345;p21">
            <a:extLst xmlns:a="http://schemas.openxmlformats.org/drawingml/2006/main">
              <a:ext uri="{FF2B5EF4-FFF2-40B4-BE49-F238E27FC236}">
                <a16:creationId xmlns:a16="http://schemas.microsoft.com/office/drawing/2014/main" id="{A3495A1E-DC23-4AE1-9C63-E8290D94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64247"/>
            <a:ext cx="524128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 u="none" cap="none">
                <a:solidFill>
                  <a:srgbClr val="E5E7EB"/>
                </a:solidFill>
                <a:latin typeface="Inter"/>
                <a:ea typeface="Inter"/>
                <a:cs typeface="Inter"/>
              </a:rPr>
              <a:t>Azure PostgreSQL schema and sample recruitment data successfully loaded.</a:t>
            </a:r>
          </a:p>
        </p:txBody>
      </p:sp>
      <p:sp>
        <p:nvSpPr>
          <p:cNvPr id="346" name="Google Shape;346;p21">
            <a:extLst xmlns:a="http://schemas.openxmlformats.org/drawingml/2006/main">
              <a:ext uri="{FF2B5EF4-FFF2-40B4-BE49-F238E27FC236}">
                <a16:creationId xmlns:a16="http://schemas.microsoft.com/office/drawing/2014/main" id="{6CF2D251-6E75-407D-A55F-A94B35132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49947"/>
            <a:ext cx="38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7" name="Google Shape;347;p21">
            <a:extLst xmlns:a="http://schemas.openxmlformats.org/drawingml/2006/main">
              <a:ext uri="{FF2B5EF4-FFF2-40B4-BE49-F238E27FC236}">
                <a16:creationId xmlns:a16="http://schemas.microsoft.com/office/drawing/2014/main" id="{FBC9EBD2-3CCA-469F-B33A-312DADFD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92872"/>
            <a:ext cx="5860405" cy="409575"/>
          </a:xfrm>
          <a:prstGeom xmlns:a="http://schemas.openxmlformats.org/drawingml/2006/main" prst="roundRect">
            <a:avLst>
              <a:gd name="adj" fmla="val 18604"/>
            </a:avLst>
          </a:prstGeom>
          <a:solidFill xmlns:a="http://schemas.openxmlformats.org/drawingml/2006/main">
            <a:srgbClr val="161E3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48" name="Google Shape;348;p21">
            <a:extLst xmlns:a="http://schemas.openxmlformats.org/drawingml/2006/main">
              <a:ext uri="{FF2B5EF4-FFF2-40B4-BE49-F238E27FC236}">
                <a16:creationId xmlns:a16="http://schemas.microsoft.com/office/drawing/2014/main" id="{3DE64ED1-F04D-49F1-AD9B-0A25079B1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07172"/>
            <a:ext cx="524128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 u="none" cap="none">
                <a:solidFill>
                  <a:srgbClr val="E5E7EB"/>
                </a:solidFill>
                <a:latin typeface="Inter"/>
                <a:ea typeface="Inter"/>
                <a:cs typeface="Inter"/>
              </a:rPr>
              <a:t>Bronze, Silver, and Gold ETL pipeline implemented with scheduled Prefect runs.</a:t>
            </a:r>
          </a:p>
        </p:txBody>
      </p:sp>
      <p:sp>
        <p:nvSpPr>
          <p:cNvPr id="349" name="Google Shape;349;p21">
            <a:extLst xmlns:a="http://schemas.openxmlformats.org/drawingml/2006/main">
              <a:ext uri="{FF2B5EF4-FFF2-40B4-BE49-F238E27FC236}">
                <a16:creationId xmlns:a16="http://schemas.microsoft.com/office/drawing/2014/main" id="{B090F4EB-276A-46E4-870A-9095EAC67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692872"/>
            <a:ext cx="381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0" name="Google Shape;350;p21">
            <a:extLst xmlns:a="http://schemas.openxmlformats.org/drawingml/2006/main">
              <a:ext uri="{FF2B5EF4-FFF2-40B4-BE49-F238E27FC236}">
                <a16:creationId xmlns:a16="http://schemas.microsoft.com/office/drawing/2014/main" id="{24394157-C0C1-46EB-AA91-B8950451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235797"/>
            <a:ext cx="586040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161E3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1" name="Google Shape;351;p21">
            <a:extLst xmlns:a="http://schemas.openxmlformats.org/drawingml/2006/main">
              <a:ext uri="{FF2B5EF4-FFF2-40B4-BE49-F238E27FC236}">
                <a16:creationId xmlns:a16="http://schemas.microsoft.com/office/drawing/2014/main" id="{A147F170-5A4E-402B-A110-BA4F6CA9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50097"/>
            <a:ext cx="524128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1125" b="0" i="0" u="none" cap="none">
                <a:solidFill>
                  <a:srgbClr val="E5E7EB"/>
                </a:solidFill>
                <a:latin typeface="Inter"/>
                <a:ea typeface="Inter"/>
                <a:cs typeface="Inter"/>
              </a:rPr>
              <a:t>Testing Phase 1 completed for frontend and ETL; pipeline failures debugged and refreshed.</a:t>
            </a:r>
          </a:p>
        </p:txBody>
      </p:sp>
      <p:sp>
        <p:nvSpPr>
          <p:cNvPr id="352" name="Google Shape;352;p21">
            <a:extLst xmlns:a="http://schemas.openxmlformats.org/drawingml/2006/main">
              <a:ext uri="{FF2B5EF4-FFF2-40B4-BE49-F238E27FC236}">
                <a16:creationId xmlns:a16="http://schemas.microsoft.com/office/drawing/2014/main" id="{260D1240-A0BA-4A4B-BA54-5385FEE81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235797"/>
            <a:ext cx="381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sp>
        <p:nvSpPr>
          <p:cNvPr id="353" name="Google Shape;353;p21">
            <a:extLst xmlns:a="http://schemas.openxmlformats.org/drawingml/2006/main">
              <a:ext uri="{FF2B5EF4-FFF2-40B4-BE49-F238E27FC236}">
                <a16:creationId xmlns:a16="http://schemas.microsoft.com/office/drawing/2014/main" id="{C29A440E-9657-4C84-9077-4114E77A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455" y="2752873"/>
            <a:ext cx="4293096" cy="731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800" b="0" i="0" u="none" cap="none">
                <a:solidFill>
                  <a:srgbClr val="10B981"/>
                </a:solidFill>
                <a:latin typeface="Plus Jakarta Sans ExtraBold"/>
                <a:ea typeface="Plus Jakarta Sans ExtraBold"/>
                <a:cs typeface="Plus Jakarta Sans ExtraBold"/>
              </a:rPr>
              <a:t>600+</a:t>
            </a:r>
          </a:p>
        </p:txBody>
      </p:sp>
      <p:sp>
        <p:nvSpPr>
          <p:cNvPr id="354" name="Google Shape;354;p21">
            <a:extLst xmlns:a="http://schemas.openxmlformats.org/drawingml/2006/main">
              <a:ext uri="{FF2B5EF4-FFF2-40B4-BE49-F238E27FC236}">
                <a16:creationId xmlns:a16="http://schemas.microsoft.com/office/drawing/2014/main" id="{63CF70E8-4728-407D-AE3E-B8FBAFBD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455" y="3457723"/>
            <a:ext cx="4293096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FFFFFF"/>
                </a:solidFill>
                <a:latin typeface="Inter SemiBold"/>
                <a:ea typeface="Inter SemiBold"/>
                <a:cs typeface="Inter SemiBold"/>
              </a:rPr>
              <a:t>Simulated Candidate Records</a:t>
            </a:r>
          </a:p>
        </p:txBody>
      </p:sp>
      <p:sp>
        <p:nvSpPr>
          <p:cNvPr id="355" name="Google Shape;355;p21">
            <a:extLst xmlns:a="http://schemas.openxmlformats.org/drawingml/2006/main">
              <a:ext uri="{FF2B5EF4-FFF2-40B4-BE49-F238E27FC236}">
                <a16:creationId xmlns:a16="http://schemas.microsoft.com/office/drawing/2014/main" id="{2F43C380-8223-4AFE-B54D-6710AB0B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2455" y="3791098"/>
            <a:ext cx="4293096" cy="4157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3989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75" b="0" i="0" u="none" cap="none">
                <a:solidFill>
                  <a:srgbClr val="9CA3AF"/>
                </a:solidFill>
                <a:latin typeface="Inter"/>
                <a:ea typeface="Inter"/>
                <a:cs typeface="Inter"/>
              </a:rPr>
              <a:t>Used to demonstrate operational screens, recurring ELT loads, Gold KPIs, and ML feature readiness.</a:t>
            </a:r>
          </a:p>
        </p:txBody>
      </p:sp>
      <p:pic>
        <p:nvPicPr>
          <p:cNvPr id="388" name="Google Shape;356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9f7225731a7476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71525" y="2178397"/>
            <a:ext cx="171450" cy="180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89" name="Google Shape;357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9f7225731a7476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71525" y="2721322"/>
            <a:ext cx="171450" cy="180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90" name="Google Shape;358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9f7225731a7476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71525" y="3264247"/>
            <a:ext cx="171450" cy="180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91" name="Google Shape;359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9f7225731a7476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71525" y="3807172"/>
            <a:ext cx="171450" cy="180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92" name="Google Shape;360;p2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9f7225731a74767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71525" y="4440584"/>
            <a:ext cx="171450" cy="180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23374263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0" name="Google Shape;365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404d02a178d469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01" name="Google Shape;366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f087d703bde472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678781" y="2686942"/>
            <a:ext cx="41910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02" name="Google Shape;367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2de1c65d5cc4d2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581025" y="3248917"/>
            <a:ext cx="2614612" cy="11144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03" name="Google Shape;368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6956fb3a9de46c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483893" y="2686942"/>
            <a:ext cx="41910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04" name="Google Shape;369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4e87740f2c44e3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386137" y="3248917"/>
            <a:ext cx="2614612" cy="94297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05" name="Google Shape;370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47af21ba7c148e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89006" y="2686942"/>
            <a:ext cx="41910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06" name="Google Shape;371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2de1c65d5cc4d2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191250" y="3248917"/>
            <a:ext cx="2614612" cy="11144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07" name="Google Shape;372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9995c7d30c245e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8996362" y="3248917"/>
            <a:ext cx="2614612" cy="11144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73" name="Google Shape;373;p22">
            <a:extLst xmlns:a="http://schemas.openxmlformats.org/drawingml/2006/main">
              <a:ext uri="{FF2B5EF4-FFF2-40B4-BE49-F238E27FC236}">
                <a16:creationId xmlns:a16="http://schemas.microsoft.com/office/drawing/2014/main" id="{94F7181F-C591-4A08-98C5-B9026322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47650"/>
            <a:ext cx="33432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9CA3AF"/>
                </a:solidFill>
                <a:latin typeface="Fira Code"/>
                <a:ea typeface="Fira Code"/>
                <a:cs typeface="Fira Code"/>
              </a:rPr>
              <a:t>TALENTFLOW AI | TIMELINE &amp; FUTURE SCOPE</a:t>
            </a:r>
          </a:p>
        </p:txBody>
      </p:sp>
      <p:sp>
        <p:nvSpPr>
          <p:cNvPr id="374" name="Google Shape;374;p22">
            <a:extLst xmlns:a="http://schemas.openxmlformats.org/drawingml/2006/main">
              <a:ext uri="{FF2B5EF4-FFF2-40B4-BE49-F238E27FC236}">
                <a16:creationId xmlns:a16="http://schemas.microsoft.com/office/drawing/2014/main" id="{ED6B7B52-6D86-4407-9FEA-DD58EB440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"/>
            <a:ext cx="11431428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Roadmap &amp; Future Work</a:t>
            </a:r>
          </a:p>
        </p:txBody>
      </p:sp>
      <p:sp>
        <p:nvSpPr>
          <p:cNvPr id="375" name="Google Shape;375;p22">
            <a:extLst xmlns:a="http://schemas.openxmlformats.org/drawingml/2006/main">
              <a:ext uri="{FF2B5EF4-FFF2-40B4-BE49-F238E27FC236}">
                <a16:creationId xmlns:a16="http://schemas.microsoft.com/office/drawing/2014/main" id="{E27D75A2-B799-44CC-9A7F-B32FBED4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85775"/>
            <a:ext cx="47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411" name="Google Shape;376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634f3bfb82c42ac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3900" y="6183659"/>
            <a:ext cx="104775" cy="114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77" name="Google Shape;377;p22">
            <a:extLst xmlns:a="http://schemas.openxmlformats.org/drawingml/2006/main">
              <a:ext uri="{FF2B5EF4-FFF2-40B4-BE49-F238E27FC236}">
                <a16:creationId xmlns:a16="http://schemas.microsoft.com/office/drawing/2014/main" id="{627744C2-D074-4935-AC3F-67BB3F0D0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164609"/>
            <a:ext cx="9886950" cy="192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cap="none">
                <a:solidFill>
                  <a:srgbClr val="9CA3AF"/>
                </a:solidFill>
                <a:latin typeface="Inter"/>
                <a:ea typeface="Inter"/>
                <a:cs typeface="Inter"/>
              </a:rPr>
              <a:t>Presenter Notes: "The mid-term milestone proves the app and ETL foundation. The remaining work moves from reliable data movement toward conversational intelligence and final validation."</a:t>
            </a:r>
          </a:p>
        </p:txBody>
      </p:sp>
      <p:sp>
        <p:nvSpPr>
          <p:cNvPr id="378" name="Google Shape;378;p22">
            <a:extLst xmlns:a="http://schemas.openxmlformats.org/drawingml/2006/main">
              <a:ext uri="{FF2B5EF4-FFF2-40B4-BE49-F238E27FC236}">
                <a16:creationId xmlns:a16="http://schemas.microsoft.com/office/drawing/2014/main" id="{F30122EF-EFF5-4C37-A62E-DF6E590F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3515617"/>
            <a:ext cx="10077450" cy="19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414" name="Google Shape;379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8aa9c6baa6745f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094118" y="2686942"/>
            <a:ext cx="419100" cy="4191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80" name="Google Shape;380;p22">
            <a:extLst xmlns:a="http://schemas.openxmlformats.org/drawingml/2006/main">
              <a:ext uri="{FF2B5EF4-FFF2-40B4-BE49-F238E27FC236}">
                <a16:creationId xmlns:a16="http://schemas.microsoft.com/office/drawing/2014/main" id="{C82B93B0-3D5A-4FD9-BA2F-342E34561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680" y="3410842"/>
            <a:ext cx="2405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Phase 3</a:t>
            </a:r>
          </a:p>
        </p:txBody>
      </p:sp>
      <p:sp>
        <p:nvSpPr>
          <p:cNvPr id="381" name="Google Shape;381;p22">
            <a:extLst xmlns:a="http://schemas.openxmlformats.org/drawingml/2006/main">
              <a:ext uri="{FF2B5EF4-FFF2-40B4-BE49-F238E27FC236}">
                <a16:creationId xmlns:a16="http://schemas.microsoft.com/office/drawing/2014/main" id="{AC8BEA52-B504-40F0-AD82-3B5E23BAF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7067"/>
            <a:ext cx="2290762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CA3AF"/>
                </a:solidFill>
                <a:latin typeface="Inter"/>
                <a:ea typeface="Inter"/>
                <a:cs typeface="Inter"/>
              </a:rPr>
              <a:t>Text-to-SQL framework: define safe prompts, schema context, SQL validation, and response formatting.</a:t>
            </a:r>
          </a:p>
        </p:txBody>
      </p:sp>
      <p:sp>
        <p:nvSpPr>
          <p:cNvPr id="382" name="Google Shape;382;p22">
            <a:extLst xmlns:a="http://schemas.openxmlformats.org/drawingml/2006/main">
              <a:ext uri="{FF2B5EF4-FFF2-40B4-BE49-F238E27FC236}">
                <a16:creationId xmlns:a16="http://schemas.microsoft.com/office/drawing/2014/main" id="{49B7AE21-5F33-4D1C-8898-802E220ED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793" y="3410842"/>
            <a:ext cx="2405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Phase 4</a:t>
            </a:r>
          </a:p>
        </p:txBody>
      </p:sp>
      <p:sp>
        <p:nvSpPr>
          <p:cNvPr id="383" name="Google Shape;383;p22">
            <a:extLst xmlns:a="http://schemas.openxmlformats.org/drawingml/2006/main">
              <a:ext uri="{FF2B5EF4-FFF2-40B4-BE49-F238E27FC236}">
                <a16:creationId xmlns:a16="http://schemas.microsoft.com/office/drawing/2014/main" id="{4E5084B5-E7EC-4427-893A-FDFEE7490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8062" y="3687067"/>
            <a:ext cx="2290762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CA3AF"/>
                </a:solidFill>
                <a:latin typeface="Inter"/>
                <a:ea typeface="Inter"/>
                <a:cs typeface="Inter"/>
              </a:rPr>
              <a:t>Conversational AI testing: check query correctness, guardrails, latency, and recruiter usability.</a:t>
            </a:r>
          </a:p>
        </p:txBody>
      </p:sp>
      <p:sp>
        <p:nvSpPr>
          <p:cNvPr id="384" name="Google Shape;384;p22">
            <a:extLst xmlns:a="http://schemas.openxmlformats.org/drawingml/2006/main">
              <a:ext uri="{FF2B5EF4-FFF2-40B4-BE49-F238E27FC236}">
                <a16:creationId xmlns:a16="http://schemas.microsoft.com/office/drawing/2014/main" id="{5D7FEFB1-2DE3-42FC-986C-A79C6566C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905" y="3410842"/>
            <a:ext cx="2405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Phase 5</a:t>
            </a:r>
          </a:p>
        </p:txBody>
      </p:sp>
      <p:sp>
        <p:nvSpPr>
          <p:cNvPr id="385" name="Google Shape;385;p22">
            <a:extLst xmlns:a="http://schemas.openxmlformats.org/drawingml/2006/main">
              <a:ext uri="{FF2B5EF4-FFF2-40B4-BE49-F238E27FC236}">
                <a16:creationId xmlns:a16="http://schemas.microsoft.com/office/drawing/2014/main" id="{BC24EADE-A16D-4A39-B28F-91E85B2E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687067"/>
            <a:ext cx="2290762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CA3AF"/>
                </a:solidFill>
                <a:latin typeface="Inter"/>
                <a:ea typeface="Inter"/>
                <a:cs typeface="Inter"/>
              </a:rPr>
              <a:t>Final dissertation review: consolidate screenshots, ER diagram, architecture, metrics, and testing evidence.</a:t>
            </a:r>
          </a:p>
        </p:txBody>
      </p:sp>
      <p:pic>
        <p:nvPicPr>
          <p:cNvPr id="421" name="Google Shape;386;p2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9e808e761fc407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246518" y="2829817"/>
            <a:ext cx="114300" cy="133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87" name="Google Shape;387;p22">
            <a:extLst xmlns:a="http://schemas.openxmlformats.org/drawingml/2006/main">
              <a:ext uri="{FF2B5EF4-FFF2-40B4-BE49-F238E27FC236}">
                <a16:creationId xmlns:a16="http://schemas.microsoft.com/office/drawing/2014/main" id="{E6094409-9A20-4AC0-BF3F-E0876F567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018" y="3410842"/>
            <a:ext cx="24053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1" i="0" u="non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Production Readiness</a:t>
            </a:r>
          </a:p>
        </p:txBody>
      </p:sp>
      <p:sp>
        <p:nvSpPr>
          <p:cNvPr id="388" name="Google Shape;388;p22">
            <a:extLst xmlns:a="http://schemas.openxmlformats.org/drawingml/2006/main">
              <a:ext uri="{FF2B5EF4-FFF2-40B4-BE49-F238E27FC236}">
                <a16:creationId xmlns:a16="http://schemas.microsoft.com/office/drawing/2014/main" id="{4605FDB8-6E9B-44E5-8194-8409EE90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8287" y="3687067"/>
            <a:ext cx="2290762" cy="6172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 i="0" u="none" cap="none">
                <a:solidFill>
                  <a:srgbClr val="9CA3AF"/>
                </a:solidFill>
                <a:latin typeface="Inter"/>
                <a:ea typeface="Inter"/>
                <a:cs typeface="Inter"/>
              </a:rPr>
              <a:t>Improve password security, RBAC hardening, pipeline alerts, model tracking, and monitoring dashboards.</a:t>
            </a:r>
          </a:p>
        </p:txBody>
      </p:sp>
    </p:spTree>
    <p:extLst>
      <p:ext uri="{BB962C8B-B14F-4D97-AF65-F5344CB8AC3E}">
        <p14:creationId xmlns:p14="http://schemas.microsoft.com/office/powerpoint/2010/main" val="148655153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9" name="Google Shape;393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1f7761a5499497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10" name="Google Shape;394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5e9b93028c32426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6770489" y="2439292"/>
            <a:ext cx="4840337" cy="2171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411" name="Google Shape;395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2feeabb8ef24f9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161014" y="3858517"/>
            <a:ext cx="4059287" cy="3619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96" name="Google Shape;396;p23">
            <a:extLst xmlns:a="http://schemas.openxmlformats.org/drawingml/2006/main">
              <a:ext uri="{FF2B5EF4-FFF2-40B4-BE49-F238E27FC236}">
                <a16:creationId xmlns:a16="http://schemas.microsoft.com/office/drawing/2014/main" id="{A067836B-B14E-45E8-88BB-EFA8C0F7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47650"/>
            <a:ext cx="34290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25" b="0" i="0" u="none" cap="none">
                <a:solidFill>
                  <a:srgbClr val="9CA3AF"/>
                </a:solidFill>
                <a:latin typeface="Fira Code"/>
                <a:ea typeface="Fira Code"/>
                <a:cs typeface="Fira Code"/>
              </a:rPr>
              <a:t>TALENTFLOW AI | DEFENDING PROJECT THESIS</a:t>
            </a:r>
          </a:p>
        </p:txBody>
      </p:sp>
      <p:sp>
        <p:nvSpPr>
          <p:cNvPr id="397" name="Google Shape;397;p23">
            <a:extLst xmlns:a="http://schemas.openxmlformats.org/drawingml/2006/main">
              <a:ext uri="{FF2B5EF4-FFF2-40B4-BE49-F238E27FC236}">
                <a16:creationId xmlns:a16="http://schemas.microsoft.com/office/drawing/2014/main" id="{8A32AB37-34E2-4CD3-9B46-D702CDE87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5775"/>
            <a:ext cx="11431428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2550" b="1" i="0" u="non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Conclusion &amp; Q&amp;A</a:t>
            </a:r>
          </a:p>
        </p:txBody>
      </p:sp>
      <p:sp>
        <p:nvSpPr>
          <p:cNvPr id="398" name="Google Shape;398;p23">
            <a:extLst xmlns:a="http://schemas.openxmlformats.org/drawingml/2006/main">
              <a:ext uri="{FF2B5EF4-FFF2-40B4-BE49-F238E27FC236}">
                <a16:creationId xmlns:a16="http://schemas.microsoft.com/office/drawing/2014/main" id="{CC4157FB-4BA3-49F5-AE2C-423D9CA4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85775"/>
            <a:ext cx="476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8BDF8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</a:p>
        </p:txBody>
      </p:sp>
      <p:pic>
        <p:nvPicPr>
          <p:cNvPr id="415" name="Google Shape;399;p2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f5b65296da6143a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23900" y="6183659"/>
            <a:ext cx="104775" cy="1143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00" name="Google Shape;400;p23">
            <a:extLst xmlns:a="http://schemas.openxmlformats.org/drawingml/2006/main">
              <a:ext uri="{FF2B5EF4-FFF2-40B4-BE49-F238E27FC236}">
                <a16:creationId xmlns:a16="http://schemas.microsoft.com/office/drawing/2014/main" id="{064FA499-9547-4D14-9A90-55BE041F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" y="6164609"/>
            <a:ext cx="3457575" cy="19202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1" i="0" u="none" cap="none">
                <a:solidFill>
                  <a:srgbClr val="9CA3AF"/>
                </a:solidFill>
                <a:latin typeface="Inter"/>
                <a:ea typeface="Inter"/>
                <a:cs typeface="Inter"/>
              </a:rPr>
              <a:t>Presenter Notes: "Thank you. I am now open to your questions."</a:t>
            </a:r>
          </a:p>
        </p:txBody>
      </p:sp>
      <p:sp>
        <p:nvSpPr>
          <p:cNvPr id="401" name="Google Shape;401;p23">
            <a:extLst xmlns:a="http://schemas.openxmlformats.org/drawingml/2006/main">
              <a:ext uri="{FF2B5EF4-FFF2-40B4-BE49-F238E27FC236}">
                <a16:creationId xmlns:a16="http://schemas.microsoft.com/office/drawing/2014/main" id="{61E1D578-0851-4172-9DF7-1E6A6B2A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562522"/>
            <a:ext cx="5808464" cy="1005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 b="1" i="0" u="none" cap="none">
                <a:solidFill>
                  <a:srgbClr val="38BDF8"/>
                </a:solidFill>
                <a:latin typeface="Inter"/>
                <a:ea typeface="Inter"/>
                <a:cs typeface="Inter"/>
              </a:rPr>
              <a:t>TalentFlow AI demonstrates how a recruitment application can evolve into a governed analytics and AI ecosystem.</a:t>
            </a:r>
          </a:p>
        </p:txBody>
      </p:sp>
      <p:sp>
        <p:nvSpPr>
          <p:cNvPr id="402" name="Google Shape;402;p23">
            <a:extLst xmlns:a="http://schemas.openxmlformats.org/drawingml/2006/main">
              <a:ext uri="{FF2B5EF4-FFF2-40B4-BE49-F238E27FC236}">
                <a16:creationId xmlns:a16="http://schemas.microsoft.com/office/drawing/2014/main" id="{DFBA7C20-28B4-48B5-8051-5FA8BD35B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710880"/>
            <a:ext cx="5808464" cy="9322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75" b="0" i="0" u="none" cap="none">
                <a:solidFill>
                  <a:srgbClr val="9CA3AF"/>
                </a:solidFill>
                <a:latin typeface="Inter Light"/>
                <a:ea typeface="Inter Light"/>
                <a:cs typeface="Inter Light"/>
              </a:rPr>
              <a:t>The design is defensible: PostgreSQL for transactional integrity, medallion lakehouse for trusted analytics, Prefect for orchestration, DuckDB for Parquet SQL, and ML/LLM layers for decision intelligence.</a:t>
            </a:r>
          </a:p>
        </p:txBody>
      </p:sp>
      <p:sp>
        <p:nvSpPr>
          <p:cNvPr id="403" name="Google Shape;403;p23">
            <a:extLst xmlns:a="http://schemas.openxmlformats.org/drawingml/2006/main">
              <a:ext uri="{FF2B5EF4-FFF2-40B4-BE49-F238E27FC236}">
                <a16:creationId xmlns:a16="http://schemas.microsoft.com/office/drawing/2014/main" id="{C2A2F9BC-237D-4CEE-A754-C99209D35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531" y="2829817"/>
            <a:ext cx="4262251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3150" b="1" i="0" u="none" cap="non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</a:rPr>
              <a:t>Questions?</a:t>
            </a:r>
          </a:p>
        </p:txBody>
      </p:sp>
      <p:sp>
        <p:nvSpPr>
          <p:cNvPr id="404" name="Google Shape;404;p23">
            <a:extLst xmlns:a="http://schemas.openxmlformats.org/drawingml/2006/main">
              <a:ext uri="{FF2B5EF4-FFF2-40B4-BE49-F238E27FC236}">
                <a16:creationId xmlns:a16="http://schemas.microsoft.com/office/drawing/2014/main" id="{1CC95567-3A10-450C-899F-CE6C0603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1014" y="3429892"/>
            <a:ext cx="4059287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sz="1200" b="0" i="0" u="none" cap="none">
                <a:solidFill>
                  <a:srgbClr val="9CA3AF"/>
                </a:solidFill>
                <a:latin typeface="Inter"/>
                <a:ea typeface="Inter"/>
                <a:cs typeface="Inter"/>
              </a:rPr>
              <a:t>Thank you for your attention.</a:t>
            </a:r>
          </a:p>
        </p:txBody>
      </p:sp>
    </p:spTree>
    <p:extLst>
      <p:ext uri="{BB962C8B-B14F-4D97-AF65-F5344CB8AC3E}">
        <p14:creationId xmlns:p14="http://schemas.microsoft.com/office/powerpoint/2010/main" val="20838508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2026-06-28T08:26:03.7900000Z</dcterms:created>
  <dcterms:modified xsi:type="dcterms:W3CDTF">2026-06-28T08:26:03.7900000Z</dcterms:modified>
</coreProperties>
</file>