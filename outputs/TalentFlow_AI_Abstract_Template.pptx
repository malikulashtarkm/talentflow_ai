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embeddedFontLst>
    <p:embeddedFont>
      <p:font typeface="Plus Jakarta Sans ExtraBold"/>
      <p:bold r:id="rId18"/>
      <p:boldItalic r:id="rId19"/>
    </p:embeddedFont>
    <p:embeddedFont>
      <p:font typeface="Inter SemiBold"/>
      <p:regular r:id="rId20"/>
      <p:bold r:id="rId21"/>
      <p:italic r:id="rId22"/>
      <p:boldItalic r:id="rId23"/>
    </p:embeddedFont>
    <p:embeddedFont>
      <p:font typeface="Inter Light"/>
      <p:regular r:id="rId24"/>
      <p:bold r:id="rId25"/>
      <p:italic r:id="rId26"/>
      <p:boldItalic r:id="rId27"/>
    </p:embeddedFont>
    <p:embeddedFont>
      <p:font typeface="Inter"/>
      <p:regular r:id="rId28"/>
      <p:bold r:id="rId29"/>
      <p:italic r:id="rId30"/>
      <p:boldItalic r:id="rId31"/>
    </p:embeddedFont>
    <p:embeddedFont>
      <p:font typeface="Plus Jakarta Sans"/>
      <p:regular r:id="rId32"/>
      <p:bold r:id="rId33"/>
      <p:italic r:id="rId34"/>
      <p:boldItalic r:id="rId35"/>
    </p:embeddedFont>
    <p:embeddedFont>
      <p:font typeface="Plus Jakarta Sans SemiBold"/>
      <p:regular r:id="rId36"/>
      <p:bold r:id="rId37"/>
      <p:italic r:id="rId38"/>
      <p:boldItalic r:id="rId39"/>
    </p:embeddedFont>
    <p:embeddedFont>
      <p:font typeface="Fira Code"/>
      <p:regular r:id="rId40"/>
      <p:bold r:id="rId41"/>
    </p:embeddedFont>
    <p:embeddedFont>
      <p:font typeface="Inter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F74970-1820-4FA9-A6A2-EDE01B7A4CAD}">
  <a:tblStyle styleId="{97F74970-1820-4FA9-A6A2-EDE01B7A4CA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FiraCode-regular.fntdata"/><Relationship Id="rId20" Type="http://schemas.openxmlformats.org/officeDocument/2006/relationships/font" Target="fonts/InterSemiBold-regular.fntdata"/><Relationship Id="rId42" Type="http://schemas.openxmlformats.org/officeDocument/2006/relationships/font" Target="fonts/InterMedium-regular.fntdata"/><Relationship Id="rId41" Type="http://schemas.openxmlformats.org/officeDocument/2006/relationships/font" Target="fonts/FiraCode-bold.fntdata"/><Relationship Id="rId22" Type="http://schemas.openxmlformats.org/officeDocument/2006/relationships/font" Target="fonts/InterSemiBold-italic.fntdata"/><Relationship Id="rId44" Type="http://schemas.openxmlformats.org/officeDocument/2006/relationships/font" Target="fonts/InterMedium-italic.fntdata"/><Relationship Id="rId21" Type="http://schemas.openxmlformats.org/officeDocument/2006/relationships/font" Target="fonts/InterSemiBold-bold.fntdata"/><Relationship Id="rId43" Type="http://schemas.openxmlformats.org/officeDocument/2006/relationships/font" Target="fonts/InterMedium-bold.fntdata"/><Relationship Id="rId24" Type="http://schemas.openxmlformats.org/officeDocument/2006/relationships/font" Target="fonts/InterLight-regular.fntdata"/><Relationship Id="rId23" Type="http://schemas.openxmlformats.org/officeDocument/2006/relationships/font" Target="fonts/InterSemiBold-boldItalic.fntdata"/><Relationship Id="rId45" Type="http://schemas.openxmlformats.org/officeDocument/2006/relationships/font" Target="fonts/Inter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Light-italic.fntdata"/><Relationship Id="rId25" Type="http://schemas.openxmlformats.org/officeDocument/2006/relationships/font" Target="fonts/InterLight-bold.fntdata"/><Relationship Id="rId28" Type="http://schemas.openxmlformats.org/officeDocument/2006/relationships/font" Target="fonts/Inter-regular.fntdata"/><Relationship Id="rId27" Type="http://schemas.openxmlformats.org/officeDocument/2006/relationships/font" Target="fonts/InterLigh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boldItalic.fntdata"/><Relationship Id="rId30" Type="http://schemas.openxmlformats.org/officeDocument/2006/relationships/font" Target="fonts/Inter-italic.fntdata"/><Relationship Id="rId11" Type="http://schemas.openxmlformats.org/officeDocument/2006/relationships/slide" Target="slides/slide5.xml"/><Relationship Id="rId33" Type="http://schemas.openxmlformats.org/officeDocument/2006/relationships/font" Target="fonts/PlusJakartaSans-bold.fntdata"/><Relationship Id="rId10" Type="http://schemas.openxmlformats.org/officeDocument/2006/relationships/slide" Target="slides/slide4.xml"/><Relationship Id="rId32" Type="http://schemas.openxmlformats.org/officeDocument/2006/relationships/font" Target="fonts/PlusJakartaSans-regular.fntdata"/><Relationship Id="rId13" Type="http://schemas.openxmlformats.org/officeDocument/2006/relationships/slide" Target="slides/slide7.xml"/><Relationship Id="rId35" Type="http://schemas.openxmlformats.org/officeDocument/2006/relationships/font" Target="fonts/PlusJakartaSans-boldItalic.fntdata"/><Relationship Id="rId12" Type="http://schemas.openxmlformats.org/officeDocument/2006/relationships/slide" Target="slides/slide6.xml"/><Relationship Id="rId34" Type="http://schemas.openxmlformats.org/officeDocument/2006/relationships/font" Target="fonts/PlusJakartaSans-italic.fntdata"/><Relationship Id="rId15" Type="http://schemas.openxmlformats.org/officeDocument/2006/relationships/slide" Target="slides/slide9.xml"/><Relationship Id="rId37" Type="http://schemas.openxmlformats.org/officeDocument/2006/relationships/font" Target="fonts/PlusJakartaSansSemiBold-bold.fntdata"/><Relationship Id="rId14" Type="http://schemas.openxmlformats.org/officeDocument/2006/relationships/slide" Target="slides/slide8.xml"/><Relationship Id="rId36" Type="http://schemas.openxmlformats.org/officeDocument/2006/relationships/font" Target="fonts/PlusJakartaSansSemiBold-regular.fntdata"/><Relationship Id="rId17" Type="http://schemas.openxmlformats.org/officeDocument/2006/relationships/slide" Target="slides/slide11.xml"/><Relationship Id="rId39" Type="http://schemas.openxmlformats.org/officeDocument/2006/relationships/font" Target="fonts/PlusJakartaSansSemiBold-boldItalic.fntdata"/><Relationship Id="rId16" Type="http://schemas.openxmlformats.org/officeDocument/2006/relationships/slide" Target="slides/slide10.xml"/><Relationship Id="rId38" Type="http://schemas.openxmlformats.org/officeDocument/2006/relationships/font" Target="fonts/PlusJakartaSansSemiBold-italic.fntdata"/><Relationship Id="rId19" Type="http://schemas.openxmlformats.org/officeDocument/2006/relationships/font" Target="fonts/PlusJakartaSansExtraBold-boldItalic.fntdata"/><Relationship Id="rId18" Type="http://schemas.openxmlformats.org/officeDocument/2006/relationships/font" Target="fonts/PlusJakartaSansExtra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0.png"/><Relationship Id="rId11" Type="http://schemas.openxmlformats.org/officeDocument/2006/relationships/image" Target="../media/image15.png"/><Relationship Id="rId10" Type="http://schemas.openxmlformats.org/officeDocument/2006/relationships/image" Target="../media/image6.png"/><Relationship Id="rId12" Type="http://schemas.openxmlformats.org/officeDocument/2006/relationships/image" Target="../media/image12.png"/><Relationship Id="rId9"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6.png"/><Relationship Id="rId7" Type="http://schemas.openxmlformats.org/officeDocument/2006/relationships/image" Target="../media/image2.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27.png"/><Relationship Id="rId9"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8.png"/><Relationship Id="rId7" Type="http://schemas.openxmlformats.org/officeDocument/2006/relationships/image" Target="../media/image20.png"/><Relationship Id="rId8" Type="http://schemas.openxmlformats.org/officeDocument/2006/relationships/image" Target="../media/image29.png"/></Relationships>
</file>

<file path=ppt/slides/_rels/slide4.xml.rels><?xml version="1.0" encoding="UTF-8" standalone="yes"?><Relationships xmlns="http://schemas.openxmlformats.org/package/2006/relationships"><Relationship Id="rId20" Type="http://schemas.openxmlformats.org/officeDocument/2006/relationships/image" Target="../media/image37.png"/><Relationship Id="rId11" Type="http://schemas.openxmlformats.org/officeDocument/2006/relationships/image" Target="../media/image57.png"/><Relationship Id="rId22" Type="http://schemas.openxmlformats.org/officeDocument/2006/relationships/image" Target="../media/image28.png"/><Relationship Id="rId10" Type="http://schemas.openxmlformats.org/officeDocument/2006/relationships/image" Target="../media/image16.png"/><Relationship Id="rId21" Type="http://schemas.openxmlformats.org/officeDocument/2006/relationships/image" Target="../media/image26.png"/><Relationship Id="rId13" Type="http://schemas.openxmlformats.org/officeDocument/2006/relationships/image" Target="../media/image42.png"/><Relationship Id="rId12" Type="http://schemas.openxmlformats.org/officeDocument/2006/relationships/image" Target="../media/image22.png"/><Relationship Id="rId23"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9.png"/><Relationship Id="rId9" Type="http://schemas.openxmlformats.org/officeDocument/2006/relationships/image" Target="../media/image31.png"/><Relationship Id="rId15" Type="http://schemas.openxmlformats.org/officeDocument/2006/relationships/image" Target="../media/image44.png"/><Relationship Id="rId14" Type="http://schemas.openxmlformats.org/officeDocument/2006/relationships/image" Target="../media/image43.png"/><Relationship Id="rId17" Type="http://schemas.openxmlformats.org/officeDocument/2006/relationships/image" Target="../media/image23.png"/><Relationship Id="rId16" Type="http://schemas.openxmlformats.org/officeDocument/2006/relationships/image" Target="../media/image21.png"/><Relationship Id="rId5" Type="http://schemas.openxmlformats.org/officeDocument/2006/relationships/image" Target="../media/image67.png"/><Relationship Id="rId19" Type="http://schemas.openxmlformats.org/officeDocument/2006/relationships/image" Target="../media/image25.png"/><Relationship Id="rId6" Type="http://schemas.openxmlformats.org/officeDocument/2006/relationships/image" Target="../media/image30.png"/><Relationship Id="rId18" Type="http://schemas.openxmlformats.org/officeDocument/2006/relationships/image" Target="../media/image24.png"/><Relationship Id="rId7" Type="http://schemas.openxmlformats.org/officeDocument/2006/relationships/image" Target="../media/image17.png"/><Relationship Id="rId8" Type="http://schemas.openxmlformats.org/officeDocument/2006/relationships/image" Target="../media/image36.png"/></Relationships>
</file>

<file path=ppt/slides/_rels/slide5.xml.rels><?xml version="1.0" encoding="UTF-8" standalone="yes"?><Relationships xmlns="http://schemas.openxmlformats.org/package/2006/relationships"><Relationship Id="rId11" Type="http://schemas.openxmlformats.org/officeDocument/2006/relationships/image" Target="../media/image45.png"/><Relationship Id="rId10" Type="http://schemas.openxmlformats.org/officeDocument/2006/relationships/image" Target="../media/image33.png"/><Relationship Id="rId12" Type="http://schemas.openxmlformats.org/officeDocument/2006/relationships/image" Target="../media/image48.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4.png"/><Relationship Id="rId4" Type="http://schemas.openxmlformats.org/officeDocument/2006/relationships/image" Target="../media/image34.png"/><Relationship Id="rId9" Type="http://schemas.openxmlformats.org/officeDocument/2006/relationships/image" Target="../media/image46.png"/><Relationship Id="rId5" Type="http://schemas.openxmlformats.org/officeDocument/2006/relationships/image" Target="../media/image41.png"/><Relationship Id="rId6" Type="http://schemas.openxmlformats.org/officeDocument/2006/relationships/image" Target="../media/image32.png"/><Relationship Id="rId7" Type="http://schemas.openxmlformats.org/officeDocument/2006/relationships/image" Target="../media/image16.png"/><Relationship Id="rId8" Type="http://schemas.openxmlformats.org/officeDocument/2006/relationships/image" Target="../media/image50.png"/></Relationships>
</file>

<file path=ppt/slides/_rels/slide6.xml.rels><?xml version="1.0" encoding="UTF-8" standalone="yes"?><Relationships xmlns="http://schemas.openxmlformats.org/package/2006/relationships"><Relationship Id="rId10" Type="http://schemas.openxmlformats.org/officeDocument/2006/relationships/image" Target="../media/image58.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8.png"/><Relationship Id="rId4" Type="http://schemas.openxmlformats.org/officeDocument/2006/relationships/image" Target="../media/image38.png"/><Relationship Id="rId9"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49.png"/><Relationship Id="rId7" Type="http://schemas.openxmlformats.org/officeDocument/2006/relationships/image" Target="../media/image16.png"/><Relationship Id="rId8" Type="http://schemas.openxmlformats.org/officeDocument/2006/relationships/image" Target="../media/image60.png"/></Relationships>
</file>

<file path=ppt/slides/_rels/slide7.xml.rels><?xml version="1.0" encoding="UTF-8" standalone="yes"?><Relationships xmlns="http://schemas.openxmlformats.org/package/2006/relationships"><Relationship Id="rId11" Type="http://schemas.openxmlformats.org/officeDocument/2006/relationships/image" Target="../media/image62.png"/><Relationship Id="rId10" Type="http://schemas.openxmlformats.org/officeDocument/2006/relationships/image" Target="../media/image73.png"/><Relationship Id="rId13" Type="http://schemas.openxmlformats.org/officeDocument/2006/relationships/image" Target="../media/image71.png"/><Relationship Id="rId12" Type="http://schemas.openxmlformats.org/officeDocument/2006/relationships/image" Target="../media/image56.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72.png"/><Relationship Id="rId15" Type="http://schemas.openxmlformats.org/officeDocument/2006/relationships/image" Target="../media/image16.png"/><Relationship Id="rId14" Type="http://schemas.openxmlformats.org/officeDocument/2006/relationships/image" Target="../media/image85.png"/><Relationship Id="rId17" Type="http://schemas.openxmlformats.org/officeDocument/2006/relationships/image" Target="../media/image89.png"/><Relationship Id="rId16" Type="http://schemas.openxmlformats.org/officeDocument/2006/relationships/image" Target="../media/image64.png"/><Relationship Id="rId5" Type="http://schemas.openxmlformats.org/officeDocument/2006/relationships/image" Target="../media/image47.png"/><Relationship Id="rId6" Type="http://schemas.openxmlformats.org/officeDocument/2006/relationships/image" Target="../media/image59.png"/><Relationship Id="rId7" Type="http://schemas.openxmlformats.org/officeDocument/2006/relationships/image" Target="../media/image55.png"/><Relationship Id="rId8" Type="http://schemas.openxmlformats.org/officeDocument/2006/relationships/image" Target="../media/image53.png"/></Relationships>
</file>

<file path=ppt/slides/_rels/slide8.xml.rels><?xml version="1.0" encoding="UTF-8" standalone="yes"?><Relationships xmlns="http://schemas.openxmlformats.org/package/2006/relationships"><Relationship Id="rId11" Type="http://schemas.openxmlformats.org/officeDocument/2006/relationships/image" Target="../media/image69.png"/><Relationship Id="rId10" Type="http://schemas.openxmlformats.org/officeDocument/2006/relationships/image" Target="../media/image79.png"/><Relationship Id="rId13" Type="http://schemas.openxmlformats.org/officeDocument/2006/relationships/image" Target="../media/image70.png"/><Relationship Id="rId12" Type="http://schemas.openxmlformats.org/officeDocument/2006/relationships/image" Target="../media/image86.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63.png"/><Relationship Id="rId14" Type="http://schemas.openxmlformats.org/officeDocument/2006/relationships/image" Target="../media/image74.png"/><Relationship Id="rId5" Type="http://schemas.openxmlformats.org/officeDocument/2006/relationships/image" Target="../media/image61.png"/><Relationship Id="rId6" Type="http://schemas.openxmlformats.org/officeDocument/2006/relationships/image" Target="../media/image16.png"/><Relationship Id="rId7" Type="http://schemas.openxmlformats.org/officeDocument/2006/relationships/image" Target="../media/image65.png"/><Relationship Id="rId8" Type="http://schemas.openxmlformats.org/officeDocument/2006/relationships/image" Target="../media/image6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4.png"/><Relationship Id="rId4" Type="http://schemas.openxmlformats.org/officeDocument/2006/relationships/image" Target="../media/image75.png"/><Relationship Id="rId5" Type="http://schemas.openxmlformats.org/officeDocument/2006/relationships/image" Target="../media/image16.png"/><Relationship Id="rId6" Type="http://schemas.openxmlformats.org/officeDocument/2006/relationships/image" Target="../media/image76.png"/></Relationships>
</file>

<file path=ppt/slides/_rels/slide10.xml.rels><?xml version="1.0" encoding="UTF-8" standalone="yes"?><Relationships xmlns="http://schemas.openxmlformats.org/package/2006/relationships"><Relationship Id="rId11" Type="http://schemas.openxmlformats.org/officeDocument/2006/relationships/image" Target="../media/image80.png"/><Relationship Id="rId10" Type="http://schemas.openxmlformats.org/officeDocument/2006/relationships/image" Target="../media/image16.png"/><Relationship Id="rId12" Type="http://schemas.openxmlformats.org/officeDocument/2006/relationships/image" Target="../media/image82.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4.png"/><Relationship Id="rId4" Type="http://schemas.openxmlformats.org/officeDocument/2006/relationships/image" Target="../media/image81.png"/><Relationship Id="rId9" Type="http://schemas.openxmlformats.org/officeDocument/2006/relationships/image" Target="../media/image90.png"/><Relationship Id="rId5" Type="http://schemas.openxmlformats.org/officeDocument/2006/relationships/image" Target="../media/image92.png"/><Relationship Id="rId6" Type="http://schemas.openxmlformats.org/officeDocument/2006/relationships/image" Target="../media/image77.png"/><Relationship Id="rId7" Type="http://schemas.openxmlformats.org/officeDocument/2006/relationships/image" Target="../media/image88.png"/><Relationship Id="rId8" Type="http://schemas.openxmlformats.org/officeDocument/2006/relationships/image" Target="../media/image7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4.png"/><Relationship Id="rId4" Type="http://schemas.openxmlformats.org/officeDocument/2006/relationships/image" Target="../media/image87.png"/><Relationship Id="rId5" Type="http://schemas.openxmlformats.org/officeDocument/2006/relationships/image" Target="../media/image91.png"/><Relationship Id="rId6"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581025" y="4991100"/>
            <a:ext cx="11029950" cy="1047750"/>
          </a:xfrm>
          <a:prstGeom prst="rect">
            <a:avLst/>
          </a:prstGeom>
          <a:noFill/>
          <a:ln>
            <a:noFill/>
          </a:ln>
        </p:spPr>
      </p:pic>
      <p:sp>
        <p:nvSpPr>
          <p:cNvPr id="86" name="Google Shape;86;p13"/>
          <p:cNvSpPr txBox="1"/>
          <p:nvPr/>
        </p:nvSpPr>
        <p:spPr>
          <a:xfrm>
            <a:off x="8353425" y="247650"/>
            <a:ext cx="32575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MALAMPATIWALLA | M.TECH THESIS DEFENCE</a:t>
            </a:r>
            <a:endParaRPr/>
          </a:p>
        </p:txBody>
      </p:sp>
      <p:pic>
        <p:nvPicPr>
          <p:cNvPr descr="image.png" id="87" name="Google Shape;87;p13"/>
          <p:cNvPicPr preferRelativeResize="0"/>
          <p:nvPr/>
        </p:nvPicPr>
        <p:blipFill rotWithShape="1">
          <a:blip r:embed="rId5">
            <a:alphaModFix/>
          </a:blip>
          <a:srcRect b="0" l="0" r="0" t="0"/>
          <a:stretch/>
        </p:blipFill>
        <p:spPr>
          <a:xfrm>
            <a:off x="581025" y="962025"/>
            <a:ext cx="2771775" cy="285750"/>
          </a:xfrm>
          <a:prstGeom prst="rect">
            <a:avLst/>
          </a:prstGeom>
          <a:noFill/>
          <a:ln>
            <a:noFill/>
          </a:ln>
        </p:spPr>
      </p:pic>
      <p:sp>
        <p:nvSpPr>
          <p:cNvPr id="88" name="Google Shape;88;p13"/>
          <p:cNvSpPr txBox="1"/>
          <p:nvPr/>
        </p:nvSpPr>
        <p:spPr>
          <a:xfrm>
            <a:off x="581025" y="1438275"/>
            <a:ext cx="11001375" cy="1643062"/>
          </a:xfrm>
          <a:prstGeom prst="rect">
            <a:avLst/>
          </a:prstGeom>
          <a:noFill/>
          <a:ln>
            <a:noFill/>
          </a:ln>
        </p:spPr>
        <p:txBody>
          <a:bodyPr anchorCtr="0" anchor="t" bIns="0" lIns="0" spcFirstLastPara="1" rIns="0" wrap="square" tIns="0">
            <a:spAutoFit/>
          </a:bodyPr>
          <a:lstStyle/>
          <a:p>
            <a:pPr indent="0" lvl="0" marL="0" marR="0" rtl="0" algn="l">
              <a:lnSpc>
                <a:spcPct val="124985"/>
              </a:lnSpc>
              <a:spcBef>
                <a:spcPts val="0"/>
              </a:spcBef>
              <a:spcAft>
                <a:spcPts val="0"/>
              </a:spcAft>
              <a:buNone/>
            </a:pPr>
            <a:r>
              <a:rPr b="0" i="0" lang="en-US" sz="3450" u="none" cap="none" strike="noStrike">
                <a:solidFill>
                  <a:srgbClr val="FFFFFF"/>
                </a:solidFill>
                <a:latin typeface="Plus Jakarta Sans ExtraBold"/>
                <a:ea typeface="Plus Jakarta Sans ExtraBold"/>
                <a:cs typeface="Plus Jakarta Sans ExtraBold"/>
                <a:sym typeface="Plus Jakarta Sans ExtraBold"/>
              </a:rPr>
              <a:t>TalentFlow AI: An Enterprise Lakehouse Architecture for Candidate Intelligence and Natural Language Interrogation</a:t>
            </a:r>
            <a:endParaRPr/>
          </a:p>
        </p:txBody>
      </p:sp>
      <p:sp>
        <p:nvSpPr>
          <p:cNvPr id="89" name="Google Shape;89;p13"/>
          <p:cNvSpPr txBox="1"/>
          <p:nvPr/>
        </p:nvSpPr>
        <p:spPr>
          <a:xfrm>
            <a:off x="581025" y="3429012"/>
            <a:ext cx="9048900" cy="57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CA3AF"/>
                </a:solidFill>
                <a:latin typeface="Inter"/>
                <a:ea typeface="Inter"/>
                <a:cs typeface="Inter"/>
                <a:sym typeface="Inter"/>
              </a:rPr>
              <a:t>A modern, secure lakehouse pipeline design that eliminates update-in-place temporal decay and bridges SQL barriers using conversational analytics agents.</a:t>
            </a:r>
            <a:endParaRPr/>
          </a:p>
        </p:txBody>
      </p:sp>
      <p:sp>
        <p:nvSpPr>
          <p:cNvPr id="90" name="Google Shape;90;p13"/>
          <p:cNvSpPr txBox="1"/>
          <p:nvPr/>
        </p:nvSpPr>
        <p:spPr>
          <a:xfrm>
            <a:off x="581025" y="5334000"/>
            <a:ext cx="2578800" cy="92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6B7280"/>
                </a:solidFill>
                <a:latin typeface="Inter"/>
                <a:ea typeface="Inter"/>
                <a:cs typeface="Inter"/>
                <a:sym typeface="Inter"/>
              </a:rPr>
              <a:t>STUDENT NAME:</a:t>
            </a:r>
            <a:endParaRPr b="0" i="0" sz="1200" u="none" cap="none" strike="noStrike">
              <a:solidFill>
                <a:srgbClr val="6B7280"/>
              </a:solidFill>
              <a:latin typeface="Inter"/>
              <a:ea typeface="Inter"/>
              <a:cs typeface="Inter"/>
              <a:sym typeface="Inter"/>
            </a:endParaRPr>
          </a:p>
          <a:p>
            <a:pPr indent="0" lvl="0" marL="0" marR="0" rtl="0" algn="ctr">
              <a:spcBef>
                <a:spcPts val="0"/>
              </a:spcBef>
              <a:spcAft>
                <a:spcPts val="0"/>
              </a:spcAft>
              <a:buNone/>
            </a:pPr>
            <a:r>
              <a:rPr b="0" i="0" lang="en-US" sz="1200" u="none" cap="none" strike="noStrike">
                <a:solidFill>
                  <a:srgbClr val="F3F4F6"/>
                </a:solidFill>
                <a:latin typeface="Inter"/>
                <a:ea typeface="Inter"/>
                <a:cs typeface="Inter"/>
                <a:sym typeface="Inter"/>
              </a:rPr>
              <a:t> </a:t>
            </a:r>
            <a:r>
              <a:rPr b="0" i="0" lang="en-US" sz="1200" u="none" cap="none" strike="noStrike">
                <a:solidFill>
                  <a:srgbClr val="E5E7EB"/>
                </a:solidFill>
                <a:latin typeface="Inter SemiBold"/>
                <a:ea typeface="Inter SemiBold"/>
                <a:cs typeface="Inter SemiBold"/>
                <a:sym typeface="Inter SemiBold"/>
              </a:rPr>
              <a:t>Malikulashtar K MALAMPATIWALLA</a:t>
            </a:r>
            <a:r>
              <a:rPr b="0" i="0" lang="en-US" sz="1200" u="none" cap="none" strike="noStrike">
                <a:solidFill>
                  <a:srgbClr val="F3F4F6"/>
                </a:solidFill>
                <a:latin typeface="Inter"/>
                <a:ea typeface="Inter"/>
                <a:cs typeface="Inter"/>
                <a:sym typeface="Inter"/>
              </a:rPr>
              <a:t> </a:t>
            </a:r>
            <a:endParaRPr sz="1200">
              <a:solidFill>
                <a:srgbClr val="F3F4F6"/>
              </a:solidFill>
              <a:latin typeface="Inter"/>
              <a:ea typeface="Inter"/>
              <a:cs typeface="Inter"/>
              <a:sym typeface="Inter"/>
            </a:endParaRPr>
          </a:p>
          <a:p>
            <a:pPr indent="0" lvl="0" marL="0" marR="0" rtl="0" algn="ctr">
              <a:spcBef>
                <a:spcPts val="0"/>
              </a:spcBef>
              <a:spcAft>
                <a:spcPts val="0"/>
              </a:spcAft>
              <a:buNone/>
            </a:pPr>
            <a:r>
              <a:rPr b="0" i="0" lang="en-US" sz="1200" u="none" cap="none" strike="noStrike">
                <a:solidFill>
                  <a:srgbClr val="6B7280"/>
                </a:solidFill>
                <a:latin typeface="Inter"/>
                <a:ea typeface="Inter"/>
                <a:cs typeface="Inter"/>
                <a:sym typeface="Inter"/>
              </a:rPr>
              <a:t>BITS ID: </a:t>
            </a:r>
            <a:endParaRPr b="0" i="0" sz="1200" u="none" cap="none" strike="noStrike">
              <a:solidFill>
                <a:srgbClr val="6B7280"/>
              </a:solidFill>
              <a:latin typeface="Inter"/>
              <a:ea typeface="Inter"/>
              <a:cs typeface="Inter"/>
              <a:sym typeface="Inter"/>
            </a:endParaRPr>
          </a:p>
          <a:p>
            <a:pPr indent="0" lvl="0" marL="0" marR="0" rtl="0" algn="ctr">
              <a:spcBef>
                <a:spcPts val="0"/>
              </a:spcBef>
              <a:spcAft>
                <a:spcPts val="0"/>
              </a:spcAft>
              <a:buNone/>
            </a:pPr>
            <a:r>
              <a:rPr b="0" i="0" lang="en-US" sz="1200" u="none" cap="none" strike="noStrike">
                <a:solidFill>
                  <a:srgbClr val="E5E7EB"/>
                </a:solidFill>
                <a:latin typeface="Inter"/>
                <a:ea typeface="Inter"/>
                <a:cs typeface="Inter"/>
                <a:sym typeface="Inter"/>
              </a:rPr>
              <a:t>2024DA04133</a:t>
            </a:r>
            <a:endParaRPr/>
          </a:p>
        </p:txBody>
      </p:sp>
      <p:sp>
        <p:nvSpPr>
          <p:cNvPr id="91" name="Google Shape;91;p13"/>
          <p:cNvSpPr txBox="1"/>
          <p:nvPr/>
        </p:nvSpPr>
        <p:spPr>
          <a:xfrm>
            <a:off x="3398043" y="5334000"/>
            <a:ext cx="25788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6B7280"/>
                </a:solidFill>
                <a:latin typeface="Inter"/>
                <a:ea typeface="Inter"/>
                <a:cs typeface="Inter"/>
                <a:sym typeface="Inter"/>
              </a:rPr>
              <a:t>Academic Program</a:t>
            </a:r>
            <a:r>
              <a:rPr b="0" i="0" lang="en-US" sz="1200" u="none" cap="none" strike="noStrike">
                <a:solidFill>
                  <a:srgbClr val="F3F4F6"/>
                </a:solidFill>
                <a:latin typeface="Inter"/>
                <a:ea typeface="Inter"/>
                <a:cs typeface="Inter"/>
                <a:sym typeface="Inter"/>
              </a:rPr>
              <a:t> </a:t>
            </a:r>
            <a:endParaRPr b="0" i="0" sz="1200" u="none" cap="none" strike="noStrike">
              <a:solidFill>
                <a:srgbClr val="F3F4F6"/>
              </a:solidFill>
              <a:latin typeface="Inter"/>
              <a:ea typeface="Inter"/>
              <a:cs typeface="Inter"/>
              <a:sym typeface="Inter"/>
            </a:endParaRPr>
          </a:p>
          <a:p>
            <a:pPr indent="0" lvl="0" marL="0" marR="0" rtl="0" algn="ctr">
              <a:spcBef>
                <a:spcPts val="0"/>
              </a:spcBef>
              <a:spcAft>
                <a:spcPts val="0"/>
              </a:spcAft>
              <a:buNone/>
            </a:pPr>
            <a:r>
              <a:rPr b="0" i="0" lang="en-US" sz="1200" u="none" cap="none" strike="noStrike">
                <a:solidFill>
                  <a:srgbClr val="E5E7EB"/>
                </a:solidFill>
                <a:latin typeface="Inter SemiBold"/>
                <a:ea typeface="Inter SemiBold"/>
                <a:cs typeface="Inter SemiBold"/>
                <a:sym typeface="Inter SemiBold"/>
              </a:rPr>
              <a:t>M.Tech in Data Science &amp; Data Engineering</a:t>
            </a:r>
            <a:r>
              <a:rPr b="0" i="0" lang="en-US" sz="1200" u="none" cap="none" strike="noStrike">
                <a:solidFill>
                  <a:srgbClr val="F3F4F6"/>
                </a:solidFill>
                <a:latin typeface="Inter"/>
                <a:ea typeface="Inter"/>
                <a:cs typeface="Inter"/>
                <a:sym typeface="Inter"/>
              </a:rPr>
              <a:t> </a:t>
            </a:r>
            <a:r>
              <a:rPr b="0" i="0" lang="en-US" sz="1200" u="none" cap="none" strike="noStrike">
                <a:solidFill>
                  <a:srgbClr val="E5E7EB"/>
                </a:solidFill>
                <a:latin typeface="Inter"/>
                <a:ea typeface="Inter"/>
                <a:cs typeface="Inter"/>
                <a:sym typeface="Inter"/>
              </a:rPr>
              <a:t>BITS Pilani</a:t>
            </a:r>
            <a:endParaRPr/>
          </a:p>
        </p:txBody>
      </p:sp>
      <p:sp>
        <p:nvSpPr>
          <p:cNvPr id="92" name="Google Shape;92;p13"/>
          <p:cNvSpPr txBox="1"/>
          <p:nvPr/>
        </p:nvSpPr>
        <p:spPr>
          <a:xfrm>
            <a:off x="6215062" y="5334000"/>
            <a:ext cx="25788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6B7280"/>
                </a:solidFill>
                <a:latin typeface="Inter"/>
                <a:ea typeface="Inter"/>
                <a:cs typeface="Inter"/>
                <a:sym typeface="Inter"/>
              </a:rPr>
              <a:t>Industry Supervisor</a:t>
            </a:r>
            <a:endParaRPr b="0" i="0" sz="1200" u="none" cap="none" strike="noStrike">
              <a:solidFill>
                <a:srgbClr val="6B7280"/>
              </a:solidFill>
              <a:latin typeface="Inter"/>
              <a:ea typeface="Inter"/>
              <a:cs typeface="Inter"/>
              <a:sym typeface="Inter"/>
            </a:endParaRPr>
          </a:p>
          <a:p>
            <a:pPr indent="0" lvl="0" marL="0" marR="0" rtl="0" algn="ctr">
              <a:spcBef>
                <a:spcPts val="0"/>
              </a:spcBef>
              <a:spcAft>
                <a:spcPts val="0"/>
              </a:spcAft>
              <a:buNone/>
            </a:pPr>
            <a:r>
              <a:rPr b="0" i="0" lang="en-US" sz="1200" u="none" cap="none" strike="noStrike">
                <a:solidFill>
                  <a:srgbClr val="F3F4F6"/>
                </a:solidFill>
                <a:latin typeface="Inter"/>
                <a:ea typeface="Inter"/>
                <a:cs typeface="Inter"/>
                <a:sym typeface="Inter"/>
              </a:rPr>
              <a:t> </a:t>
            </a:r>
            <a:r>
              <a:rPr b="0" i="0" lang="en-US" sz="1200" u="none" cap="none" strike="noStrike">
                <a:solidFill>
                  <a:srgbClr val="E5E7EB"/>
                </a:solidFill>
                <a:latin typeface="Inter SemiBold"/>
                <a:ea typeface="Inter SemiBold"/>
                <a:cs typeface="Inter SemiBold"/>
                <a:sym typeface="Inter SemiBold"/>
              </a:rPr>
              <a:t>Gaurav ArvindBhai Lathiya</a:t>
            </a:r>
            <a:r>
              <a:rPr b="0" i="0" lang="en-US" sz="1200" u="none" cap="none" strike="noStrike">
                <a:solidFill>
                  <a:srgbClr val="F3F4F6"/>
                </a:solidFill>
                <a:latin typeface="Inter"/>
                <a:ea typeface="Inter"/>
                <a:cs typeface="Inter"/>
                <a:sym typeface="Inter"/>
              </a:rPr>
              <a:t> </a:t>
            </a:r>
            <a:r>
              <a:rPr b="0" i="0" lang="en-US" sz="1200" u="none" cap="none" strike="noStrike">
                <a:solidFill>
                  <a:srgbClr val="E5E7EB"/>
                </a:solidFill>
                <a:latin typeface="Inter"/>
                <a:ea typeface="Inter"/>
                <a:cs typeface="Inter"/>
                <a:sym typeface="Inter"/>
              </a:rPr>
              <a:t>Staff Engineer - Lead</a:t>
            </a:r>
            <a:endParaRPr/>
          </a:p>
        </p:txBody>
      </p:sp>
      <p:sp>
        <p:nvSpPr>
          <p:cNvPr id="93" name="Google Shape;93;p13"/>
          <p:cNvSpPr txBox="1"/>
          <p:nvPr/>
        </p:nvSpPr>
        <p:spPr>
          <a:xfrm>
            <a:off x="9032081" y="5334000"/>
            <a:ext cx="25788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6B7280"/>
                </a:solidFill>
                <a:latin typeface="Inter"/>
                <a:ea typeface="Inter"/>
                <a:cs typeface="Inter"/>
                <a:sym typeface="Inter"/>
              </a:rPr>
              <a:t>Host Organization</a:t>
            </a:r>
            <a:r>
              <a:rPr b="0" i="0" lang="en-US" sz="1200" u="none" cap="none" strike="noStrike">
                <a:solidFill>
                  <a:srgbClr val="F3F4F6"/>
                </a:solidFill>
                <a:latin typeface="Inter"/>
                <a:ea typeface="Inter"/>
                <a:cs typeface="Inter"/>
                <a:sym typeface="Inter"/>
              </a:rPr>
              <a:t> </a:t>
            </a:r>
            <a:endParaRPr b="0" i="0" sz="1200" u="none" cap="none" strike="noStrike">
              <a:solidFill>
                <a:srgbClr val="F3F4F6"/>
              </a:solidFill>
              <a:latin typeface="Inter"/>
              <a:ea typeface="Inter"/>
              <a:cs typeface="Inter"/>
              <a:sym typeface="Inter"/>
            </a:endParaRPr>
          </a:p>
          <a:p>
            <a:pPr indent="0" lvl="0" marL="0" marR="0" rtl="0" algn="ctr">
              <a:spcBef>
                <a:spcPts val="0"/>
              </a:spcBef>
              <a:spcAft>
                <a:spcPts val="0"/>
              </a:spcAft>
              <a:buNone/>
            </a:pPr>
            <a:r>
              <a:rPr b="0" i="0" lang="en-US" sz="1200" u="none" cap="none" strike="noStrike">
                <a:solidFill>
                  <a:srgbClr val="E5E7EB"/>
                </a:solidFill>
                <a:latin typeface="Inter SemiBold"/>
                <a:ea typeface="Inter SemiBold"/>
                <a:cs typeface="Inter SemiBold"/>
                <a:sym typeface="Inter SemiBold"/>
              </a:rPr>
              <a:t>Altimetrik Pvt Ltd</a:t>
            </a:r>
            <a:r>
              <a:rPr b="0" i="0" lang="en-US" sz="1200" u="none" cap="none" strike="noStrike">
                <a:solidFill>
                  <a:srgbClr val="F3F4F6"/>
                </a:solidFill>
                <a:latin typeface="Inter"/>
                <a:ea typeface="Inter"/>
                <a:cs typeface="Inter"/>
                <a:sym typeface="Inter"/>
              </a:rPr>
              <a:t> </a:t>
            </a:r>
            <a:r>
              <a:rPr b="0" i="0" lang="en-US" sz="1200" u="none" cap="none" strike="noStrike">
                <a:solidFill>
                  <a:srgbClr val="E5E7EB"/>
                </a:solidFill>
                <a:latin typeface="Inter"/>
                <a:ea typeface="Inter"/>
                <a:cs typeface="Inter"/>
                <a:sym typeface="Inter"/>
              </a:rPr>
              <a:t>Bangalore, India</a:t>
            </a:r>
            <a:endParaRPr/>
          </a:p>
        </p:txBody>
      </p:sp>
      <p:pic>
        <p:nvPicPr>
          <p:cNvPr descr="image.png" id="94" name="Google Shape;94;p13"/>
          <p:cNvPicPr preferRelativeResize="0"/>
          <p:nvPr/>
        </p:nvPicPr>
        <p:blipFill rotWithShape="1">
          <a:blip r:embed="rId6">
            <a:alphaModFix/>
          </a:blip>
          <a:srcRect b="0" l="0" r="0" t="0"/>
          <a:stretch/>
        </p:blipFill>
        <p:spPr>
          <a:xfrm>
            <a:off x="723900" y="1047750"/>
            <a:ext cx="123825" cy="114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image.png" id="99" name="Google Shape;99;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 name="Google Shape;100;p14"/>
          <p:cNvPicPr preferRelativeResize="0"/>
          <p:nvPr/>
        </p:nvPicPr>
        <p:blipFill rotWithShape="1">
          <a:blip r:embed="rId4">
            <a:alphaModFix/>
          </a:blip>
          <a:srcRect b="0" l="0" r="0" t="0"/>
          <a:stretch/>
        </p:blipFill>
        <p:spPr>
          <a:xfrm>
            <a:off x="581025" y="2164109"/>
            <a:ext cx="3524250" cy="2562225"/>
          </a:xfrm>
          <a:prstGeom prst="rect">
            <a:avLst/>
          </a:prstGeom>
          <a:noFill/>
          <a:ln>
            <a:noFill/>
          </a:ln>
        </p:spPr>
      </p:pic>
      <p:pic>
        <p:nvPicPr>
          <p:cNvPr descr="image.png" id="101" name="Google Shape;101;p14"/>
          <p:cNvPicPr preferRelativeResize="0"/>
          <p:nvPr/>
        </p:nvPicPr>
        <p:blipFill rotWithShape="1">
          <a:blip r:embed="rId5">
            <a:alphaModFix/>
          </a:blip>
          <a:srcRect b="0" l="0" r="0" t="0"/>
          <a:stretch/>
        </p:blipFill>
        <p:spPr>
          <a:xfrm>
            <a:off x="4333875" y="2164109"/>
            <a:ext cx="3524250" cy="2562225"/>
          </a:xfrm>
          <a:prstGeom prst="rect">
            <a:avLst/>
          </a:prstGeom>
          <a:noFill/>
          <a:ln>
            <a:noFill/>
          </a:ln>
        </p:spPr>
      </p:pic>
      <p:pic>
        <p:nvPicPr>
          <p:cNvPr descr="image.png" id="102" name="Google Shape;102;p14"/>
          <p:cNvPicPr preferRelativeResize="0"/>
          <p:nvPr/>
        </p:nvPicPr>
        <p:blipFill rotWithShape="1">
          <a:blip r:embed="rId4">
            <a:alphaModFix/>
          </a:blip>
          <a:srcRect b="0" l="0" r="0" t="0"/>
          <a:stretch/>
        </p:blipFill>
        <p:spPr>
          <a:xfrm>
            <a:off x="8086725" y="2164109"/>
            <a:ext cx="3524250" cy="2562225"/>
          </a:xfrm>
          <a:prstGeom prst="rect">
            <a:avLst/>
          </a:prstGeom>
          <a:noFill/>
          <a:ln>
            <a:noFill/>
          </a:ln>
        </p:spPr>
      </p:pic>
      <p:sp>
        <p:nvSpPr>
          <p:cNvPr id="103" name="Google Shape;103;p14"/>
          <p:cNvSpPr txBox="1"/>
          <p:nvPr/>
        </p:nvSpPr>
        <p:spPr>
          <a:xfrm>
            <a:off x="7839075" y="247650"/>
            <a:ext cx="37719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CONTEXT &amp; PROBLEM DEFINITION</a:t>
            </a:r>
            <a:endParaRPr/>
          </a:p>
        </p:txBody>
      </p:sp>
      <p:sp>
        <p:nvSpPr>
          <p:cNvPr id="104" name="Google Shape;104;p14"/>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The Business Problem </a:t>
            </a:r>
            <a:r>
              <a:rPr b="1" i="0" lang="en-US" sz="2550" u="none" cap="none" strike="noStrike">
                <a:solidFill>
                  <a:srgbClr val="38BDF8"/>
                </a:solidFill>
                <a:latin typeface="Plus Jakarta Sans"/>
                <a:ea typeface="Plus Jakarta Sans"/>
                <a:cs typeface="Plus Jakarta Sans"/>
                <a:sym typeface="Plus Jakarta Sans"/>
              </a:rPr>
              <a:t>(The "Why")</a:t>
            </a:r>
            <a:endParaRPr/>
          </a:p>
        </p:txBody>
      </p:sp>
      <p:sp>
        <p:nvSpPr>
          <p:cNvPr id="105" name="Google Shape;105;p14"/>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6" name="Google Shape;106;p14"/>
          <p:cNvPicPr preferRelativeResize="0"/>
          <p:nvPr/>
        </p:nvPicPr>
        <p:blipFill rotWithShape="1">
          <a:blip r:embed="rId6">
            <a:alphaModFix/>
          </a:blip>
          <a:srcRect b="0" l="0" r="0" t="0"/>
          <a:stretch/>
        </p:blipFill>
        <p:spPr>
          <a:xfrm>
            <a:off x="723900" y="6023669"/>
            <a:ext cx="104775" cy="114300"/>
          </a:xfrm>
          <a:prstGeom prst="rect">
            <a:avLst/>
          </a:prstGeom>
          <a:noFill/>
          <a:ln>
            <a:noFill/>
          </a:ln>
        </p:spPr>
      </p:pic>
      <p:sp>
        <p:nvSpPr>
          <p:cNvPr id="107" name="Google Shape;107;p14"/>
          <p:cNvSpPr txBox="1"/>
          <p:nvPr/>
        </p:nvSpPr>
        <p:spPr>
          <a:xfrm>
            <a:off x="923925" y="6004619"/>
            <a:ext cx="10544175"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900" u="none" cap="none" strike="noStrike">
                <a:solidFill>
                  <a:srgbClr val="9CA3AF"/>
                </a:solidFill>
                <a:latin typeface="Inter"/>
                <a:ea typeface="Inter"/>
                <a:cs typeface="Inter"/>
                <a:sym typeface="Inter"/>
              </a:rPr>
              <a:t>Presenter Notes:</a:t>
            </a:r>
            <a:r>
              <a:rPr b="0" i="0" lang="en-US" sz="900" u="none" cap="none" strike="noStrike">
                <a:solidFill>
                  <a:srgbClr val="9CA3AF"/>
                </a:solidFill>
                <a:latin typeface="Inter"/>
                <a:ea typeface="Inter"/>
                <a:cs typeface="Inter"/>
                <a:sym typeface="Inter"/>
              </a:rPr>
              <a:t> "We aren't just tracking candidates; we are solving the problem of data volatility. By preserving how a candidate's profile changes over time, we can perform longitudinal analysis on salary trends and engagement patterns."</a:t>
            </a:r>
            <a:endParaRPr/>
          </a:p>
        </p:txBody>
      </p:sp>
      <p:pic>
        <p:nvPicPr>
          <p:cNvPr descr="image.png" id="108" name="Google Shape;108;p14"/>
          <p:cNvPicPr preferRelativeResize="0"/>
          <p:nvPr/>
        </p:nvPicPr>
        <p:blipFill rotWithShape="1">
          <a:blip r:embed="rId7">
            <a:alphaModFix/>
          </a:blip>
          <a:srcRect b="0" l="0" r="0" t="0"/>
          <a:stretch/>
        </p:blipFill>
        <p:spPr>
          <a:xfrm>
            <a:off x="819150" y="2402234"/>
            <a:ext cx="419100" cy="419100"/>
          </a:xfrm>
          <a:prstGeom prst="rect">
            <a:avLst/>
          </a:prstGeom>
          <a:noFill/>
          <a:ln>
            <a:noFill/>
          </a:ln>
        </p:spPr>
      </p:pic>
      <p:sp>
        <p:nvSpPr>
          <p:cNvPr id="109" name="Google Shape;109;p14"/>
          <p:cNvSpPr txBox="1"/>
          <p:nvPr/>
        </p:nvSpPr>
        <p:spPr>
          <a:xfrm>
            <a:off x="819150" y="2964209"/>
            <a:ext cx="3200400" cy="2381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F3F4F6"/>
                </a:solidFill>
                <a:latin typeface="Plus Jakarta Sans SemiBold"/>
                <a:ea typeface="Plus Jakarta Sans SemiBold"/>
                <a:cs typeface="Plus Jakarta Sans SemiBold"/>
                <a:sym typeface="Plus Jakarta Sans SemiBold"/>
              </a:rPr>
              <a:t>The Gap</a:t>
            </a:r>
            <a:endParaRPr/>
          </a:p>
        </p:txBody>
      </p:sp>
      <p:sp>
        <p:nvSpPr>
          <p:cNvPr id="110" name="Google Shape;110;p14"/>
          <p:cNvSpPr txBox="1"/>
          <p:nvPr/>
        </p:nvSpPr>
        <p:spPr>
          <a:xfrm>
            <a:off x="819150" y="3345209"/>
            <a:ext cx="3048000" cy="1143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D1D5DB"/>
                </a:solidFill>
                <a:latin typeface="Inter"/>
                <a:ea typeface="Inter"/>
                <a:cs typeface="Inter"/>
                <a:sym typeface="Inter"/>
              </a:rPr>
              <a:t>Current HR tools operate on "Update-in-Place" logic, leading to </a:t>
            </a:r>
            <a:r>
              <a:rPr b="1" i="0" lang="en-US" sz="1125" u="none" cap="none" strike="noStrike">
                <a:solidFill>
                  <a:srgbClr val="38BDF8"/>
                </a:solidFill>
                <a:latin typeface="Inter"/>
                <a:ea typeface="Inter"/>
                <a:cs typeface="Inter"/>
                <a:sym typeface="Inter"/>
              </a:rPr>
              <a:t>Temporal Data Decay</a:t>
            </a:r>
            <a:r>
              <a:rPr b="0" i="0" lang="en-US" sz="1125" u="none" cap="none" strike="noStrike">
                <a:solidFill>
                  <a:srgbClr val="D1D5DB"/>
                </a:solidFill>
                <a:latin typeface="Inter"/>
                <a:ea typeface="Inter"/>
                <a:cs typeface="Inter"/>
                <a:sym typeface="Inter"/>
              </a:rPr>
              <a:t> (loss of historical state). Profiles overwrite on shift, erasing candidates' developmental paths.</a:t>
            </a:r>
            <a:endParaRPr/>
          </a:p>
        </p:txBody>
      </p:sp>
      <p:pic>
        <p:nvPicPr>
          <p:cNvPr descr="image.png" id="111" name="Google Shape;111;p14"/>
          <p:cNvPicPr preferRelativeResize="0"/>
          <p:nvPr/>
        </p:nvPicPr>
        <p:blipFill rotWithShape="1">
          <a:blip r:embed="rId8">
            <a:alphaModFix/>
          </a:blip>
          <a:srcRect b="0" l="0" r="0" t="0"/>
          <a:stretch/>
        </p:blipFill>
        <p:spPr>
          <a:xfrm>
            <a:off x="4572000" y="2402234"/>
            <a:ext cx="419100" cy="419100"/>
          </a:xfrm>
          <a:prstGeom prst="rect">
            <a:avLst/>
          </a:prstGeom>
          <a:noFill/>
          <a:ln>
            <a:noFill/>
          </a:ln>
        </p:spPr>
      </p:pic>
      <p:sp>
        <p:nvSpPr>
          <p:cNvPr id="112" name="Google Shape;112;p14"/>
          <p:cNvSpPr txBox="1"/>
          <p:nvPr/>
        </p:nvSpPr>
        <p:spPr>
          <a:xfrm>
            <a:off x="4572000" y="2964209"/>
            <a:ext cx="3200400" cy="2381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F3F4F6"/>
                </a:solidFill>
                <a:latin typeface="Plus Jakarta Sans SemiBold"/>
                <a:ea typeface="Plus Jakarta Sans SemiBold"/>
                <a:cs typeface="Plus Jakarta Sans SemiBold"/>
                <a:sym typeface="Plus Jakarta Sans SemiBold"/>
              </a:rPr>
              <a:t>The Bottleneck</a:t>
            </a:r>
            <a:endParaRPr/>
          </a:p>
        </p:txBody>
      </p:sp>
      <p:sp>
        <p:nvSpPr>
          <p:cNvPr id="113" name="Google Shape;113;p14"/>
          <p:cNvSpPr txBox="1"/>
          <p:nvPr/>
        </p:nvSpPr>
        <p:spPr>
          <a:xfrm>
            <a:off x="4572000" y="3345209"/>
            <a:ext cx="30480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D1D5DB"/>
                </a:solidFill>
                <a:latin typeface="Inter"/>
                <a:ea typeface="Inter"/>
                <a:cs typeface="Inter"/>
                <a:sym typeface="Inter"/>
              </a:rPr>
              <a:t>Critical business insights are </a:t>
            </a:r>
            <a:r>
              <a:rPr b="1" i="0" lang="en-US" sz="1125" u="none" cap="none" strike="noStrike">
                <a:solidFill>
                  <a:srgbClr val="38BDF8"/>
                </a:solidFill>
                <a:latin typeface="Inter"/>
                <a:ea typeface="Inter"/>
                <a:cs typeface="Inter"/>
                <a:sym typeface="Inter"/>
              </a:rPr>
              <a:t>trapped behind SQL barriers</a:t>
            </a:r>
            <a:r>
              <a:rPr b="0" i="0" lang="en-US" sz="1125" u="none" cap="none" strike="noStrike">
                <a:solidFill>
                  <a:srgbClr val="D1D5DB"/>
                </a:solidFill>
                <a:latin typeface="Inter"/>
                <a:ea typeface="Inter"/>
                <a:cs typeface="Inter"/>
                <a:sym typeface="Inter"/>
              </a:rPr>
              <a:t>, requiring technical data analysts to manually write queries and generate every single customized report.</a:t>
            </a:r>
            <a:endParaRPr/>
          </a:p>
        </p:txBody>
      </p:sp>
      <p:pic>
        <p:nvPicPr>
          <p:cNvPr descr="image.png" id="114" name="Google Shape;114;p14"/>
          <p:cNvPicPr preferRelativeResize="0"/>
          <p:nvPr/>
        </p:nvPicPr>
        <p:blipFill rotWithShape="1">
          <a:blip r:embed="rId9">
            <a:alphaModFix/>
          </a:blip>
          <a:srcRect b="0" l="0" r="0" t="0"/>
          <a:stretch/>
        </p:blipFill>
        <p:spPr>
          <a:xfrm>
            <a:off x="8324850" y="2402234"/>
            <a:ext cx="419100" cy="419100"/>
          </a:xfrm>
          <a:prstGeom prst="rect">
            <a:avLst/>
          </a:prstGeom>
          <a:noFill/>
          <a:ln>
            <a:noFill/>
          </a:ln>
        </p:spPr>
      </p:pic>
      <p:sp>
        <p:nvSpPr>
          <p:cNvPr id="115" name="Google Shape;115;p14"/>
          <p:cNvSpPr txBox="1"/>
          <p:nvPr/>
        </p:nvSpPr>
        <p:spPr>
          <a:xfrm>
            <a:off x="8324850" y="2964209"/>
            <a:ext cx="3200400" cy="2381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F3F4F6"/>
                </a:solidFill>
                <a:latin typeface="Plus Jakarta Sans SemiBold"/>
                <a:ea typeface="Plus Jakarta Sans SemiBold"/>
                <a:cs typeface="Plus Jakarta Sans SemiBold"/>
                <a:sym typeface="Plus Jakarta Sans SemiBold"/>
              </a:rPr>
              <a:t>The Need</a:t>
            </a:r>
            <a:endParaRPr/>
          </a:p>
        </p:txBody>
      </p:sp>
      <p:sp>
        <p:nvSpPr>
          <p:cNvPr id="116" name="Google Shape;116;p14"/>
          <p:cNvSpPr txBox="1"/>
          <p:nvPr/>
        </p:nvSpPr>
        <p:spPr>
          <a:xfrm>
            <a:off x="8324850" y="3345209"/>
            <a:ext cx="3048000" cy="1143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D1D5DB"/>
                </a:solidFill>
                <a:latin typeface="Inter"/>
                <a:ea typeface="Inter"/>
                <a:cs typeface="Inter"/>
                <a:sym typeface="Inter"/>
              </a:rPr>
              <a:t>A resilient data system that preserves the complete evolution of a candidate (</a:t>
            </a:r>
            <a:r>
              <a:rPr b="1" i="0" lang="en-US" sz="1125" u="none" cap="none" strike="noStrike">
                <a:solidFill>
                  <a:srgbClr val="38BDF8"/>
                </a:solidFill>
                <a:latin typeface="Inter"/>
                <a:ea typeface="Inter"/>
                <a:cs typeface="Inter"/>
                <a:sym typeface="Inter"/>
              </a:rPr>
              <a:t>SCD Type 2</a:t>
            </a:r>
            <a:r>
              <a:rPr b="0" i="0" lang="en-US" sz="1125" u="none" cap="none" strike="noStrike">
                <a:solidFill>
                  <a:srgbClr val="D1D5DB"/>
                </a:solidFill>
                <a:latin typeface="Inter"/>
                <a:ea typeface="Inter"/>
                <a:cs typeface="Inter"/>
                <a:sym typeface="Inter"/>
              </a:rPr>
              <a:t>) and provides an intuitive, reliable </a:t>
            </a:r>
            <a:r>
              <a:rPr b="1" i="0" lang="en-US" sz="1125" u="none" cap="none" strike="noStrike">
                <a:solidFill>
                  <a:srgbClr val="38BDF8"/>
                </a:solidFill>
                <a:latin typeface="Inter"/>
                <a:ea typeface="Inter"/>
                <a:cs typeface="Inter"/>
                <a:sym typeface="Inter"/>
              </a:rPr>
              <a:t>Natural Language Interface</a:t>
            </a:r>
            <a:r>
              <a:rPr b="0" i="0" lang="en-US" sz="1125" u="none" cap="none" strike="noStrike">
                <a:solidFill>
                  <a:srgbClr val="D1D5DB"/>
                </a:solidFill>
                <a:latin typeface="Inter"/>
                <a:ea typeface="Inter"/>
                <a:cs typeface="Inter"/>
                <a:sym typeface="Inter"/>
              </a:rPr>
              <a:t> for non-technical recruiters.</a:t>
            </a:r>
            <a:endParaRPr/>
          </a:p>
        </p:txBody>
      </p:sp>
      <p:pic>
        <p:nvPicPr>
          <p:cNvPr descr="image.png" id="117" name="Google Shape;117;p14"/>
          <p:cNvPicPr preferRelativeResize="0"/>
          <p:nvPr/>
        </p:nvPicPr>
        <p:blipFill rotWithShape="1">
          <a:blip r:embed="rId10">
            <a:alphaModFix/>
          </a:blip>
          <a:srcRect b="0" l="0" r="0" t="0"/>
          <a:stretch/>
        </p:blipFill>
        <p:spPr>
          <a:xfrm>
            <a:off x="962025" y="2526059"/>
            <a:ext cx="133350" cy="171450"/>
          </a:xfrm>
          <a:prstGeom prst="rect">
            <a:avLst/>
          </a:prstGeom>
          <a:noFill/>
          <a:ln>
            <a:noFill/>
          </a:ln>
        </p:spPr>
      </p:pic>
      <p:pic>
        <p:nvPicPr>
          <p:cNvPr descr="image.png" id="118" name="Google Shape;118;p14"/>
          <p:cNvPicPr preferRelativeResize="0"/>
          <p:nvPr/>
        </p:nvPicPr>
        <p:blipFill rotWithShape="1">
          <a:blip r:embed="rId11">
            <a:alphaModFix/>
          </a:blip>
          <a:srcRect b="0" l="0" r="0" t="0"/>
          <a:stretch/>
        </p:blipFill>
        <p:spPr>
          <a:xfrm>
            <a:off x="4705350" y="2526059"/>
            <a:ext cx="152400" cy="171450"/>
          </a:xfrm>
          <a:prstGeom prst="rect">
            <a:avLst/>
          </a:prstGeom>
          <a:noFill/>
          <a:ln>
            <a:noFill/>
          </a:ln>
        </p:spPr>
      </p:pic>
      <p:pic>
        <p:nvPicPr>
          <p:cNvPr descr="image.png" id="119" name="Google Shape;119;p14"/>
          <p:cNvPicPr preferRelativeResize="0"/>
          <p:nvPr/>
        </p:nvPicPr>
        <p:blipFill rotWithShape="1">
          <a:blip r:embed="rId12">
            <a:alphaModFix/>
          </a:blip>
          <a:srcRect b="0" l="0" r="0" t="0"/>
          <a:stretch/>
        </p:blipFill>
        <p:spPr>
          <a:xfrm>
            <a:off x="8448675" y="2526059"/>
            <a:ext cx="171450" cy="171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image.png" id="124" name="Google Shape;124;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5" name="Google Shape;125;p15"/>
          <p:cNvPicPr preferRelativeResize="0"/>
          <p:nvPr/>
        </p:nvPicPr>
        <p:blipFill rotWithShape="1">
          <a:blip r:embed="rId4">
            <a:alphaModFix/>
          </a:blip>
          <a:srcRect b="0" l="0" r="0" t="0"/>
          <a:stretch/>
        </p:blipFill>
        <p:spPr>
          <a:xfrm>
            <a:off x="581025" y="1925984"/>
            <a:ext cx="5372100" cy="3038475"/>
          </a:xfrm>
          <a:prstGeom prst="rect">
            <a:avLst/>
          </a:prstGeom>
          <a:noFill/>
          <a:ln>
            <a:noFill/>
          </a:ln>
        </p:spPr>
      </p:pic>
      <p:pic>
        <p:nvPicPr>
          <p:cNvPr descr="image.png" id="126" name="Google Shape;126;p15"/>
          <p:cNvPicPr preferRelativeResize="0"/>
          <p:nvPr/>
        </p:nvPicPr>
        <p:blipFill rotWithShape="1">
          <a:blip r:embed="rId4">
            <a:alphaModFix/>
          </a:blip>
          <a:srcRect b="0" l="0" r="0" t="0"/>
          <a:stretch/>
        </p:blipFill>
        <p:spPr>
          <a:xfrm>
            <a:off x="6238875" y="1925984"/>
            <a:ext cx="5372100" cy="3038475"/>
          </a:xfrm>
          <a:prstGeom prst="rect">
            <a:avLst/>
          </a:prstGeom>
          <a:noFill/>
          <a:ln>
            <a:noFill/>
          </a:ln>
        </p:spPr>
      </p:pic>
      <p:sp>
        <p:nvSpPr>
          <p:cNvPr id="127" name="Google Shape;127;p15"/>
          <p:cNvSpPr txBox="1"/>
          <p:nvPr/>
        </p:nvSpPr>
        <p:spPr>
          <a:xfrm>
            <a:off x="8524875" y="247650"/>
            <a:ext cx="30861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STRATEGIC OBJECTIVES</a:t>
            </a:r>
            <a:endParaRPr/>
          </a:p>
        </p:txBody>
      </p:sp>
      <p:sp>
        <p:nvSpPr>
          <p:cNvPr id="128" name="Google Shape;128;p15"/>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Project </a:t>
            </a:r>
            <a:r>
              <a:rPr b="1" i="0" lang="en-US" sz="2550" u="none" cap="none" strike="noStrike">
                <a:solidFill>
                  <a:srgbClr val="38BDF8"/>
                </a:solidFill>
                <a:latin typeface="Plus Jakarta Sans"/>
                <a:ea typeface="Plus Jakarta Sans"/>
                <a:cs typeface="Plus Jakarta Sans"/>
                <a:sym typeface="Plus Jakarta Sans"/>
              </a:rPr>
              <a:t>Objectives</a:t>
            </a:r>
            <a:endParaRPr/>
          </a:p>
        </p:txBody>
      </p:sp>
      <p:sp>
        <p:nvSpPr>
          <p:cNvPr id="129" name="Google Shape;129;p15"/>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0" name="Google Shape;130;p15"/>
          <p:cNvPicPr preferRelativeResize="0"/>
          <p:nvPr/>
        </p:nvPicPr>
        <p:blipFill rotWithShape="1">
          <a:blip r:embed="rId5">
            <a:alphaModFix/>
          </a:blip>
          <a:srcRect b="0" l="0" r="0" t="0"/>
          <a:stretch/>
        </p:blipFill>
        <p:spPr>
          <a:xfrm>
            <a:off x="723900" y="6023669"/>
            <a:ext cx="104775" cy="114300"/>
          </a:xfrm>
          <a:prstGeom prst="rect">
            <a:avLst/>
          </a:prstGeom>
          <a:noFill/>
          <a:ln>
            <a:noFill/>
          </a:ln>
        </p:spPr>
      </p:pic>
      <p:sp>
        <p:nvSpPr>
          <p:cNvPr id="131" name="Google Shape;131;p15"/>
          <p:cNvSpPr txBox="1"/>
          <p:nvPr/>
        </p:nvSpPr>
        <p:spPr>
          <a:xfrm>
            <a:off x="923925" y="6004619"/>
            <a:ext cx="10544175"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900" u="none" cap="none" strike="noStrike">
                <a:solidFill>
                  <a:srgbClr val="9CA3AF"/>
                </a:solidFill>
                <a:latin typeface="Inter"/>
                <a:ea typeface="Inter"/>
                <a:cs typeface="Inter"/>
                <a:sym typeface="Inter"/>
              </a:rPr>
              <a:t>Presenter Notes:</a:t>
            </a:r>
            <a:r>
              <a:rPr b="0" i="0" lang="en-US" sz="900" u="none" cap="none" strike="noStrike">
                <a:solidFill>
                  <a:srgbClr val="9CA3AF"/>
                </a:solidFill>
                <a:latin typeface="Inter"/>
                <a:ea typeface="Inter"/>
                <a:cs typeface="Inter"/>
                <a:sym typeface="Inter"/>
              </a:rPr>
              <a:t> "My objective is to decouple storage from compute. By using a Lakehouse pattern, I ensure that the operational app remains fast while the analytical layer can handle massive datasets."</a:t>
            </a:r>
            <a:endParaRPr/>
          </a:p>
        </p:txBody>
      </p:sp>
      <p:sp>
        <p:nvSpPr>
          <p:cNvPr id="132" name="Google Shape;132;p15"/>
          <p:cNvSpPr txBox="1"/>
          <p:nvPr/>
        </p:nvSpPr>
        <p:spPr>
          <a:xfrm>
            <a:off x="1200150" y="2164109"/>
            <a:ext cx="4740592" cy="2762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38BDF8"/>
                </a:solidFill>
                <a:latin typeface="Plus Jakarta Sans"/>
                <a:ea typeface="Plus Jakarta Sans"/>
                <a:cs typeface="Plus Jakarta Sans"/>
                <a:sym typeface="Plus Jakarta Sans"/>
              </a:rPr>
              <a:t>Engineering Objectives</a:t>
            </a:r>
            <a:endParaRPr/>
          </a:p>
        </p:txBody>
      </p:sp>
      <p:sp>
        <p:nvSpPr>
          <p:cNvPr id="133" name="Google Shape;133;p15"/>
          <p:cNvSpPr/>
          <p:nvPr/>
        </p:nvSpPr>
        <p:spPr>
          <a:xfrm>
            <a:off x="819150" y="2526059"/>
            <a:ext cx="48958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5"/>
          <p:cNvSpPr txBox="1"/>
          <p:nvPr/>
        </p:nvSpPr>
        <p:spPr>
          <a:xfrm>
            <a:off x="6800850" y="2164109"/>
            <a:ext cx="4800600" cy="2762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10B981"/>
                </a:solidFill>
                <a:latin typeface="Plus Jakarta Sans"/>
                <a:ea typeface="Plus Jakarta Sans"/>
                <a:cs typeface="Plus Jakarta Sans"/>
                <a:sym typeface="Plus Jakarta Sans"/>
              </a:rPr>
              <a:t>Intelligence Objectives</a:t>
            </a:r>
            <a:endParaRPr/>
          </a:p>
        </p:txBody>
      </p:sp>
      <p:sp>
        <p:nvSpPr>
          <p:cNvPr id="135" name="Google Shape;135;p15"/>
          <p:cNvSpPr/>
          <p:nvPr/>
        </p:nvSpPr>
        <p:spPr>
          <a:xfrm>
            <a:off x="6477000" y="2526059"/>
            <a:ext cx="48958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6" name="Google Shape;136;p15"/>
          <p:cNvPicPr preferRelativeResize="0"/>
          <p:nvPr/>
        </p:nvPicPr>
        <p:blipFill rotWithShape="1">
          <a:blip r:embed="rId6">
            <a:alphaModFix/>
          </a:blip>
          <a:srcRect b="0" l="0" r="0" t="0"/>
          <a:stretch/>
        </p:blipFill>
        <p:spPr>
          <a:xfrm>
            <a:off x="819150" y="2192684"/>
            <a:ext cx="266700" cy="209550"/>
          </a:xfrm>
          <a:prstGeom prst="rect">
            <a:avLst/>
          </a:prstGeom>
          <a:noFill/>
          <a:ln>
            <a:noFill/>
          </a:ln>
        </p:spPr>
      </p:pic>
      <p:sp>
        <p:nvSpPr>
          <p:cNvPr id="137" name="Google Shape;137;p15"/>
          <p:cNvSpPr txBox="1"/>
          <p:nvPr/>
        </p:nvSpPr>
        <p:spPr>
          <a:xfrm>
            <a:off x="1104900" y="2726084"/>
            <a:ext cx="4610100"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Hybrid Lakehouse Architecture:</a:t>
            </a:r>
            <a:r>
              <a:rPr b="0" i="0" lang="en-US" sz="1125" u="none" cap="none" strike="noStrike">
                <a:solidFill>
                  <a:srgbClr val="E5E7EB"/>
                </a:solidFill>
                <a:latin typeface="Inter"/>
                <a:ea typeface="Inter"/>
                <a:cs typeface="Inter"/>
                <a:sym typeface="Inter"/>
              </a:rPr>
              <a:t> Seamlessly integrate data pipelines shifting from Azure PostgreSQL → ADLS Gen2 → Serving Gold Layer.</a:t>
            </a:r>
            <a:endParaRPr/>
          </a:p>
        </p:txBody>
      </p:sp>
      <p:sp>
        <p:nvSpPr>
          <p:cNvPr id="138" name="Google Shape;138;p15"/>
          <p:cNvSpPr txBox="1"/>
          <p:nvPr/>
        </p:nvSpPr>
        <p:spPr>
          <a:xfrm>
            <a:off x="1104900" y="3511897"/>
            <a:ext cx="4610100"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SCD Type 2 Pipeline:</a:t>
            </a:r>
            <a:r>
              <a:rPr b="0" i="0" lang="en-US" sz="1125" u="none" cap="none" strike="noStrike">
                <a:solidFill>
                  <a:srgbClr val="E5E7EB"/>
                </a:solidFill>
                <a:latin typeface="Inter"/>
                <a:ea typeface="Inter"/>
                <a:cs typeface="Inter"/>
                <a:sym typeface="Inter"/>
              </a:rPr>
              <a:t> Maintain and track continuous chronological historical versions of candidate records.</a:t>
            </a:r>
            <a:endParaRPr/>
          </a:p>
        </p:txBody>
      </p:sp>
      <p:sp>
        <p:nvSpPr>
          <p:cNvPr id="139" name="Google Shape;139;p15"/>
          <p:cNvSpPr txBox="1"/>
          <p:nvPr/>
        </p:nvSpPr>
        <p:spPr>
          <a:xfrm>
            <a:off x="1104900" y="4083397"/>
            <a:ext cx="4610100"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Modern Data Stack (MDS):</a:t>
            </a:r>
            <a:r>
              <a:rPr b="0" i="0" lang="en-US" sz="1125" u="none" cap="none" strike="noStrike">
                <a:solidFill>
                  <a:srgbClr val="E5E7EB"/>
                </a:solidFill>
                <a:latin typeface="Inter"/>
                <a:ea typeface="Inter"/>
                <a:cs typeface="Inter"/>
                <a:sym typeface="Inter"/>
              </a:rPr>
              <a:t> Build highly decoupled layers utilizing Prefect Cloud for orchestration and DuckDB for lightweight, serverless analytical transformations.</a:t>
            </a:r>
            <a:endParaRPr/>
          </a:p>
        </p:txBody>
      </p:sp>
      <p:pic>
        <p:nvPicPr>
          <p:cNvPr descr="image.png" id="140" name="Google Shape;140;p15"/>
          <p:cNvPicPr preferRelativeResize="0"/>
          <p:nvPr/>
        </p:nvPicPr>
        <p:blipFill rotWithShape="1">
          <a:blip r:embed="rId7">
            <a:alphaModFix/>
          </a:blip>
          <a:srcRect b="0" l="0" r="0" t="0"/>
          <a:stretch/>
        </p:blipFill>
        <p:spPr>
          <a:xfrm>
            <a:off x="6477000" y="2192684"/>
            <a:ext cx="209550" cy="209550"/>
          </a:xfrm>
          <a:prstGeom prst="rect">
            <a:avLst/>
          </a:prstGeom>
          <a:noFill/>
          <a:ln>
            <a:noFill/>
          </a:ln>
        </p:spPr>
      </p:pic>
      <p:sp>
        <p:nvSpPr>
          <p:cNvPr id="141" name="Google Shape;141;p15"/>
          <p:cNvSpPr txBox="1"/>
          <p:nvPr/>
        </p:nvSpPr>
        <p:spPr>
          <a:xfrm>
            <a:off x="6762750" y="2726084"/>
            <a:ext cx="4610100"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Predictive AI Model:</a:t>
            </a:r>
            <a:r>
              <a:rPr b="0" i="0" lang="en-US" sz="1125" u="none" cap="none" strike="noStrike">
                <a:solidFill>
                  <a:srgbClr val="E5E7EB"/>
                </a:solidFill>
                <a:latin typeface="Inter"/>
                <a:ea typeface="Inter"/>
                <a:cs typeface="Inter"/>
                <a:sym typeface="Inter"/>
              </a:rPr>
              <a:t> Build an smart, analytical model to accurately calculate candidate conversion probabilities ("Propensity to Join").</a:t>
            </a:r>
            <a:endParaRPr/>
          </a:p>
        </p:txBody>
      </p:sp>
      <p:sp>
        <p:nvSpPr>
          <p:cNvPr id="142" name="Google Shape;142;p15"/>
          <p:cNvSpPr txBox="1"/>
          <p:nvPr/>
        </p:nvSpPr>
        <p:spPr>
          <a:xfrm>
            <a:off x="6762750" y="3297584"/>
            <a:ext cx="4610100"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Text-to-SQL Agent:</a:t>
            </a:r>
            <a:r>
              <a:rPr b="0" i="0" lang="en-US" sz="1125" u="none" cap="none" strike="noStrike">
                <a:solidFill>
                  <a:srgbClr val="E5E7EB"/>
                </a:solidFill>
                <a:latin typeface="Inter"/>
                <a:ea typeface="Inter"/>
                <a:cs typeface="Inter"/>
                <a:sym typeface="Inter"/>
              </a:rPr>
              <a:t> Create an advanced Conversational Agent powered by LLMs to authorize autonomous natural language database interrogation.</a:t>
            </a:r>
            <a:endParaRPr/>
          </a:p>
        </p:txBody>
      </p:sp>
      <p:pic>
        <p:nvPicPr>
          <p:cNvPr descr="image.png" id="143" name="Google Shape;143;p15"/>
          <p:cNvPicPr preferRelativeResize="0"/>
          <p:nvPr/>
        </p:nvPicPr>
        <p:blipFill rotWithShape="1">
          <a:blip r:embed="rId8">
            <a:alphaModFix/>
          </a:blip>
          <a:srcRect b="0" l="0" r="0" t="0"/>
          <a:stretch/>
        </p:blipFill>
        <p:spPr>
          <a:xfrm>
            <a:off x="866775" y="2759422"/>
            <a:ext cx="133350" cy="142875"/>
          </a:xfrm>
          <a:prstGeom prst="rect">
            <a:avLst/>
          </a:prstGeom>
          <a:noFill/>
          <a:ln>
            <a:noFill/>
          </a:ln>
        </p:spPr>
      </p:pic>
      <p:pic>
        <p:nvPicPr>
          <p:cNvPr descr="image.png" id="144" name="Google Shape;144;p15"/>
          <p:cNvPicPr preferRelativeResize="0"/>
          <p:nvPr/>
        </p:nvPicPr>
        <p:blipFill rotWithShape="1">
          <a:blip r:embed="rId8">
            <a:alphaModFix/>
          </a:blip>
          <a:srcRect b="0" l="0" r="0" t="0"/>
          <a:stretch/>
        </p:blipFill>
        <p:spPr>
          <a:xfrm>
            <a:off x="866775" y="3545234"/>
            <a:ext cx="133350" cy="142875"/>
          </a:xfrm>
          <a:prstGeom prst="rect">
            <a:avLst/>
          </a:prstGeom>
          <a:noFill/>
          <a:ln>
            <a:noFill/>
          </a:ln>
        </p:spPr>
      </p:pic>
      <p:pic>
        <p:nvPicPr>
          <p:cNvPr descr="image.png" id="145" name="Google Shape;145;p15"/>
          <p:cNvPicPr preferRelativeResize="0"/>
          <p:nvPr/>
        </p:nvPicPr>
        <p:blipFill rotWithShape="1">
          <a:blip r:embed="rId8">
            <a:alphaModFix/>
          </a:blip>
          <a:srcRect b="0" l="0" r="0" t="0"/>
          <a:stretch/>
        </p:blipFill>
        <p:spPr>
          <a:xfrm>
            <a:off x="866775" y="4116734"/>
            <a:ext cx="133350" cy="142875"/>
          </a:xfrm>
          <a:prstGeom prst="rect">
            <a:avLst/>
          </a:prstGeom>
          <a:noFill/>
          <a:ln>
            <a:noFill/>
          </a:ln>
        </p:spPr>
      </p:pic>
      <p:pic>
        <p:nvPicPr>
          <p:cNvPr descr="image.png" id="146" name="Google Shape;146;p15"/>
          <p:cNvPicPr preferRelativeResize="0"/>
          <p:nvPr/>
        </p:nvPicPr>
        <p:blipFill rotWithShape="1">
          <a:blip r:embed="rId9">
            <a:alphaModFix/>
          </a:blip>
          <a:srcRect b="0" l="0" r="0" t="0"/>
          <a:stretch/>
        </p:blipFill>
        <p:spPr>
          <a:xfrm>
            <a:off x="6524625" y="2759422"/>
            <a:ext cx="133350" cy="142875"/>
          </a:xfrm>
          <a:prstGeom prst="rect">
            <a:avLst/>
          </a:prstGeom>
          <a:noFill/>
          <a:ln>
            <a:noFill/>
          </a:ln>
        </p:spPr>
      </p:pic>
      <p:pic>
        <p:nvPicPr>
          <p:cNvPr descr="image.png" id="147" name="Google Shape;147;p15"/>
          <p:cNvPicPr preferRelativeResize="0"/>
          <p:nvPr/>
        </p:nvPicPr>
        <p:blipFill rotWithShape="1">
          <a:blip r:embed="rId9">
            <a:alphaModFix/>
          </a:blip>
          <a:srcRect b="0" l="0" r="0" t="0"/>
          <a:stretch/>
        </p:blipFill>
        <p:spPr>
          <a:xfrm>
            <a:off x="6524625" y="3330922"/>
            <a:ext cx="133350" cy="142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image.png" id="152" name="Google Shape;152;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3" name="Google Shape;153;p16"/>
          <p:cNvPicPr preferRelativeResize="0"/>
          <p:nvPr/>
        </p:nvPicPr>
        <p:blipFill rotWithShape="1">
          <a:blip r:embed="rId4">
            <a:alphaModFix/>
          </a:blip>
          <a:srcRect b="0" l="0" r="0" t="0"/>
          <a:stretch/>
        </p:blipFill>
        <p:spPr>
          <a:xfrm>
            <a:off x="581025" y="2254597"/>
            <a:ext cx="1743075" cy="2381250"/>
          </a:xfrm>
          <a:prstGeom prst="rect">
            <a:avLst/>
          </a:prstGeom>
          <a:noFill/>
          <a:ln>
            <a:noFill/>
          </a:ln>
        </p:spPr>
      </p:pic>
      <p:pic>
        <p:nvPicPr>
          <p:cNvPr descr="image.png" id="154" name="Google Shape;154;p16"/>
          <p:cNvPicPr preferRelativeResize="0"/>
          <p:nvPr/>
        </p:nvPicPr>
        <p:blipFill rotWithShape="1">
          <a:blip r:embed="rId5">
            <a:alphaModFix/>
          </a:blip>
          <a:srcRect b="0" l="0" r="0" t="0"/>
          <a:stretch/>
        </p:blipFill>
        <p:spPr>
          <a:xfrm>
            <a:off x="2438400" y="2254597"/>
            <a:ext cx="1743075" cy="2381250"/>
          </a:xfrm>
          <a:prstGeom prst="rect">
            <a:avLst/>
          </a:prstGeom>
          <a:noFill/>
          <a:ln>
            <a:noFill/>
          </a:ln>
        </p:spPr>
      </p:pic>
      <p:pic>
        <p:nvPicPr>
          <p:cNvPr descr="image.png" id="155" name="Google Shape;155;p16"/>
          <p:cNvPicPr preferRelativeResize="0"/>
          <p:nvPr/>
        </p:nvPicPr>
        <p:blipFill rotWithShape="1">
          <a:blip r:embed="rId6">
            <a:alphaModFix/>
          </a:blip>
          <a:srcRect b="0" l="0" r="0" t="0"/>
          <a:stretch/>
        </p:blipFill>
        <p:spPr>
          <a:xfrm>
            <a:off x="4295775" y="2254597"/>
            <a:ext cx="1743075" cy="2381250"/>
          </a:xfrm>
          <a:prstGeom prst="rect">
            <a:avLst/>
          </a:prstGeom>
          <a:noFill/>
          <a:ln>
            <a:noFill/>
          </a:ln>
        </p:spPr>
      </p:pic>
      <p:pic>
        <p:nvPicPr>
          <p:cNvPr descr="image.png" id="156" name="Google Shape;156;p16"/>
          <p:cNvPicPr preferRelativeResize="0"/>
          <p:nvPr/>
        </p:nvPicPr>
        <p:blipFill rotWithShape="1">
          <a:blip r:embed="rId7">
            <a:alphaModFix/>
          </a:blip>
          <a:srcRect b="0" l="0" r="0" t="0"/>
          <a:stretch/>
        </p:blipFill>
        <p:spPr>
          <a:xfrm>
            <a:off x="6153150" y="2254597"/>
            <a:ext cx="1743075" cy="2381250"/>
          </a:xfrm>
          <a:prstGeom prst="rect">
            <a:avLst/>
          </a:prstGeom>
          <a:noFill/>
          <a:ln>
            <a:noFill/>
          </a:ln>
        </p:spPr>
      </p:pic>
      <p:pic>
        <p:nvPicPr>
          <p:cNvPr descr="image.png" id="157" name="Google Shape;157;p16"/>
          <p:cNvPicPr preferRelativeResize="0"/>
          <p:nvPr/>
        </p:nvPicPr>
        <p:blipFill rotWithShape="1">
          <a:blip r:embed="rId8">
            <a:alphaModFix/>
          </a:blip>
          <a:srcRect b="0" l="0" r="0" t="0"/>
          <a:stretch/>
        </p:blipFill>
        <p:spPr>
          <a:xfrm>
            <a:off x="8010525" y="2254597"/>
            <a:ext cx="1743075" cy="2381250"/>
          </a:xfrm>
          <a:prstGeom prst="rect">
            <a:avLst/>
          </a:prstGeom>
          <a:noFill/>
          <a:ln>
            <a:noFill/>
          </a:ln>
        </p:spPr>
      </p:pic>
      <p:pic>
        <p:nvPicPr>
          <p:cNvPr descr="image.png" id="158" name="Google Shape;158;p16"/>
          <p:cNvPicPr preferRelativeResize="0"/>
          <p:nvPr/>
        </p:nvPicPr>
        <p:blipFill rotWithShape="1">
          <a:blip r:embed="rId9">
            <a:alphaModFix/>
          </a:blip>
          <a:srcRect b="0" l="0" r="0" t="0"/>
          <a:stretch/>
        </p:blipFill>
        <p:spPr>
          <a:xfrm>
            <a:off x="9867900" y="2254597"/>
            <a:ext cx="1743075" cy="2381250"/>
          </a:xfrm>
          <a:prstGeom prst="rect">
            <a:avLst/>
          </a:prstGeom>
          <a:noFill/>
          <a:ln>
            <a:noFill/>
          </a:ln>
        </p:spPr>
      </p:pic>
      <p:sp>
        <p:nvSpPr>
          <p:cNvPr id="159" name="Google Shape;159;p16"/>
          <p:cNvSpPr txBox="1"/>
          <p:nvPr/>
        </p:nvSpPr>
        <p:spPr>
          <a:xfrm>
            <a:off x="6896100" y="247650"/>
            <a:ext cx="47148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HIGH-PERFORMANCE MEDALLION ARCHITECTURE</a:t>
            </a:r>
            <a:endParaRPr/>
          </a:p>
        </p:txBody>
      </p:sp>
      <p:sp>
        <p:nvSpPr>
          <p:cNvPr id="160" name="Google Shape;160;p16"/>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Proposed </a:t>
            </a:r>
            <a:r>
              <a:rPr b="1" i="0" lang="en-US" sz="2550" u="none" cap="none" strike="noStrike">
                <a:solidFill>
                  <a:srgbClr val="38BDF8"/>
                </a:solidFill>
                <a:latin typeface="Plus Jakarta Sans"/>
                <a:ea typeface="Plus Jakarta Sans"/>
                <a:cs typeface="Plus Jakarta Sans"/>
                <a:sym typeface="Plus Jakarta Sans"/>
              </a:rPr>
              <a:t>System Architecture</a:t>
            </a:r>
            <a:endParaRPr/>
          </a:p>
        </p:txBody>
      </p:sp>
      <p:sp>
        <p:nvSpPr>
          <p:cNvPr id="161" name="Google Shape;161;p16"/>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2" name="Google Shape;162;p16"/>
          <p:cNvPicPr preferRelativeResize="0"/>
          <p:nvPr/>
        </p:nvPicPr>
        <p:blipFill rotWithShape="1">
          <a:blip r:embed="rId10">
            <a:alphaModFix/>
          </a:blip>
          <a:srcRect b="0" l="0" r="0" t="0"/>
          <a:stretch/>
        </p:blipFill>
        <p:spPr>
          <a:xfrm>
            <a:off x="723900" y="6023669"/>
            <a:ext cx="104775" cy="114300"/>
          </a:xfrm>
          <a:prstGeom prst="rect">
            <a:avLst/>
          </a:prstGeom>
          <a:noFill/>
          <a:ln>
            <a:noFill/>
          </a:ln>
        </p:spPr>
      </p:pic>
      <p:sp>
        <p:nvSpPr>
          <p:cNvPr id="163" name="Google Shape;163;p16"/>
          <p:cNvSpPr txBox="1"/>
          <p:nvPr/>
        </p:nvSpPr>
        <p:spPr>
          <a:xfrm>
            <a:off x="923925" y="6004619"/>
            <a:ext cx="10544175"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900" u="none" cap="none" strike="noStrike">
                <a:solidFill>
                  <a:srgbClr val="9CA3AF"/>
                </a:solidFill>
                <a:latin typeface="Inter"/>
                <a:ea typeface="Inter"/>
                <a:cs typeface="Inter"/>
                <a:sym typeface="Inter"/>
              </a:rPr>
              <a:t>Presenter Notes:</a:t>
            </a:r>
            <a:r>
              <a:rPr b="0" i="0" lang="en-US" sz="900" u="none" cap="none" strike="noStrike">
                <a:solidFill>
                  <a:srgbClr val="9CA3AF"/>
                </a:solidFill>
                <a:latin typeface="Inter"/>
                <a:ea typeface="Inter"/>
                <a:cs typeface="Inter"/>
                <a:sym typeface="Inter"/>
              </a:rPr>
              <a:t> "This is a Medallion Architecture. We move data from Bronze (raw) to Silver (versioned) to Gold (aggregated). We use Parquet for columnar storage to optimize read speeds and Prefect to ensure the pipeline is observable and fault-tolerant."</a:t>
            </a:r>
            <a:endParaRPr/>
          </a:p>
        </p:txBody>
      </p:sp>
      <p:pic>
        <p:nvPicPr>
          <p:cNvPr descr="image.png" id="164" name="Google Shape;164;p16"/>
          <p:cNvPicPr preferRelativeResize="0"/>
          <p:nvPr/>
        </p:nvPicPr>
        <p:blipFill rotWithShape="1">
          <a:blip r:embed="rId11">
            <a:alphaModFix/>
          </a:blip>
          <a:srcRect b="0" l="0" r="0" t="0"/>
          <a:stretch/>
        </p:blipFill>
        <p:spPr>
          <a:xfrm>
            <a:off x="1035843" y="2416522"/>
            <a:ext cx="833437" cy="171450"/>
          </a:xfrm>
          <a:prstGeom prst="rect">
            <a:avLst/>
          </a:prstGeom>
          <a:noFill/>
          <a:ln>
            <a:noFill/>
          </a:ln>
        </p:spPr>
      </p:pic>
      <p:pic>
        <p:nvPicPr>
          <p:cNvPr descr="image.png" id="165" name="Google Shape;165;p16"/>
          <p:cNvPicPr preferRelativeResize="0"/>
          <p:nvPr/>
        </p:nvPicPr>
        <p:blipFill rotWithShape="1">
          <a:blip r:embed="rId12">
            <a:alphaModFix/>
          </a:blip>
          <a:srcRect b="0" l="0" r="0" t="0"/>
          <a:stretch/>
        </p:blipFill>
        <p:spPr>
          <a:xfrm>
            <a:off x="1352550" y="2911226"/>
            <a:ext cx="200025" cy="228600"/>
          </a:xfrm>
          <a:prstGeom prst="rect">
            <a:avLst/>
          </a:prstGeom>
          <a:noFill/>
          <a:ln>
            <a:noFill/>
          </a:ln>
        </p:spPr>
      </p:pic>
      <p:sp>
        <p:nvSpPr>
          <p:cNvPr id="166" name="Google Shape;166;p16"/>
          <p:cNvSpPr txBox="1"/>
          <p:nvPr/>
        </p:nvSpPr>
        <p:spPr>
          <a:xfrm>
            <a:off x="1037510" y="3577381"/>
            <a:ext cx="830103"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FFFFFF"/>
                </a:solidFill>
                <a:latin typeface="Plus Jakarta Sans"/>
                <a:ea typeface="Plus Jakarta Sans"/>
                <a:cs typeface="Plus Jakarta Sans"/>
                <a:sym typeface="Plus Jakarta Sans"/>
              </a:rPr>
              <a:t>PostgreSQL</a:t>
            </a:r>
            <a:endParaRPr/>
          </a:p>
        </p:txBody>
      </p:sp>
      <p:sp>
        <p:nvSpPr>
          <p:cNvPr id="167" name="Google Shape;167;p16"/>
          <p:cNvSpPr txBox="1"/>
          <p:nvPr/>
        </p:nvSpPr>
        <p:spPr>
          <a:xfrm>
            <a:off x="704850" y="4033986"/>
            <a:ext cx="1495425" cy="43978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825" u="none" cap="none" strike="noStrike">
                <a:solidFill>
                  <a:srgbClr val="9CA3AF"/>
                </a:solidFill>
                <a:latin typeface="Inter"/>
                <a:ea typeface="Inter"/>
                <a:cs typeface="Inter"/>
                <a:sym typeface="Inter"/>
              </a:rPr>
              <a:t>Streamlit App transactions logged in primary Azure PostgreSQL database.</a:t>
            </a:r>
            <a:endParaRPr/>
          </a:p>
        </p:txBody>
      </p:sp>
      <p:pic>
        <p:nvPicPr>
          <p:cNvPr descr="image.png" id="168" name="Google Shape;168;p16"/>
          <p:cNvPicPr preferRelativeResize="0"/>
          <p:nvPr/>
        </p:nvPicPr>
        <p:blipFill rotWithShape="1">
          <a:blip r:embed="rId13">
            <a:alphaModFix/>
          </a:blip>
          <a:srcRect b="0" l="0" r="0" t="0"/>
          <a:stretch/>
        </p:blipFill>
        <p:spPr>
          <a:xfrm>
            <a:off x="2919412" y="2416522"/>
            <a:ext cx="781050" cy="171450"/>
          </a:xfrm>
          <a:prstGeom prst="rect">
            <a:avLst/>
          </a:prstGeom>
          <a:noFill/>
          <a:ln>
            <a:noFill/>
          </a:ln>
        </p:spPr>
      </p:pic>
      <p:pic>
        <p:nvPicPr>
          <p:cNvPr descr="image.png" id="169" name="Google Shape;169;p16"/>
          <p:cNvPicPr preferRelativeResize="0"/>
          <p:nvPr/>
        </p:nvPicPr>
        <p:blipFill rotWithShape="1">
          <a:blip r:embed="rId14">
            <a:alphaModFix/>
          </a:blip>
          <a:srcRect b="0" l="0" r="0" t="0"/>
          <a:stretch/>
        </p:blipFill>
        <p:spPr>
          <a:xfrm>
            <a:off x="3167062" y="2911226"/>
            <a:ext cx="285750" cy="228600"/>
          </a:xfrm>
          <a:prstGeom prst="rect">
            <a:avLst/>
          </a:prstGeom>
          <a:noFill/>
          <a:ln>
            <a:noFill/>
          </a:ln>
        </p:spPr>
      </p:pic>
      <p:sp>
        <p:nvSpPr>
          <p:cNvPr id="170" name="Google Shape;170;p16"/>
          <p:cNvSpPr txBox="1"/>
          <p:nvPr/>
        </p:nvSpPr>
        <p:spPr>
          <a:xfrm>
            <a:off x="2829877" y="3577381"/>
            <a:ext cx="960120"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FFFFFF"/>
                </a:solidFill>
                <a:latin typeface="Plus Jakarta Sans"/>
                <a:ea typeface="Plus Jakarta Sans"/>
                <a:cs typeface="Plus Jakarta Sans"/>
                <a:sym typeface="Plus Jakarta Sans"/>
              </a:rPr>
              <a:t>Prefect Cloud</a:t>
            </a:r>
            <a:endParaRPr/>
          </a:p>
        </p:txBody>
      </p:sp>
      <p:sp>
        <p:nvSpPr>
          <p:cNvPr id="171" name="Google Shape;171;p16"/>
          <p:cNvSpPr txBox="1"/>
          <p:nvPr/>
        </p:nvSpPr>
        <p:spPr>
          <a:xfrm>
            <a:off x="2562225" y="4033986"/>
            <a:ext cx="1495425" cy="43978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825" u="none" cap="none" strike="noStrike">
                <a:solidFill>
                  <a:srgbClr val="9CA3AF"/>
                </a:solidFill>
                <a:latin typeface="Inter"/>
                <a:ea typeface="Inter"/>
                <a:cs typeface="Inter"/>
                <a:sym typeface="Inter"/>
              </a:rPr>
              <a:t>Triggers, manages, schedules, and monitors entire ELT pipeline runs.</a:t>
            </a:r>
            <a:endParaRPr/>
          </a:p>
        </p:txBody>
      </p:sp>
      <p:pic>
        <p:nvPicPr>
          <p:cNvPr descr="image.png" id="172" name="Google Shape;172;p16"/>
          <p:cNvPicPr preferRelativeResize="0"/>
          <p:nvPr/>
        </p:nvPicPr>
        <p:blipFill rotWithShape="1">
          <a:blip r:embed="rId15">
            <a:alphaModFix/>
          </a:blip>
          <a:srcRect b="0" l="0" r="0" t="0"/>
          <a:stretch/>
        </p:blipFill>
        <p:spPr>
          <a:xfrm>
            <a:off x="4776787" y="2416522"/>
            <a:ext cx="781050" cy="171450"/>
          </a:xfrm>
          <a:prstGeom prst="rect">
            <a:avLst/>
          </a:prstGeom>
          <a:noFill/>
          <a:ln>
            <a:noFill/>
          </a:ln>
        </p:spPr>
      </p:pic>
      <p:pic>
        <p:nvPicPr>
          <p:cNvPr descr="image.png" id="173" name="Google Shape;173;p16"/>
          <p:cNvPicPr preferRelativeResize="0"/>
          <p:nvPr/>
        </p:nvPicPr>
        <p:blipFill rotWithShape="1">
          <a:blip r:embed="rId16">
            <a:alphaModFix/>
          </a:blip>
          <a:srcRect b="0" l="0" r="0" t="0"/>
          <a:stretch/>
        </p:blipFill>
        <p:spPr>
          <a:xfrm>
            <a:off x="5024437" y="2911226"/>
            <a:ext cx="285750" cy="228600"/>
          </a:xfrm>
          <a:prstGeom prst="rect">
            <a:avLst/>
          </a:prstGeom>
          <a:noFill/>
          <a:ln>
            <a:noFill/>
          </a:ln>
        </p:spPr>
      </p:pic>
      <p:sp>
        <p:nvSpPr>
          <p:cNvPr id="174" name="Google Shape;174;p16"/>
          <p:cNvSpPr txBox="1"/>
          <p:nvPr/>
        </p:nvSpPr>
        <p:spPr>
          <a:xfrm>
            <a:off x="4792265" y="3577381"/>
            <a:ext cx="750093"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FFFFFF"/>
                </a:solidFill>
                <a:latin typeface="Plus Jakarta Sans"/>
                <a:ea typeface="Plus Jakarta Sans"/>
                <a:cs typeface="Plus Jakarta Sans"/>
                <a:sym typeface="Plus Jakarta Sans"/>
              </a:rPr>
              <a:t>ADLS Gen2</a:t>
            </a:r>
            <a:endParaRPr/>
          </a:p>
        </p:txBody>
      </p:sp>
      <p:sp>
        <p:nvSpPr>
          <p:cNvPr id="175" name="Google Shape;175;p16"/>
          <p:cNvSpPr txBox="1"/>
          <p:nvPr/>
        </p:nvSpPr>
        <p:spPr>
          <a:xfrm>
            <a:off x="4419600" y="4033986"/>
            <a:ext cx="1495425" cy="43978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825" u="none" cap="none" strike="noStrike">
                <a:solidFill>
                  <a:srgbClr val="9CA3AF"/>
                </a:solidFill>
                <a:latin typeface="Inter"/>
                <a:ea typeface="Inter"/>
                <a:cs typeface="Inter"/>
                <a:sym typeface="Inter"/>
              </a:rPr>
              <a:t>Maintains raw telemetry and source snapshots as Raw Parquet files.</a:t>
            </a:r>
            <a:endParaRPr/>
          </a:p>
        </p:txBody>
      </p:sp>
      <p:pic>
        <p:nvPicPr>
          <p:cNvPr descr="image.png" id="176" name="Google Shape;176;p16"/>
          <p:cNvPicPr preferRelativeResize="0"/>
          <p:nvPr/>
        </p:nvPicPr>
        <p:blipFill rotWithShape="1">
          <a:blip r:embed="rId17">
            <a:alphaModFix/>
          </a:blip>
          <a:srcRect b="0" l="0" r="0" t="0"/>
          <a:stretch/>
        </p:blipFill>
        <p:spPr>
          <a:xfrm>
            <a:off x="6529387" y="2416522"/>
            <a:ext cx="990600" cy="171450"/>
          </a:xfrm>
          <a:prstGeom prst="rect">
            <a:avLst/>
          </a:prstGeom>
          <a:noFill/>
          <a:ln>
            <a:noFill/>
          </a:ln>
        </p:spPr>
      </p:pic>
      <p:pic>
        <p:nvPicPr>
          <p:cNvPr descr="image.png" id="177" name="Google Shape;177;p16"/>
          <p:cNvPicPr preferRelativeResize="0"/>
          <p:nvPr/>
        </p:nvPicPr>
        <p:blipFill rotWithShape="1">
          <a:blip r:embed="rId18">
            <a:alphaModFix/>
          </a:blip>
          <a:srcRect b="0" l="0" r="0" t="0"/>
          <a:stretch/>
        </p:blipFill>
        <p:spPr>
          <a:xfrm>
            <a:off x="6938962" y="2911226"/>
            <a:ext cx="171450" cy="228600"/>
          </a:xfrm>
          <a:prstGeom prst="rect">
            <a:avLst/>
          </a:prstGeom>
          <a:noFill/>
          <a:ln>
            <a:noFill/>
          </a:ln>
        </p:spPr>
      </p:pic>
      <p:sp>
        <p:nvSpPr>
          <p:cNvPr id="178" name="Google Shape;178;p16"/>
          <p:cNvSpPr txBox="1"/>
          <p:nvPr/>
        </p:nvSpPr>
        <p:spPr>
          <a:xfrm>
            <a:off x="6509623" y="3577381"/>
            <a:ext cx="1030128"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FFFFFF"/>
                </a:solidFill>
                <a:latin typeface="Plus Jakarta Sans"/>
                <a:ea typeface="Plus Jakarta Sans"/>
                <a:cs typeface="Plus Jakarta Sans"/>
                <a:sym typeface="Plus Jakarta Sans"/>
              </a:rPr>
              <a:t>DuckDB Engine</a:t>
            </a:r>
            <a:endParaRPr/>
          </a:p>
        </p:txBody>
      </p:sp>
      <p:sp>
        <p:nvSpPr>
          <p:cNvPr id="179" name="Google Shape;179;p16"/>
          <p:cNvSpPr txBox="1"/>
          <p:nvPr/>
        </p:nvSpPr>
        <p:spPr>
          <a:xfrm>
            <a:off x="6276975" y="4033986"/>
            <a:ext cx="1495425" cy="43978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825" u="none" cap="none" strike="noStrike">
                <a:solidFill>
                  <a:srgbClr val="9CA3AF"/>
                </a:solidFill>
                <a:latin typeface="Inter"/>
                <a:ea typeface="Inter"/>
                <a:cs typeface="Inter"/>
                <a:sym typeface="Inter"/>
              </a:rPr>
              <a:t>Applies SCD Type 2 logic and saves refined historical version parquet files.</a:t>
            </a:r>
            <a:endParaRPr/>
          </a:p>
        </p:txBody>
      </p:sp>
      <p:pic>
        <p:nvPicPr>
          <p:cNvPr descr="image.png" id="180" name="Google Shape;180;p16"/>
          <p:cNvPicPr preferRelativeResize="0"/>
          <p:nvPr/>
        </p:nvPicPr>
        <p:blipFill rotWithShape="1">
          <a:blip r:embed="rId19">
            <a:alphaModFix/>
          </a:blip>
          <a:srcRect b="0" l="0" r="0" t="0"/>
          <a:stretch/>
        </p:blipFill>
        <p:spPr>
          <a:xfrm>
            <a:off x="8439150" y="2416522"/>
            <a:ext cx="885825" cy="171450"/>
          </a:xfrm>
          <a:prstGeom prst="rect">
            <a:avLst/>
          </a:prstGeom>
          <a:noFill/>
          <a:ln>
            <a:noFill/>
          </a:ln>
        </p:spPr>
      </p:pic>
      <p:pic>
        <p:nvPicPr>
          <p:cNvPr descr="image.png" id="181" name="Google Shape;181;p16"/>
          <p:cNvPicPr preferRelativeResize="0"/>
          <p:nvPr/>
        </p:nvPicPr>
        <p:blipFill rotWithShape="1">
          <a:blip r:embed="rId20">
            <a:alphaModFix/>
          </a:blip>
          <a:srcRect b="0" l="0" r="0" t="0"/>
          <a:stretch/>
        </p:blipFill>
        <p:spPr>
          <a:xfrm>
            <a:off x="8796337" y="2911226"/>
            <a:ext cx="171450" cy="228600"/>
          </a:xfrm>
          <a:prstGeom prst="rect">
            <a:avLst/>
          </a:prstGeom>
          <a:noFill/>
          <a:ln>
            <a:noFill/>
          </a:ln>
        </p:spPr>
      </p:pic>
      <p:sp>
        <p:nvSpPr>
          <p:cNvPr id="182" name="Google Shape;182;p16"/>
          <p:cNvSpPr txBox="1"/>
          <p:nvPr/>
        </p:nvSpPr>
        <p:spPr>
          <a:xfrm>
            <a:off x="8452008" y="3577381"/>
            <a:ext cx="860107"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FFFFFF"/>
                </a:solidFill>
                <a:latin typeface="Plus Jakarta Sans"/>
                <a:ea typeface="Plus Jakarta Sans"/>
                <a:cs typeface="Plus Jakarta Sans"/>
                <a:sym typeface="Plus Jakarta Sans"/>
              </a:rPr>
              <a:t>Analytics DB</a:t>
            </a:r>
            <a:endParaRPr/>
          </a:p>
        </p:txBody>
      </p:sp>
      <p:sp>
        <p:nvSpPr>
          <p:cNvPr id="183" name="Google Shape;183;p16"/>
          <p:cNvSpPr txBox="1"/>
          <p:nvPr/>
        </p:nvSpPr>
        <p:spPr>
          <a:xfrm>
            <a:off x="8134350" y="4033986"/>
            <a:ext cx="1495425" cy="43978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825" u="none" cap="none" strike="noStrike">
                <a:solidFill>
                  <a:srgbClr val="9CA3AF"/>
                </a:solidFill>
                <a:latin typeface="Inter"/>
                <a:ea typeface="Inter"/>
                <a:cs typeface="Inter"/>
                <a:sym typeface="Inter"/>
              </a:rPr>
              <a:t>Aggregated KPIs structured in analytics schemas of target PostgreSQL database.</a:t>
            </a:r>
            <a:endParaRPr/>
          </a:p>
        </p:txBody>
      </p:sp>
      <p:pic>
        <p:nvPicPr>
          <p:cNvPr descr="image.png" id="184" name="Google Shape;184;p16"/>
          <p:cNvPicPr preferRelativeResize="0"/>
          <p:nvPr/>
        </p:nvPicPr>
        <p:blipFill rotWithShape="1">
          <a:blip r:embed="rId21">
            <a:alphaModFix/>
          </a:blip>
          <a:srcRect b="0" l="0" r="0" t="0"/>
          <a:stretch/>
        </p:blipFill>
        <p:spPr>
          <a:xfrm>
            <a:off x="10427493" y="2416522"/>
            <a:ext cx="623887" cy="171450"/>
          </a:xfrm>
          <a:prstGeom prst="rect">
            <a:avLst/>
          </a:prstGeom>
          <a:noFill/>
          <a:ln>
            <a:noFill/>
          </a:ln>
        </p:spPr>
      </p:pic>
      <p:pic>
        <p:nvPicPr>
          <p:cNvPr descr="image.png" id="185" name="Google Shape;185;p16"/>
          <p:cNvPicPr preferRelativeResize="0"/>
          <p:nvPr/>
        </p:nvPicPr>
        <p:blipFill rotWithShape="1">
          <a:blip r:embed="rId22">
            <a:alphaModFix/>
          </a:blip>
          <a:srcRect b="0" l="0" r="0" t="0"/>
          <a:stretch/>
        </p:blipFill>
        <p:spPr>
          <a:xfrm>
            <a:off x="10596562" y="2911226"/>
            <a:ext cx="285750" cy="228600"/>
          </a:xfrm>
          <a:prstGeom prst="rect">
            <a:avLst/>
          </a:prstGeom>
          <a:noFill/>
          <a:ln>
            <a:noFill/>
          </a:ln>
        </p:spPr>
      </p:pic>
      <p:sp>
        <p:nvSpPr>
          <p:cNvPr id="186" name="Google Shape;186;p16"/>
          <p:cNvSpPr txBox="1"/>
          <p:nvPr/>
        </p:nvSpPr>
        <p:spPr>
          <a:xfrm>
            <a:off x="10144363" y="3577381"/>
            <a:ext cx="1190148"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FFFFFF"/>
                </a:solidFill>
                <a:latin typeface="Plus Jakarta Sans"/>
                <a:ea typeface="Plus Jakarta Sans"/>
                <a:cs typeface="Plus Jakarta Sans"/>
                <a:sym typeface="Plus Jakarta Sans"/>
              </a:rPr>
              <a:t>Admin Dashboard</a:t>
            </a:r>
            <a:endParaRPr/>
          </a:p>
        </p:txBody>
      </p:sp>
      <p:sp>
        <p:nvSpPr>
          <p:cNvPr id="187" name="Google Shape;187;p16"/>
          <p:cNvSpPr txBox="1"/>
          <p:nvPr/>
        </p:nvSpPr>
        <p:spPr>
          <a:xfrm>
            <a:off x="9991725" y="4033986"/>
            <a:ext cx="1495425" cy="43978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825" u="none" cap="none" strike="noStrike">
                <a:solidFill>
                  <a:srgbClr val="9CA3AF"/>
                </a:solidFill>
                <a:latin typeface="Inter"/>
                <a:ea typeface="Inter"/>
                <a:cs typeface="Inter"/>
                <a:sym typeface="Inter"/>
              </a:rPr>
              <a:t>LLM Text-to-SQL Chatbot interface serving key insights to users.</a:t>
            </a:r>
            <a:endParaRPr/>
          </a:p>
        </p:txBody>
      </p:sp>
      <p:pic>
        <p:nvPicPr>
          <p:cNvPr descr="image.png" id="188" name="Google Shape;188;p16"/>
          <p:cNvPicPr preferRelativeResize="0"/>
          <p:nvPr/>
        </p:nvPicPr>
        <p:blipFill rotWithShape="1">
          <a:blip r:embed="rId23">
            <a:alphaModFix/>
          </a:blip>
          <a:srcRect b="0" l="0" r="0" t="0"/>
          <a:stretch/>
        </p:blipFill>
        <p:spPr>
          <a:xfrm>
            <a:off x="2286000" y="3435697"/>
            <a:ext cx="114300" cy="142875"/>
          </a:xfrm>
          <a:prstGeom prst="rect">
            <a:avLst/>
          </a:prstGeom>
          <a:noFill/>
          <a:ln>
            <a:noFill/>
          </a:ln>
        </p:spPr>
      </p:pic>
      <p:pic>
        <p:nvPicPr>
          <p:cNvPr descr="image.png" id="189" name="Google Shape;189;p16"/>
          <p:cNvPicPr preferRelativeResize="0"/>
          <p:nvPr/>
        </p:nvPicPr>
        <p:blipFill rotWithShape="1">
          <a:blip r:embed="rId23">
            <a:alphaModFix/>
          </a:blip>
          <a:srcRect b="0" l="0" r="0" t="0"/>
          <a:stretch/>
        </p:blipFill>
        <p:spPr>
          <a:xfrm>
            <a:off x="4143375" y="3435697"/>
            <a:ext cx="114300" cy="142875"/>
          </a:xfrm>
          <a:prstGeom prst="rect">
            <a:avLst/>
          </a:prstGeom>
          <a:noFill/>
          <a:ln>
            <a:noFill/>
          </a:ln>
        </p:spPr>
      </p:pic>
      <p:pic>
        <p:nvPicPr>
          <p:cNvPr descr="image.png" id="190" name="Google Shape;190;p16"/>
          <p:cNvPicPr preferRelativeResize="0"/>
          <p:nvPr/>
        </p:nvPicPr>
        <p:blipFill rotWithShape="1">
          <a:blip r:embed="rId23">
            <a:alphaModFix/>
          </a:blip>
          <a:srcRect b="0" l="0" r="0" t="0"/>
          <a:stretch/>
        </p:blipFill>
        <p:spPr>
          <a:xfrm>
            <a:off x="6000750" y="3435697"/>
            <a:ext cx="114300" cy="142875"/>
          </a:xfrm>
          <a:prstGeom prst="rect">
            <a:avLst/>
          </a:prstGeom>
          <a:noFill/>
          <a:ln>
            <a:noFill/>
          </a:ln>
        </p:spPr>
      </p:pic>
      <p:pic>
        <p:nvPicPr>
          <p:cNvPr descr="image.png" id="191" name="Google Shape;191;p16"/>
          <p:cNvPicPr preferRelativeResize="0"/>
          <p:nvPr/>
        </p:nvPicPr>
        <p:blipFill rotWithShape="1">
          <a:blip r:embed="rId23">
            <a:alphaModFix/>
          </a:blip>
          <a:srcRect b="0" l="0" r="0" t="0"/>
          <a:stretch/>
        </p:blipFill>
        <p:spPr>
          <a:xfrm>
            <a:off x="7858125" y="3435697"/>
            <a:ext cx="114300" cy="142875"/>
          </a:xfrm>
          <a:prstGeom prst="rect">
            <a:avLst/>
          </a:prstGeom>
          <a:noFill/>
          <a:ln>
            <a:noFill/>
          </a:ln>
        </p:spPr>
      </p:pic>
      <p:pic>
        <p:nvPicPr>
          <p:cNvPr descr="image.png" id="192" name="Google Shape;192;p16"/>
          <p:cNvPicPr preferRelativeResize="0"/>
          <p:nvPr/>
        </p:nvPicPr>
        <p:blipFill rotWithShape="1">
          <a:blip r:embed="rId23">
            <a:alphaModFix/>
          </a:blip>
          <a:srcRect b="0" l="0" r="0" t="0"/>
          <a:stretch/>
        </p:blipFill>
        <p:spPr>
          <a:xfrm>
            <a:off x="9715500" y="3435697"/>
            <a:ext cx="114300" cy="142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image.png" id="197" name="Google Shape;197;p17"/>
          <p:cNvPicPr preferRelativeResize="0"/>
          <p:nvPr/>
        </p:nvPicPr>
        <p:blipFill rotWithShape="1">
          <a:blip r:embed="rId3">
            <a:alphaModFix/>
          </a:blip>
          <a:srcRect b="0" l="0" r="0" t="0"/>
          <a:stretch/>
        </p:blipFill>
        <p:spPr>
          <a:xfrm>
            <a:off x="10702" y="10702"/>
            <a:ext cx="12192000" cy="6858000"/>
          </a:xfrm>
          <a:prstGeom prst="rect">
            <a:avLst/>
          </a:prstGeom>
          <a:noFill/>
          <a:ln>
            <a:noFill/>
          </a:ln>
        </p:spPr>
      </p:pic>
      <p:pic>
        <p:nvPicPr>
          <p:cNvPr descr="image.png" id="198" name="Google Shape;198;p17"/>
          <p:cNvPicPr preferRelativeResize="0"/>
          <p:nvPr/>
        </p:nvPicPr>
        <p:blipFill rotWithShape="1">
          <a:blip r:embed="rId4">
            <a:alphaModFix/>
          </a:blip>
          <a:srcRect b="0" l="0" r="0" t="0"/>
          <a:stretch/>
        </p:blipFill>
        <p:spPr>
          <a:xfrm>
            <a:off x="6238875" y="1725959"/>
            <a:ext cx="5372100" cy="3438525"/>
          </a:xfrm>
          <a:prstGeom prst="rect">
            <a:avLst/>
          </a:prstGeom>
          <a:noFill/>
          <a:ln>
            <a:noFill/>
          </a:ln>
        </p:spPr>
      </p:pic>
      <p:pic>
        <p:nvPicPr>
          <p:cNvPr descr="image.png" id="199" name="Google Shape;199;p17"/>
          <p:cNvPicPr preferRelativeResize="0"/>
          <p:nvPr/>
        </p:nvPicPr>
        <p:blipFill rotWithShape="1">
          <a:blip r:embed="rId5">
            <a:alphaModFix/>
          </a:blip>
          <a:srcRect b="0" l="0" r="0" t="0"/>
          <a:stretch/>
        </p:blipFill>
        <p:spPr>
          <a:xfrm>
            <a:off x="581025" y="1725959"/>
            <a:ext cx="5372100" cy="1285875"/>
          </a:xfrm>
          <a:prstGeom prst="rect">
            <a:avLst/>
          </a:prstGeom>
          <a:noFill/>
          <a:ln>
            <a:noFill/>
          </a:ln>
        </p:spPr>
      </p:pic>
      <p:pic>
        <p:nvPicPr>
          <p:cNvPr descr="image.png" id="200" name="Google Shape;200;p17"/>
          <p:cNvPicPr preferRelativeResize="0"/>
          <p:nvPr/>
        </p:nvPicPr>
        <p:blipFill rotWithShape="1">
          <a:blip r:embed="rId6">
            <a:alphaModFix/>
          </a:blip>
          <a:srcRect b="0" l="0" r="0" t="0"/>
          <a:stretch/>
        </p:blipFill>
        <p:spPr>
          <a:xfrm>
            <a:off x="581025" y="3650009"/>
            <a:ext cx="5372100" cy="1514475"/>
          </a:xfrm>
          <a:prstGeom prst="rect">
            <a:avLst/>
          </a:prstGeom>
          <a:noFill/>
          <a:ln>
            <a:noFill/>
          </a:ln>
        </p:spPr>
      </p:pic>
      <p:sp>
        <p:nvSpPr>
          <p:cNvPr id="201" name="Google Shape;201;p17"/>
          <p:cNvSpPr txBox="1"/>
          <p:nvPr/>
        </p:nvSpPr>
        <p:spPr>
          <a:xfrm>
            <a:off x="8096250" y="247650"/>
            <a:ext cx="35147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CORE DIMENSIONAL MODELING</a:t>
            </a:r>
            <a:endParaRPr/>
          </a:p>
        </p:txBody>
      </p:sp>
      <p:sp>
        <p:nvSpPr>
          <p:cNvPr id="202" name="Google Shape;202;p17"/>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Data Engineering Deep Dive </a:t>
            </a:r>
            <a:r>
              <a:rPr b="1" i="0" lang="en-US" sz="2550" u="none" cap="none" strike="noStrike">
                <a:solidFill>
                  <a:srgbClr val="38BDF8"/>
                </a:solidFill>
                <a:latin typeface="Plus Jakarta Sans"/>
                <a:ea typeface="Plus Jakarta Sans"/>
                <a:cs typeface="Plus Jakarta Sans"/>
                <a:sym typeface="Plus Jakarta Sans"/>
              </a:rPr>
              <a:t>(SCD Type 2)</a:t>
            </a:r>
            <a:endParaRPr/>
          </a:p>
        </p:txBody>
      </p:sp>
      <p:sp>
        <p:nvSpPr>
          <p:cNvPr id="203" name="Google Shape;203;p17"/>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4" name="Google Shape;204;p17"/>
          <p:cNvPicPr preferRelativeResize="0"/>
          <p:nvPr/>
        </p:nvPicPr>
        <p:blipFill rotWithShape="1">
          <a:blip r:embed="rId7">
            <a:alphaModFix/>
          </a:blip>
          <a:srcRect b="0" l="0" r="0" t="0"/>
          <a:stretch/>
        </p:blipFill>
        <p:spPr>
          <a:xfrm>
            <a:off x="723900" y="6023669"/>
            <a:ext cx="104775" cy="114300"/>
          </a:xfrm>
          <a:prstGeom prst="rect">
            <a:avLst/>
          </a:prstGeom>
          <a:noFill/>
          <a:ln>
            <a:noFill/>
          </a:ln>
        </p:spPr>
      </p:pic>
      <p:sp>
        <p:nvSpPr>
          <p:cNvPr id="205" name="Google Shape;205;p17"/>
          <p:cNvSpPr txBox="1"/>
          <p:nvPr/>
        </p:nvSpPr>
        <p:spPr>
          <a:xfrm>
            <a:off x="923925" y="6004619"/>
            <a:ext cx="10544175"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900" u="none" cap="none" strike="noStrike">
                <a:solidFill>
                  <a:srgbClr val="9CA3AF"/>
                </a:solidFill>
                <a:latin typeface="Inter"/>
                <a:ea typeface="Inter"/>
                <a:cs typeface="Inter"/>
                <a:sym typeface="Inter"/>
              </a:rPr>
              <a:t>Presenter Notes:</a:t>
            </a:r>
            <a:r>
              <a:rPr b="0" i="0" lang="en-US" sz="900" u="none" cap="none" strike="noStrike">
                <a:solidFill>
                  <a:srgbClr val="9CA3AF"/>
                </a:solidFill>
                <a:latin typeface="Inter"/>
                <a:ea typeface="Inter"/>
                <a:cs typeface="Inter"/>
                <a:sym typeface="Inter"/>
              </a:rPr>
              <a:t> "Instead of overwriting data, I implement a versioning system. This allows us to perform 'Point-in-Time' analysis, answering questions like 'What was our average candidate salary in January versus June?'"</a:t>
            </a:r>
            <a:endParaRPr/>
          </a:p>
        </p:txBody>
      </p:sp>
      <p:sp>
        <p:nvSpPr>
          <p:cNvPr id="206" name="Google Shape;206;p17"/>
          <p:cNvSpPr/>
          <p:nvPr/>
        </p:nvSpPr>
        <p:spPr>
          <a:xfrm>
            <a:off x="6477000" y="3897659"/>
            <a:ext cx="4895850" cy="1028700"/>
          </a:xfrm>
          <a:prstGeom prst="roundRect">
            <a:avLst>
              <a:gd fmla="val 0" name="adj"/>
            </a:avLst>
          </a:prstGeom>
          <a:solidFill>
            <a:srgbClr val="111827"/>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07" name="Google Shape;207;p17"/>
          <p:cNvGraphicFramePr/>
          <p:nvPr/>
        </p:nvGraphicFramePr>
        <p:xfrm>
          <a:off x="6477000" y="3897659"/>
          <a:ext cx="3000000" cy="3000000"/>
        </p:xfrm>
        <a:graphic>
          <a:graphicData uri="http://schemas.openxmlformats.org/drawingml/2006/table">
            <a:tbl>
              <a:tblPr bandRow="1" firstRow="1">
                <a:noFill/>
                <a:tableStyleId>{97F74970-1820-4FA9-A6A2-EDE01B7A4CAD}</a:tableStyleId>
              </a:tblPr>
              <a:tblGrid>
                <a:gridCol w="724050"/>
                <a:gridCol w="945650"/>
                <a:gridCol w="689525"/>
                <a:gridCol w="866925"/>
                <a:gridCol w="866925"/>
                <a:gridCol w="793250"/>
              </a:tblGrid>
              <a:tr h="342900">
                <a:tc>
                  <a:txBody>
                    <a:bodyPr/>
                    <a:lstStyle/>
                    <a:p>
                      <a:pPr indent="0" lvl="0" marL="0" marR="0" rtl="0" algn="l">
                        <a:spcBef>
                          <a:spcPts val="0"/>
                        </a:spcBef>
                        <a:spcAft>
                          <a:spcPts val="0"/>
                        </a:spcAft>
                        <a:buNone/>
                      </a:pPr>
                      <a:r>
                        <a:rPr b="0" i="0" lang="en-US" sz="900" u="none" cap="none" strike="noStrike">
                          <a:solidFill>
                            <a:srgbClr val="38BDF8"/>
                          </a:solidFill>
                          <a:latin typeface="Inter SemiBold"/>
                          <a:ea typeface="Inter SemiBold"/>
                          <a:cs typeface="Inter SemiBold"/>
                          <a:sym typeface="Inter SemiBold"/>
                        </a:rPr>
                        <a:t>Surr_Key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0" i="0" lang="en-US" sz="900" u="none" cap="none" strike="noStrike">
                          <a:solidFill>
                            <a:srgbClr val="38BDF8"/>
                          </a:solidFill>
                          <a:latin typeface="Inter SemiBold"/>
                          <a:ea typeface="Inter SemiBold"/>
                          <a:cs typeface="Inter SemiBold"/>
                          <a:sym typeface="Inter SemiBold"/>
                        </a:rPr>
                        <a:t>Candidate_ID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0" i="0" lang="en-US" sz="900" u="none" cap="none" strike="noStrike">
                          <a:solidFill>
                            <a:srgbClr val="38BDF8"/>
                          </a:solidFill>
                          <a:latin typeface="Inter SemiBold"/>
                          <a:ea typeface="Inter SemiBold"/>
                          <a:cs typeface="Inter SemiBold"/>
                          <a:sym typeface="Inter SemiBold"/>
                        </a:rPr>
                        <a:t>Salary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0" i="0" lang="en-US" sz="900" u="none" cap="none" strike="noStrike">
                          <a:solidFill>
                            <a:srgbClr val="38BDF8"/>
                          </a:solidFill>
                          <a:latin typeface="Inter SemiBold"/>
                          <a:ea typeface="Inter SemiBold"/>
                          <a:cs typeface="Inter SemiBold"/>
                          <a:sym typeface="Inter SemiBold"/>
                        </a:rPr>
                        <a:t>Start_Date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0" i="0" lang="en-US" sz="900" u="none" cap="none" strike="noStrike">
                          <a:solidFill>
                            <a:srgbClr val="38BDF8"/>
                          </a:solidFill>
                          <a:latin typeface="Inter SemiBold"/>
                          <a:ea typeface="Inter SemiBold"/>
                          <a:cs typeface="Inter SemiBold"/>
                          <a:sym typeface="Inter SemiBold"/>
                        </a:rPr>
                        <a:t>End_Date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0" i="0" lang="en-US" sz="900" u="none" cap="none" strike="noStrike">
                          <a:solidFill>
                            <a:srgbClr val="38BDF8"/>
                          </a:solidFill>
                          <a:latin typeface="Inter SemiBold"/>
                          <a:ea typeface="Inter SemiBold"/>
                          <a:cs typeface="Inter SemiBold"/>
                          <a:sym typeface="Inter SemiBold"/>
                        </a:rPr>
                        <a:t>Is_Current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r>
              <a:tr h="342900">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1012</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C-5582</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$80,000</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2025-01-10</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2025-06-15</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FALSE</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2900">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1249</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C-5582</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$90,000</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2025-06-16</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9999-12-31</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111827"/>
                          </a:solidFill>
                          <a:latin typeface="Inter"/>
                          <a:ea typeface="Inter"/>
                          <a:cs typeface="Inter"/>
                          <a:sym typeface="Inter"/>
                        </a:rPr>
                        <a:t>TRUE</a:t>
                      </a:r>
                      <a:endParaRPr>
                        <a:solidFill>
                          <a:srgbClr val="111827"/>
                        </a:solidFill>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08" name="Google Shape;208;p17"/>
          <p:cNvSpPr txBox="1"/>
          <p:nvPr/>
        </p:nvSpPr>
        <p:spPr>
          <a:xfrm>
            <a:off x="819150" y="1964084"/>
            <a:ext cx="5140642" cy="238125"/>
          </a:xfrm>
          <a:prstGeom prst="rect">
            <a:avLst/>
          </a:prstGeom>
          <a:noFill/>
          <a:ln>
            <a:noFill/>
          </a:ln>
        </p:spPr>
        <p:txBody>
          <a:bodyPr anchorCtr="0" anchor="t" bIns="0" lIns="19050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Plus Jakarta Sans"/>
                <a:ea typeface="Plus Jakarta Sans"/>
                <a:cs typeface="Plus Jakarta Sans"/>
                <a:sym typeface="Plus Jakarta Sans"/>
              </a:rPr>
              <a:t>The Challenge</a:t>
            </a:r>
            <a:endParaRPr/>
          </a:p>
        </p:txBody>
      </p:sp>
      <p:sp>
        <p:nvSpPr>
          <p:cNvPr id="209" name="Google Shape;209;p17"/>
          <p:cNvSpPr txBox="1"/>
          <p:nvPr/>
        </p:nvSpPr>
        <p:spPr>
          <a:xfrm>
            <a:off x="819150" y="2316509"/>
            <a:ext cx="4895850"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D1D5DB"/>
                </a:solidFill>
                <a:latin typeface="Inter"/>
                <a:ea typeface="Inter"/>
                <a:cs typeface="Inter"/>
                <a:sym typeface="Inter"/>
              </a:rPr>
              <a:t>How to track a candidate's continuous profile transitions (such as salary change from $80k to $90k) without deleting historical records.</a:t>
            </a:r>
            <a:endParaRPr/>
          </a:p>
        </p:txBody>
      </p:sp>
      <p:sp>
        <p:nvSpPr>
          <p:cNvPr id="210" name="Google Shape;210;p17"/>
          <p:cNvSpPr txBox="1"/>
          <p:nvPr/>
        </p:nvSpPr>
        <p:spPr>
          <a:xfrm>
            <a:off x="819150" y="3888134"/>
            <a:ext cx="5140642" cy="238125"/>
          </a:xfrm>
          <a:prstGeom prst="rect">
            <a:avLst/>
          </a:prstGeom>
          <a:noFill/>
          <a:ln>
            <a:noFill/>
          </a:ln>
        </p:spPr>
        <p:txBody>
          <a:bodyPr anchorCtr="0" anchor="t" bIns="0" lIns="19050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Plus Jakarta Sans"/>
                <a:ea typeface="Plus Jakarta Sans"/>
                <a:cs typeface="Plus Jakarta Sans"/>
                <a:sym typeface="Plus Jakarta Sans"/>
              </a:rPr>
              <a:t>The Solution</a:t>
            </a:r>
            <a:endParaRPr/>
          </a:p>
        </p:txBody>
      </p:sp>
      <p:sp>
        <p:nvSpPr>
          <p:cNvPr id="211" name="Google Shape;211;p17"/>
          <p:cNvSpPr txBox="1"/>
          <p:nvPr/>
        </p:nvSpPr>
        <p:spPr>
          <a:xfrm>
            <a:off x="819150" y="4240559"/>
            <a:ext cx="4895850" cy="685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125" u="none" cap="none" strike="noStrike">
                <a:solidFill>
                  <a:srgbClr val="D1D5DB"/>
                </a:solidFill>
                <a:latin typeface="Inter"/>
                <a:ea typeface="Inter"/>
                <a:cs typeface="Inter"/>
                <a:sym typeface="Inter"/>
              </a:rPr>
              <a:t>Slowly Changing Dimension (SCD) Type 2</a:t>
            </a:r>
            <a:r>
              <a:rPr b="0" i="0" lang="en-US" sz="1125" u="none" cap="none" strike="noStrike">
                <a:solidFill>
                  <a:srgbClr val="D1D5DB"/>
                </a:solidFill>
                <a:latin typeface="Inter"/>
                <a:ea typeface="Inter"/>
                <a:cs typeface="Inter"/>
                <a:sym typeface="Inter"/>
              </a:rPr>
              <a:t> preserves full chronological state history by adding distinct active rows instead of updating existing ones.</a:t>
            </a:r>
            <a:endParaRPr/>
          </a:p>
        </p:txBody>
      </p:sp>
      <p:sp>
        <p:nvSpPr>
          <p:cNvPr id="212" name="Google Shape;212;p17"/>
          <p:cNvSpPr txBox="1"/>
          <p:nvPr/>
        </p:nvSpPr>
        <p:spPr>
          <a:xfrm>
            <a:off x="6477000" y="1964084"/>
            <a:ext cx="5140642" cy="219075"/>
          </a:xfrm>
          <a:prstGeom prst="rect">
            <a:avLst/>
          </a:prstGeom>
          <a:noFill/>
          <a:ln>
            <a:noFill/>
          </a:ln>
        </p:spPr>
        <p:txBody>
          <a:bodyPr anchorCtr="0" anchor="t" bIns="0" lIns="171450" spcFirstLastPara="1" rIns="0" wrap="square" tIns="0">
            <a:spAutoFit/>
          </a:bodyPr>
          <a:lstStyle/>
          <a:p>
            <a:pPr indent="0" lvl="0" marL="0" marR="0" rtl="0" algn="l">
              <a:spcBef>
                <a:spcPts val="0"/>
              </a:spcBef>
              <a:spcAft>
                <a:spcPts val="0"/>
              </a:spcAft>
              <a:buNone/>
            </a:pPr>
            <a:r>
              <a:rPr b="1" i="0" lang="en-US" sz="1350" u="none" cap="none" strike="noStrike">
                <a:solidFill>
                  <a:srgbClr val="F3F4F6"/>
                </a:solidFill>
                <a:latin typeface="Plus Jakarta Sans"/>
                <a:ea typeface="Plus Jakarta Sans"/>
                <a:cs typeface="Plus Jakarta Sans"/>
                <a:sym typeface="Plus Jakarta Sans"/>
              </a:rPr>
              <a:t>Key Database Enablers</a:t>
            </a:r>
            <a:endParaRPr/>
          </a:p>
        </p:txBody>
      </p:sp>
      <p:pic>
        <p:nvPicPr>
          <p:cNvPr descr="image.png" id="213" name="Google Shape;213;p17"/>
          <p:cNvPicPr preferRelativeResize="0"/>
          <p:nvPr/>
        </p:nvPicPr>
        <p:blipFill rotWithShape="1">
          <a:blip r:embed="rId8">
            <a:alphaModFix/>
          </a:blip>
          <a:srcRect b="0" l="0" r="0" t="0"/>
          <a:stretch/>
        </p:blipFill>
        <p:spPr>
          <a:xfrm>
            <a:off x="819150" y="2002184"/>
            <a:ext cx="190500" cy="190500"/>
          </a:xfrm>
          <a:prstGeom prst="rect">
            <a:avLst/>
          </a:prstGeom>
          <a:noFill/>
          <a:ln>
            <a:noFill/>
          </a:ln>
        </p:spPr>
      </p:pic>
      <p:pic>
        <p:nvPicPr>
          <p:cNvPr descr="image.png" id="214" name="Google Shape;214;p17"/>
          <p:cNvPicPr preferRelativeResize="0"/>
          <p:nvPr/>
        </p:nvPicPr>
        <p:blipFill rotWithShape="1">
          <a:blip r:embed="rId9">
            <a:alphaModFix/>
          </a:blip>
          <a:srcRect b="0" l="0" r="0" t="0"/>
          <a:stretch/>
        </p:blipFill>
        <p:spPr>
          <a:xfrm>
            <a:off x="819150" y="3926234"/>
            <a:ext cx="190500" cy="190500"/>
          </a:xfrm>
          <a:prstGeom prst="rect">
            <a:avLst/>
          </a:prstGeom>
          <a:noFill/>
          <a:ln>
            <a:noFill/>
          </a:ln>
        </p:spPr>
      </p:pic>
      <p:pic>
        <p:nvPicPr>
          <p:cNvPr descr="image.png" id="215" name="Google Shape;215;p17"/>
          <p:cNvPicPr preferRelativeResize="0"/>
          <p:nvPr/>
        </p:nvPicPr>
        <p:blipFill rotWithShape="1">
          <a:blip r:embed="rId10">
            <a:alphaModFix/>
          </a:blip>
          <a:srcRect b="0" l="0" r="0" t="0"/>
          <a:stretch/>
        </p:blipFill>
        <p:spPr>
          <a:xfrm>
            <a:off x="6477000" y="2002184"/>
            <a:ext cx="171450" cy="171450"/>
          </a:xfrm>
          <a:prstGeom prst="rect">
            <a:avLst/>
          </a:prstGeom>
          <a:noFill/>
          <a:ln>
            <a:noFill/>
          </a:ln>
        </p:spPr>
      </p:pic>
      <p:sp>
        <p:nvSpPr>
          <p:cNvPr id="216" name="Google Shape;216;p17"/>
          <p:cNvSpPr txBox="1"/>
          <p:nvPr/>
        </p:nvSpPr>
        <p:spPr>
          <a:xfrm>
            <a:off x="6762750" y="2278409"/>
            <a:ext cx="4610100"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Surrogate Keys:</a:t>
            </a:r>
            <a:r>
              <a:rPr b="0" i="0" lang="en-US" sz="1125" u="none" cap="none" strike="noStrike">
                <a:solidFill>
                  <a:srgbClr val="E5E7EB"/>
                </a:solidFill>
                <a:latin typeface="Inter"/>
                <a:ea typeface="Inter"/>
                <a:cs typeface="Inter"/>
                <a:sym typeface="Inter"/>
              </a:rPr>
              <a:t> Programmatically unique records generated for every historic version of an entity instance.</a:t>
            </a:r>
            <a:endParaRPr/>
          </a:p>
        </p:txBody>
      </p:sp>
      <p:sp>
        <p:nvSpPr>
          <p:cNvPr id="217" name="Google Shape;217;p17"/>
          <p:cNvSpPr txBox="1"/>
          <p:nvPr/>
        </p:nvSpPr>
        <p:spPr>
          <a:xfrm>
            <a:off x="6762750" y="2802284"/>
            <a:ext cx="4610100"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Effective Dates:</a:t>
            </a:r>
            <a:r>
              <a:rPr b="0" i="0" lang="en-US" sz="1125" u="none" cap="none" strike="noStrike">
                <a:solidFill>
                  <a:srgbClr val="E5E7EB"/>
                </a:solidFill>
                <a:latin typeface="Inter"/>
                <a:ea typeface="Inter"/>
                <a:cs typeface="Inter"/>
                <a:sym typeface="Inter"/>
              </a:rPr>
              <a:t> Continuous timestamps (start_date &amp; end_date) explicitly defining validity windows.</a:t>
            </a:r>
            <a:endParaRPr/>
          </a:p>
        </p:txBody>
      </p:sp>
      <p:sp>
        <p:nvSpPr>
          <p:cNvPr id="218" name="Google Shape;218;p17"/>
          <p:cNvSpPr txBox="1"/>
          <p:nvPr/>
        </p:nvSpPr>
        <p:spPr>
          <a:xfrm>
            <a:off x="6762750" y="3326159"/>
            <a:ext cx="4610100"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Current Flag:</a:t>
            </a:r>
            <a:r>
              <a:rPr b="0" i="0" lang="en-US" sz="1125" u="none" cap="none" strike="noStrike">
                <a:solidFill>
                  <a:srgbClr val="E5E7EB"/>
                </a:solidFill>
                <a:latin typeface="Inter"/>
                <a:ea typeface="Inter"/>
                <a:cs typeface="Inter"/>
                <a:sym typeface="Inter"/>
              </a:rPr>
              <a:t> Fast is_current boolean values for rapid database queries to isolate current live records.</a:t>
            </a:r>
            <a:endParaRPr/>
          </a:p>
        </p:txBody>
      </p:sp>
      <p:sp>
        <p:nvSpPr>
          <p:cNvPr id="219" name="Google Shape;219;p17"/>
          <p:cNvSpPr/>
          <p:nvPr/>
        </p:nvSpPr>
        <p:spPr>
          <a:xfrm>
            <a:off x="6481762" y="4569172"/>
            <a:ext cx="72404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17"/>
          <p:cNvSpPr/>
          <p:nvPr/>
        </p:nvSpPr>
        <p:spPr>
          <a:xfrm>
            <a:off x="7205811" y="4569172"/>
            <a:ext cx="94565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7"/>
          <p:cNvSpPr/>
          <p:nvPr/>
        </p:nvSpPr>
        <p:spPr>
          <a:xfrm>
            <a:off x="8151465" y="4569172"/>
            <a:ext cx="6895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17"/>
          <p:cNvSpPr/>
          <p:nvPr/>
        </p:nvSpPr>
        <p:spPr>
          <a:xfrm>
            <a:off x="8840985" y="4569172"/>
            <a:ext cx="86692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7"/>
          <p:cNvSpPr/>
          <p:nvPr/>
        </p:nvSpPr>
        <p:spPr>
          <a:xfrm>
            <a:off x="9707909" y="4569172"/>
            <a:ext cx="86692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17"/>
          <p:cNvSpPr/>
          <p:nvPr/>
        </p:nvSpPr>
        <p:spPr>
          <a:xfrm>
            <a:off x="10574833" y="4569172"/>
            <a:ext cx="79325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17"/>
          <p:cNvSpPr/>
          <p:nvPr/>
        </p:nvSpPr>
        <p:spPr>
          <a:xfrm>
            <a:off x="6481762" y="4912072"/>
            <a:ext cx="72404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17"/>
          <p:cNvSpPr/>
          <p:nvPr/>
        </p:nvSpPr>
        <p:spPr>
          <a:xfrm>
            <a:off x="7205811" y="4912072"/>
            <a:ext cx="94565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7"/>
          <p:cNvSpPr/>
          <p:nvPr/>
        </p:nvSpPr>
        <p:spPr>
          <a:xfrm>
            <a:off x="8151465" y="4912072"/>
            <a:ext cx="68952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17"/>
          <p:cNvSpPr/>
          <p:nvPr/>
        </p:nvSpPr>
        <p:spPr>
          <a:xfrm>
            <a:off x="8840985" y="4912072"/>
            <a:ext cx="86692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17"/>
          <p:cNvSpPr/>
          <p:nvPr/>
        </p:nvSpPr>
        <p:spPr>
          <a:xfrm>
            <a:off x="9707909" y="4912072"/>
            <a:ext cx="86692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17"/>
          <p:cNvSpPr/>
          <p:nvPr/>
        </p:nvSpPr>
        <p:spPr>
          <a:xfrm>
            <a:off x="10574833" y="4912072"/>
            <a:ext cx="79325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1" name="Google Shape;231;p17"/>
          <p:cNvPicPr preferRelativeResize="0"/>
          <p:nvPr/>
        </p:nvPicPr>
        <p:blipFill rotWithShape="1">
          <a:blip r:embed="rId11">
            <a:alphaModFix/>
          </a:blip>
          <a:srcRect b="0" l="0" r="0" t="0"/>
          <a:stretch/>
        </p:blipFill>
        <p:spPr>
          <a:xfrm>
            <a:off x="10581334" y="4306356"/>
            <a:ext cx="443850" cy="190500"/>
          </a:xfrm>
          <a:prstGeom prst="rect">
            <a:avLst/>
          </a:prstGeom>
          <a:noFill/>
          <a:ln>
            <a:noFill/>
          </a:ln>
        </p:spPr>
      </p:pic>
      <p:pic>
        <p:nvPicPr>
          <p:cNvPr descr="image.png" id="232" name="Google Shape;232;p17"/>
          <p:cNvPicPr preferRelativeResize="0"/>
          <p:nvPr/>
        </p:nvPicPr>
        <p:blipFill rotWithShape="1">
          <a:blip r:embed="rId12">
            <a:alphaModFix/>
          </a:blip>
          <a:srcRect b="0" l="0" r="0" t="0"/>
          <a:stretch/>
        </p:blipFill>
        <p:spPr>
          <a:xfrm>
            <a:off x="10575249" y="4657402"/>
            <a:ext cx="417909" cy="171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descr="image.png" id="237" name="Google Shape;237;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8" name="Google Shape;238;p18"/>
          <p:cNvPicPr preferRelativeResize="0"/>
          <p:nvPr/>
        </p:nvPicPr>
        <p:blipFill rotWithShape="1">
          <a:blip r:embed="rId4">
            <a:alphaModFix/>
          </a:blip>
          <a:srcRect b="0" l="0" r="0" t="0"/>
          <a:stretch/>
        </p:blipFill>
        <p:spPr>
          <a:xfrm>
            <a:off x="581025" y="2149822"/>
            <a:ext cx="3517850" cy="2590800"/>
          </a:xfrm>
          <a:prstGeom prst="rect">
            <a:avLst/>
          </a:prstGeom>
          <a:noFill/>
          <a:ln>
            <a:noFill/>
          </a:ln>
        </p:spPr>
      </p:pic>
      <p:pic>
        <p:nvPicPr>
          <p:cNvPr descr="image.png" id="239" name="Google Shape;239;p18"/>
          <p:cNvPicPr preferRelativeResize="0"/>
          <p:nvPr/>
        </p:nvPicPr>
        <p:blipFill rotWithShape="1">
          <a:blip r:embed="rId5">
            <a:alphaModFix/>
          </a:blip>
          <a:srcRect b="0" l="0" r="0" t="0"/>
          <a:stretch/>
        </p:blipFill>
        <p:spPr>
          <a:xfrm>
            <a:off x="4337000" y="2149822"/>
            <a:ext cx="3517850" cy="2590800"/>
          </a:xfrm>
          <a:prstGeom prst="rect">
            <a:avLst/>
          </a:prstGeom>
          <a:noFill/>
          <a:ln>
            <a:noFill/>
          </a:ln>
        </p:spPr>
      </p:pic>
      <p:pic>
        <p:nvPicPr>
          <p:cNvPr descr="image.png" id="240" name="Google Shape;240;p18"/>
          <p:cNvPicPr preferRelativeResize="0"/>
          <p:nvPr/>
        </p:nvPicPr>
        <p:blipFill rotWithShape="1">
          <a:blip r:embed="rId6">
            <a:alphaModFix/>
          </a:blip>
          <a:srcRect b="0" l="0" r="0" t="0"/>
          <a:stretch/>
        </p:blipFill>
        <p:spPr>
          <a:xfrm>
            <a:off x="8092975" y="2149822"/>
            <a:ext cx="3517999" cy="2590800"/>
          </a:xfrm>
          <a:prstGeom prst="rect">
            <a:avLst/>
          </a:prstGeom>
          <a:noFill/>
          <a:ln>
            <a:noFill/>
          </a:ln>
        </p:spPr>
      </p:pic>
      <p:sp>
        <p:nvSpPr>
          <p:cNvPr id="241" name="Google Shape;241;p18"/>
          <p:cNvSpPr txBox="1"/>
          <p:nvPr/>
        </p:nvSpPr>
        <p:spPr>
          <a:xfrm>
            <a:off x="8353425" y="247650"/>
            <a:ext cx="32575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INFRASTRUCTURE &amp; STACK</a:t>
            </a:r>
            <a:endParaRPr/>
          </a:p>
        </p:txBody>
      </p:sp>
      <p:sp>
        <p:nvSpPr>
          <p:cNvPr id="242" name="Google Shape;242;p18"/>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Modern Data Stack </a:t>
            </a:r>
            <a:r>
              <a:rPr b="1" i="0" lang="en-US" sz="2550" u="none" cap="none" strike="noStrike">
                <a:solidFill>
                  <a:srgbClr val="38BDF8"/>
                </a:solidFill>
                <a:latin typeface="Plus Jakarta Sans"/>
                <a:ea typeface="Plus Jakarta Sans"/>
                <a:cs typeface="Plus Jakarta Sans"/>
                <a:sym typeface="Plus Jakarta Sans"/>
              </a:rPr>
              <a:t>(MDS) &amp; Orchestration</a:t>
            </a:r>
            <a:endParaRPr/>
          </a:p>
        </p:txBody>
      </p:sp>
      <p:sp>
        <p:nvSpPr>
          <p:cNvPr id="243" name="Google Shape;243;p18"/>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44" name="Google Shape;244;p18"/>
          <p:cNvPicPr preferRelativeResize="0"/>
          <p:nvPr/>
        </p:nvPicPr>
        <p:blipFill rotWithShape="1">
          <a:blip r:embed="rId7">
            <a:alphaModFix/>
          </a:blip>
          <a:srcRect b="0" l="0" r="0" t="0"/>
          <a:stretch/>
        </p:blipFill>
        <p:spPr>
          <a:xfrm>
            <a:off x="723900" y="6023669"/>
            <a:ext cx="104775" cy="114300"/>
          </a:xfrm>
          <a:prstGeom prst="rect">
            <a:avLst/>
          </a:prstGeom>
          <a:noFill/>
          <a:ln>
            <a:noFill/>
          </a:ln>
        </p:spPr>
      </p:pic>
      <p:sp>
        <p:nvSpPr>
          <p:cNvPr id="245" name="Google Shape;245;p18"/>
          <p:cNvSpPr txBox="1"/>
          <p:nvPr/>
        </p:nvSpPr>
        <p:spPr>
          <a:xfrm>
            <a:off x="819150" y="2387947"/>
            <a:ext cx="3041600"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38BDF8"/>
                </a:solidFill>
                <a:latin typeface="Inter"/>
                <a:ea typeface="Inter"/>
                <a:cs typeface="Inter"/>
                <a:sym typeface="Inter"/>
              </a:rPr>
              <a:t>Orchestrator</a:t>
            </a:r>
            <a:endParaRPr/>
          </a:p>
        </p:txBody>
      </p:sp>
      <p:sp>
        <p:nvSpPr>
          <p:cNvPr id="246" name="Google Shape;246;p18"/>
          <p:cNvSpPr txBox="1"/>
          <p:nvPr/>
        </p:nvSpPr>
        <p:spPr>
          <a:xfrm>
            <a:off x="819150" y="2759422"/>
            <a:ext cx="319368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Plus Jakarta Sans"/>
                <a:ea typeface="Plus Jakarta Sans"/>
                <a:cs typeface="Plus Jakarta Sans"/>
                <a:sym typeface="Plus Jakarta Sans"/>
              </a:rPr>
              <a:t>Prefect Cloud</a:t>
            </a:r>
            <a:endParaRPr/>
          </a:p>
        </p:txBody>
      </p:sp>
      <p:sp>
        <p:nvSpPr>
          <p:cNvPr id="247" name="Google Shape;247;p18"/>
          <p:cNvSpPr txBox="1"/>
          <p:nvPr/>
        </p:nvSpPr>
        <p:spPr>
          <a:xfrm>
            <a:off x="4575125" y="2387947"/>
            <a:ext cx="3041600"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0B981"/>
                </a:solidFill>
                <a:latin typeface="Inter"/>
                <a:ea typeface="Inter"/>
                <a:cs typeface="Inter"/>
                <a:sym typeface="Inter"/>
              </a:rPr>
              <a:t>Compute</a:t>
            </a:r>
            <a:endParaRPr/>
          </a:p>
        </p:txBody>
      </p:sp>
      <p:sp>
        <p:nvSpPr>
          <p:cNvPr id="248" name="Google Shape;248;p18"/>
          <p:cNvSpPr txBox="1"/>
          <p:nvPr/>
        </p:nvSpPr>
        <p:spPr>
          <a:xfrm>
            <a:off x="4575125" y="2759422"/>
            <a:ext cx="319368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Plus Jakarta Sans"/>
                <a:ea typeface="Plus Jakarta Sans"/>
                <a:cs typeface="Plus Jakarta Sans"/>
                <a:sym typeface="Plus Jakarta Sans"/>
              </a:rPr>
              <a:t>DuckDB</a:t>
            </a:r>
            <a:endParaRPr/>
          </a:p>
        </p:txBody>
      </p:sp>
      <p:sp>
        <p:nvSpPr>
          <p:cNvPr id="249" name="Google Shape;249;p18"/>
          <p:cNvSpPr txBox="1"/>
          <p:nvPr/>
        </p:nvSpPr>
        <p:spPr>
          <a:xfrm>
            <a:off x="8331100" y="2387947"/>
            <a:ext cx="3041749" cy="22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38BDF8"/>
                </a:solidFill>
                <a:latin typeface="Inter"/>
                <a:ea typeface="Inter"/>
                <a:cs typeface="Inter"/>
                <a:sym typeface="Inter"/>
              </a:rPr>
              <a:t>Storage</a:t>
            </a:r>
            <a:endParaRPr/>
          </a:p>
        </p:txBody>
      </p:sp>
      <p:sp>
        <p:nvSpPr>
          <p:cNvPr id="250" name="Google Shape;250;p18"/>
          <p:cNvSpPr txBox="1"/>
          <p:nvPr/>
        </p:nvSpPr>
        <p:spPr>
          <a:xfrm>
            <a:off x="8331100" y="2759422"/>
            <a:ext cx="3193836"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FFFFFF"/>
                </a:solidFill>
                <a:latin typeface="Plus Jakarta Sans"/>
                <a:ea typeface="Plus Jakarta Sans"/>
                <a:cs typeface="Plus Jakarta Sans"/>
                <a:sym typeface="Plus Jakarta Sans"/>
              </a:rPr>
              <a:t>ADLS Gen2</a:t>
            </a:r>
            <a:endParaRPr/>
          </a:p>
        </p:txBody>
      </p:sp>
      <p:pic>
        <p:nvPicPr>
          <p:cNvPr descr="image.png" id="251" name="Google Shape;251;p18"/>
          <p:cNvPicPr preferRelativeResize="0"/>
          <p:nvPr/>
        </p:nvPicPr>
        <p:blipFill rotWithShape="1">
          <a:blip r:embed="rId8">
            <a:alphaModFix/>
          </a:blip>
          <a:srcRect b="0" l="0" r="0" t="0"/>
          <a:stretch/>
        </p:blipFill>
        <p:spPr>
          <a:xfrm>
            <a:off x="3632150" y="2387947"/>
            <a:ext cx="228600" cy="228600"/>
          </a:xfrm>
          <a:prstGeom prst="rect">
            <a:avLst/>
          </a:prstGeom>
          <a:noFill/>
          <a:ln>
            <a:noFill/>
          </a:ln>
        </p:spPr>
      </p:pic>
      <p:sp>
        <p:nvSpPr>
          <p:cNvPr id="252" name="Google Shape;252;p18"/>
          <p:cNvSpPr txBox="1"/>
          <p:nvPr/>
        </p:nvSpPr>
        <p:spPr>
          <a:xfrm>
            <a:off x="1009650" y="3188047"/>
            <a:ext cx="2851100"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D1D5DB"/>
                </a:solidFill>
                <a:latin typeface="Inter"/>
                <a:ea typeface="Inter"/>
                <a:cs typeface="Inter"/>
                <a:sym typeface="Inter"/>
              </a:rPr>
              <a:t>Provides end-to-end telemetry observability, customizable automated retries, and direct pipeline failure alerts.</a:t>
            </a:r>
            <a:endParaRPr/>
          </a:p>
        </p:txBody>
      </p:sp>
      <p:sp>
        <p:nvSpPr>
          <p:cNvPr id="253" name="Google Shape;253;p18"/>
          <p:cNvSpPr txBox="1"/>
          <p:nvPr/>
        </p:nvSpPr>
        <p:spPr>
          <a:xfrm>
            <a:off x="1009650" y="3902422"/>
            <a:ext cx="2851100"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D1D5DB"/>
                </a:solidFill>
                <a:latin typeface="Inter"/>
                <a:ea typeface="Inter"/>
                <a:cs typeface="Inter"/>
                <a:sym typeface="Inter"/>
              </a:rPr>
              <a:t>Decouples execution orchestration (Scheduler Control) from high-intensity worker execution (Python Tasks).</a:t>
            </a:r>
            <a:endParaRPr/>
          </a:p>
        </p:txBody>
      </p:sp>
      <p:pic>
        <p:nvPicPr>
          <p:cNvPr descr="image.png" id="254" name="Google Shape;254;p18"/>
          <p:cNvPicPr preferRelativeResize="0"/>
          <p:nvPr/>
        </p:nvPicPr>
        <p:blipFill rotWithShape="1">
          <a:blip r:embed="rId9">
            <a:alphaModFix/>
          </a:blip>
          <a:srcRect b="0" l="0" r="0" t="0"/>
          <a:stretch/>
        </p:blipFill>
        <p:spPr>
          <a:xfrm>
            <a:off x="7416700" y="2387947"/>
            <a:ext cx="200025" cy="228600"/>
          </a:xfrm>
          <a:prstGeom prst="rect">
            <a:avLst/>
          </a:prstGeom>
          <a:noFill/>
          <a:ln>
            <a:noFill/>
          </a:ln>
        </p:spPr>
      </p:pic>
      <p:sp>
        <p:nvSpPr>
          <p:cNvPr id="255" name="Google Shape;255;p18"/>
          <p:cNvSpPr txBox="1"/>
          <p:nvPr/>
        </p:nvSpPr>
        <p:spPr>
          <a:xfrm>
            <a:off x="4765625" y="3188047"/>
            <a:ext cx="2851100"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D1D5DB"/>
                </a:solidFill>
                <a:latin typeface="Inter"/>
                <a:ea typeface="Inter"/>
                <a:cs typeface="Inter"/>
                <a:sym typeface="Inter"/>
              </a:rPr>
              <a:t>Highly optimized serverless OLAP database engine executing high-speed, direct transformations on underlying Parquet files.</a:t>
            </a:r>
            <a:endParaRPr/>
          </a:p>
        </p:txBody>
      </p:sp>
      <p:sp>
        <p:nvSpPr>
          <p:cNvPr id="256" name="Google Shape;256;p18"/>
          <p:cNvSpPr txBox="1"/>
          <p:nvPr/>
        </p:nvSpPr>
        <p:spPr>
          <a:xfrm>
            <a:off x="4765625" y="3902422"/>
            <a:ext cx="2851100"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D1D5DB"/>
                </a:solidFill>
                <a:latin typeface="Inter"/>
                <a:ea typeface="Inter"/>
                <a:cs typeface="Inter"/>
                <a:sym typeface="Inter"/>
              </a:rPr>
              <a:t>Guarantees low-overhead analytic performance directly inside local compute memory.</a:t>
            </a:r>
            <a:endParaRPr/>
          </a:p>
        </p:txBody>
      </p:sp>
      <p:pic>
        <p:nvPicPr>
          <p:cNvPr descr="image.png" id="257" name="Google Shape;257;p18"/>
          <p:cNvPicPr preferRelativeResize="0"/>
          <p:nvPr/>
        </p:nvPicPr>
        <p:blipFill rotWithShape="1">
          <a:blip r:embed="rId10">
            <a:alphaModFix/>
          </a:blip>
          <a:srcRect b="0" l="0" r="0" t="0"/>
          <a:stretch/>
        </p:blipFill>
        <p:spPr>
          <a:xfrm>
            <a:off x="11087100" y="2387947"/>
            <a:ext cx="285750" cy="228600"/>
          </a:xfrm>
          <a:prstGeom prst="rect">
            <a:avLst/>
          </a:prstGeom>
          <a:noFill/>
          <a:ln>
            <a:noFill/>
          </a:ln>
        </p:spPr>
      </p:pic>
      <p:sp>
        <p:nvSpPr>
          <p:cNvPr id="258" name="Google Shape;258;p18"/>
          <p:cNvSpPr txBox="1"/>
          <p:nvPr/>
        </p:nvSpPr>
        <p:spPr>
          <a:xfrm>
            <a:off x="8521600" y="3188047"/>
            <a:ext cx="2851249" cy="6000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D1D5DB"/>
                </a:solidFill>
                <a:latin typeface="Inter"/>
                <a:ea typeface="Inter"/>
                <a:cs typeface="Inter"/>
                <a:sym typeface="Inter"/>
              </a:rPr>
              <a:t>Azure Data Lake Storage utilizing hierarchical namespaces to structure segmented medallion directories.</a:t>
            </a:r>
            <a:endParaRPr/>
          </a:p>
        </p:txBody>
      </p:sp>
      <p:sp>
        <p:nvSpPr>
          <p:cNvPr id="259" name="Google Shape;259;p18"/>
          <p:cNvSpPr txBox="1"/>
          <p:nvPr/>
        </p:nvSpPr>
        <p:spPr>
          <a:xfrm>
            <a:off x="8521600" y="3902422"/>
            <a:ext cx="2851249"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D1D5DB"/>
                </a:solidFill>
                <a:latin typeface="Inter"/>
                <a:ea typeface="Inter"/>
                <a:cs typeface="Inter"/>
                <a:sym typeface="Inter"/>
              </a:rPr>
              <a:t>Enables enterprise scale, secure, reliable, and cost-efficient cloud storage files.</a:t>
            </a:r>
            <a:endParaRPr/>
          </a:p>
        </p:txBody>
      </p:sp>
      <p:sp>
        <p:nvSpPr>
          <p:cNvPr id="260" name="Google Shape;260;p18"/>
          <p:cNvSpPr txBox="1"/>
          <p:nvPr/>
        </p:nvSpPr>
        <p:spPr>
          <a:xfrm>
            <a:off x="819150" y="3188047"/>
            <a:ext cx="13335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10B981"/>
                </a:solidFill>
                <a:latin typeface="Inter"/>
                <a:ea typeface="Inter"/>
                <a:cs typeface="Inter"/>
                <a:sym typeface="Inter"/>
              </a:rPr>
              <a:t>→</a:t>
            </a:r>
            <a:endParaRPr/>
          </a:p>
        </p:txBody>
      </p:sp>
      <p:sp>
        <p:nvSpPr>
          <p:cNvPr id="261" name="Google Shape;261;p18"/>
          <p:cNvSpPr txBox="1"/>
          <p:nvPr/>
        </p:nvSpPr>
        <p:spPr>
          <a:xfrm>
            <a:off x="819150" y="3902422"/>
            <a:ext cx="13335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10B981"/>
                </a:solidFill>
                <a:latin typeface="Inter"/>
                <a:ea typeface="Inter"/>
                <a:cs typeface="Inter"/>
                <a:sym typeface="Inter"/>
              </a:rPr>
              <a:t>→</a:t>
            </a:r>
            <a:endParaRPr/>
          </a:p>
        </p:txBody>
      </p:sp>
      <p:sp>
        <p:nvSpPr>
          <p:cNvPr id="262" name="Google Shape;262;p18"/>
          <p:cNvSpPr txBox="1"/>
          <p:nvPr/>
        </p:nvSpPr>
        <p:spPr>
          <a:xfrm>
            <a:off x="4575125" y="3188047"/>
            <a:ext cx="13335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10B981"/>
                </a:solidFill>
                <a:latin typeface="Inter"/>
                <a:ea typeface="Inter"/>
                <a:cs typeface="Inter"/>
                <a:sym typeface="Inter"/>
              </a:rPr>
              <a:t>→</a:t>
            </a:r>
            <a:endParaRPr/>
          </a:p>
        </p:txBody>
      </p:sp>
      <p:sp>
        <p:nvSpPr>
          <p:cNvPr id="263" name="Google Shape;263;p18"/>
          <p:cNvSpPr txBox="1"/>
          <p:nvPr/>
        </p:nvSpPr>
        <p:spPr>
          <a:xfrm>
            <a:off x="4575125" y="3902422"/>
            <a:ext cx="13335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10B981"/>
                </a:solidFill>
                <a:latin typeface="Inter"/>
                <a:ea typeface="Inter"/>
                <a:cs typeface="Inter"/>
                <a:sym typeface="Inter"/>
              </a:rPr>
              <a:t>→</a:t>
            </a:r>
            <a:endParaRPr/>
          </a:p>
        </p:txBody>
      </p:sp>
      <p:sp>
        <p:nvSpPr>
          <p:cNvPr id="264" name="Google Shape;264;p18"/>
          <p:cNvSpPr txBox="1"/>
          <p:nvPr/>
        </p:nvSpPr>
        <p:spPr>
          <a:xfrm>
            <a:off x="8331100" y="3188047"/>
            <a:ext cx="13335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10B981"/>
                </a:solidFill>
                <a:latin typeface="Inter"/>
                <a:ea typeface="Inter"/>
                <a:cs typeface="Inter"/>
                <a:sym typeface="Inter"/>
              </a:rPr>
              <a:t>→</a:t>
            </a:r>
            <a:endParaRPr/>
          </a:p>
        </p:txBody>
      </p:sp>
      <p:sp>
        <p:nvSpPr>
          <p:cNvPr id="265" name="Google Shape;265;p18"/>
          <p:cNvSpPr txBox="1"/>
          <p:nvPr/>
        </p:nvSpPr>
        <p:spPr>
          <a:xfrm>
            <a:off x="8331100" y="3902422"/>
            <a:ext cx="13335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10B981"/>
                </a:solidFill>
                <a:latin typeface="Inter"/>
                <a:ea typeface="Inter"/>
                <a:cs typeface="Inter"/>
                <a:sym typeface="Inter"/>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descr="image.png" id="270" name="Google Shape;27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1" name="Google Shape;271;p19"/>
          <p:cNvPicPr preferRelativeResize="0"/>
          <p:nvPr/>
        </p:nvPicPr>
        <p:blipFill rotWithShape="1">
          <a:blip r:embed="rId4">
            <a:alphaModFix/>
          </a:blip>
          <a:srcRect b="0" l="0" r="0" t="0"/>
          <a:stretch/>
        </p:blipFill>
        <p:spPr>
          <a:xfrm>
            <a:off x="581025" y="1853505"/>
            <a:ext cx="4883646" cy="3343275"/>
          </a:xfrm>
          <a:prstGeom prst="rect">
            <a:avLst/>
          </a:prstGeom>
          <a:noFill/>
          <a:ln>
            <a:noFill/>
          </a:ln>
        </p:spPr>
      </p:pic>
      <p:pic>
        <p:nvPicPr>
          <p:cNvPr descr="image.png" id="272" name="Google Shape;272;p19"/>
          <p:cNvPicPr preferRelativeResize="0"/>
          <p:nvPr/>
        </p:nvPicPr>
        <p:blipFill rotWithShape="1">
          <a:blip r:embed="rId5">
            <a:alphaModFix/>
          </a:blip>
          <a:srcRect b="0" l="0" r="0" t="0"/>
          <a:stretch/>
        </p:blipFill>
        <p:spPr>
          <a:xfrm>
            <a:off x="5750421" y="1853505"/>
            <a:ext cx="5860405" cy="3343275"/>
          </a:xfrm>
          <a:prstGeom prst="rect">
            <a:avLst/>
          </a:prstGeom>
          <a:noFill/>
          <a:ln>
            <a:noFill/>
          </a:ln>
        </p:spPr>
      </p:pic>
      <p:pic>
        <p:nvPicPr>
          <p:cNvPr descr="image.png" id="273" name="Google Shape;273;p19"/>
          <p:cNvPicPr preferRelativeResize="0"/>
          <p:nvPr/>
        </p:nvPicPr>
        <p:blipFill rotWithShape="1">
          <a:blip r:embed="rId6">
            <a:alphaModFix/>
          </a:blip>
          <a:srcRect b="0" l="0" r="0" t="0"/>
          <a:stretch/>
        </p:blipFill>
        <p:spPr>
          <a:xfrm>
            <a:off x="819150" y="4568130"/>
            <a:ext cx="4407396" cy="390525"/>
          </a:xfrm>
          <a:prstGeom prst="rect">
            <a:avLst/>
          </a:prstGeom>
          <a:noFill/>
          <a:ln>
            <a:noFill/>
          </a:ln>
        </p:spPr>
      </p:pic>
      <p:pic>
        <p:nvPicPr>
          <p:cNvPr descr="image.png" id="274" name="Google Shape;274;p19"/>
          <p:cNvPicPr preferRelativeResize="0"/>
          <p:nvPr/>
        </p:nvPicPr>
        <p:blipFill rotWithShape="1">
          <a:blip r:embed="rId7">
            <a:alphaModFix/>
          </a:blip>
          <a:srcRect b="0" l="0" r="0" t="0"/>
          <a:stretch/>
        </p:blipFill>
        <p:spPr>
          <a:xfrm>
            <a:off x="5988546" y="2996505"/>
            <a:ext cx="5384155" cy="419100"/>
          </a:xfrm>
          <a:prstGeom prst="rect">
            <a:avLst/>
          </a:prstGeom>
          <a:noFill/>
          <a:ln>
            <a:noFill/>
          </a:ln>
        </p:spPr>
      </p:pic>
      <p:pic>
        <p:nvPicPr>
          <p:cNvPr descr="image.png" id="275" name="Google Shape;275;p19"/>
          <p:cNvPicPr preferRelativeResize="0"/>
          <p:nvPr/>
        </p:nvPicPr>
        <p:blipFill rotWithShape="1">
          <a:blip r:embed="rId8">
            <a:alphaModFix/>
          </a:blip>
          <a:srcRect b="0" l="0" r="0" t="0"/>
          <a:stretch/>
        </p:blipFill>
        <p:spPr>
          <a:xfrm>
            <a:off x="5988546" y="3510855"/>
            <a:ext cx="5384155" cy="419100"/>
          </a:xfrm>
          <a:prstGeom prst="rect">
            <a:avLst/>
          </a:prstGeom>
          <a:noFill/>
          <a:ln>
            <a:noFill/>
          </a:ln>
        </p:spPr>
      </p:pic>
      <p:pic>
        <p:nvPicPr>
          <p:cNvPr descr="image.png" id="276" name="Google Shape;276;p19"/>
          <p:cNvPicPr preferRelativeResize="0"/>
          <p:nvPr/>
        </p:nvPicPr>
        <p:blipFill rotWithShape="1">
          <a:blip r:embed="rId9">
            <a:alphaModFix/>
          </a:blip>
          <a:srcRect b="0" l="0" r="0" t="0"/>
          <a:stretch/>
        </p:blipFill>
        <p:spPr>
          <a:xfrm>
            <a:off x="5988546" y="4025205"/>
            <a:ext cx="5384155" cy="419100"/>
          </a:xfrm>
          <a:prstGeom prst="rect">
            <a:avLst/>
          </a:prstGeom>
          <a:noFill/>
          <a:ln>
            <a:noFill/>
          </a:ln>
        </p:spPr>
      </p:pic>
      <p:pic>
        <p:nvPicPr>
          <p:cNvPr descr="image.png" id="277" name="Google Shape;277;p19"/>
          <p:cNvPicPr preferRelativeResize="0"/>
          <p:nvPr/>
        </p:nvPicPr>
        <p:blipFill rotWithShape="1">
          <a:blip r:embed="rId10">
            <a:alphaModFix/>
          </a:blip>
          <a:srcRect b="0" l="0" r="0" t="0"/>
          <a:stretch/>
        </p:blipFill>
        <p:spPr>
          <a:xfrm>
            <a:off x="5988546" y="4539555"/>
            <a:ext cx="5384155" cy="419100"/>
          </a:xfrm>
          <a:prstGeom prst="rect">
            <a:avLst/>
          </a:prstGeom>
          <a:noFill/>
          <a:ln>
            <a:noFill/>
          </a:ln>
        </p:spPr>
      </p:pic>
      <p:pic>
        <p:nvPicPr>
          <p:cNvPr descr="image.png" id="278" name="Google Shape;278;p19"/>
          <p:cNvPicPr preferRelativeResize="0"/>
          <p:nvPr/>
        </p:nvPicPr>
        <p:blipFill rotWithShape="1">
          <a:blip r:embed="rId11">
            <a:alphaModFix/>
          </a:blip>
          <a:srcRect b="0" l="0" r="0" t="0"/>
          <a:stretch/>
        </p:blipFill>
        <p:spPr>
          <a:xfrm>
            <a:off x="6131421" y="3101280"/>
            <a:ext cx="209550" cy="209550"/>
          </a:xfrm>
          <a:prstGeom prst="rect">
            <a:avLst/>
          </a:prstGeom>
          <a:noFill/>
          <a:ln>
            <a:noFill/>
          </a:ln>
        </p:spPr>
      </p:pic>
      <p:pic>
        <p:nvPicPr>
          <p:cNvPr descr="image.png" id="279" name="Google Shape;279;p19"/>
          <p:cNvPicPr preferRelativeResize="0"/>
          <p:nvPr/>
        </p:nvPicPr>
        <p:blipFill rotWithShape="1">
          <a:blip r:embed="rId12">
            <a:alphaModFix/>
          </a:blip>
          <a:srcRect b="0" l="0" r="0" t="0"/>
          <a:stretch/>
        </p:blipFill>
        <p:spPr>
          <a:xfrm>
            <a:off x="6131421" y="3615630"/>
            <a:ext cx="209550" cy="209550"/>
          </a:xfrm>
          <a:prstGeom prst="rect">
            <a:avLst/>
          </a:prstGeom>
          <a:noFill/>
          <a:ln>
            <a:noFill/>
          </a:ln>
        </p:spPr>
      </p:pic>
      <p:pic>
        <p:nvPicPr>
          <p:cNvPr descr="image.png" id="280" name="Google Shape;280;p19"/>
          <p:cNvPicPr preferRelativeResize="0"/>
          <p:nvPr/>
        </p:nvPicPr>
        <p:blipFill rotWithShape="1">
          <a:blip r:embed="rId13">
            <a:alphaModFix/>
          </a:blip>
          <a:srcRect b="0" l="0" r="0" t="0"/>
          <a:stretch/>
        </p:blipFill>
        <p:spPr>
          <a:xfrm>
            <a:off x="6131421" y="4129980"/>
            <a:ext cx="209550" cy="209550"/>
          </a:xfrm>
          <a:prstGeom prst="rect">
            <a:avLst/>
          </a:prstGeom>
          <a:noFill/>
          <a:ln>
            <a:noFill/>
          </a:ln>
        </p:spPr>
      </p:pic>
      <p:pic>
        <p:nvPicPr>
          <p:cNvPr descr="image.png" id="281" name="Google Shape;281;p19"/>
          <p:cNvPicPr preferRelativeResize="0"/>
          <p:nvPr/>
        </p:nvPicPr>
        <p:blipFill rotWithShape="1">
          <a:blip r:embed="rId14">
            <a:alphaModFix/>
          </a:blip>
          <a:srcRect b="0" l="0" r="0" t="0"/>
          <a:stretch/>
        </p:blipFill>
        <p:spPr>
          <a:xfrm>
            <a:off x="6131421" y="4644330"/>
            <a:ext cx="209550" cy="209550"/>
          </a:xfrm>
          <a:prstGeom prst="rect">
            <a:avLst/>
          </a:prstGeom>
          <a:noFill/>
          <a:ln>
            <a:noFill/>
          </a:ln>
        </p:spPr>
      </p:pic>
      <p:sp>
        <p:nvSpPr>
          <p:cNvPr id="282" name="Google Shape;282;p19"/>
          <p:cNvSpPr txBox="1"/>
          <p:nvPr/>
        </p:nvSpPr>
        <p:spPr>
          <a:xfrm>
            <a:off x="8524875" y="247650"/>
            <a:ext cx="30861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AI ENGINEERING LAYER</a:t>
            </a:r>
            <a:endParaRPr/>
          </a:p>
        </p:txBody>
      </p:sp>
      <p:sp>
        <p:nvSpPr>
          <p:cNvPr id="283" name="Google Shape;283;p19"/>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AI &amp; </a:t>
            </a:r>
            <a:r>
              <a:rPr b="1" i="0" lang="en-US" sz="2550" u="none" cap="none" strike="noStrike">
                <a:solidFill>
                  <a:srgbClr val="38BDF8"/>
                </a:solidFill>
                <a:latin typeface="Plus Jakarta Sans"/>
                <a:ea typeface="Plus Jakarta Sans"/>
                <a:cs typeface="Plus Jakarta Sans"/>
                <a:sym typeface="Plus Jakarta Sans"/>
              </a:rPr>
              <a:t>Predictive Intelligence</a:t>
            </a:r>
            <a:endParaRPr/>
          </a:p>
        </p:txBody>
      </p:sp>
      <p:sp>
        <p:nvSpPr>
          <p:cNvPr id="284" name="Google Shape;284;p19"/>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5" name="Google Shape;285;p19"/>
          <p:cNvPicPr preferRelativeResize="0"/>
          <p:nvPr/>
        </p:nvPicPr>
        <p:blipFill rotWithShape="1">
          <a:blip r:embed="rId15">
            <a:alphaModFix/>
          </a:blip>
          <a:srcRect b="0" l="0" r="0" t="0"/>
          <a:stretch/>
        </p:blipFill>
        <p:spPr>
          <a:xfrm>
            <a:off x="723900" y="6183659"/>
            <a:ext cx="104775" cy="114300"/>
          </a:xfrm>
          <a:prstGeom prst="rect">
            <a:avLst/>
          </a:prstGeom>
          <a:noFill/>
          <a:ln>
            <a:noFill/>
          </a:ln>
        </p:spPr>
      </p:pic>
      <p:sp>
        <p:nvSpPr>
          <p:cNvPr id="286" name="Google Shape;286;p19"/>
          <p:cNvSpPr txBox="1"/>
          <p:nvPr/>
        </p:nvSpPr>
        <p:spPr>
          <a:xfrm>
            <a:off x="5988546" y="2091630"/>
            <a:ext cx="5653362" cy="266700"/>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1650" u="none" cap="none" strike="noStrike">
                <a:solidFill>
                  <a:srgbClr val="10B981"/>
                </a:solidFill>
                <a:latin typeface="Plus Jakarta Sans"/>
                <a:ea typeface="Plus Jakarta Sans"/>
                <a:cs typeface="Plus Jakarta Sans"/>
                <a:sym typeface="Plus Jakarta Sans"/>
              </a:rPr>
              <a:t>Conversational Agent (NLIDB)</a:t>
            </a:r>
            <a:endParaRPr/>
          </a:p>
        </p:txBody>
      </p:sp>
      <p:sp>
        <p:nvSpPr>
          <p:cNvPr id="287" name="Google Shape;287;p19"/>
          <p:cNvSpPr txBox="1"/>
          <p:nvPr/>
        </p:nvSpPr>
        <p:spPr>
          <a:xfrm>
            <a:off x="5988546" y="2453580"/>
            <a:ext cx="5384155" cy="4000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D1D5DB"/>
                </a:solidFill>
                <a:latin typeface="Inter"/>
                <a:ea typeface="Inter"/>
                <a:cs typeface="Inter"/>
                <a:sym typeface="Inter"/>
              </a:rPr>
              <a:t>Built upon an advanced </a:t>
            </a:r>
            <a:r>
              <a:rPr b="1" i="0" lang="en-US" sz="1050" u="none" cap="none" strike="noStrike">
                <a:solidFill>
                  <a:srgbClr val="D1D5DB"/>
                </a:solidFill>
                <a:latin typeface="Inter"/>
                <a:ea typeface="Inter"/>
                <a:cs typeface="Inter"/>
                <a:sym typeface="Inter"/>
              </a:rPr>
              <a:t>Retrieval-Augmented Generation (RAG)</a:t>
            </a:r>
            <a:r>
              <a:rPr b="0" i="0" lang="en-US" sz="1050" u="none" cap="none" strike="noStrike">
                <a:solidFill>
                  <a:srgbClr val="D1D5DB"/>
                </a:solidFill>
                <a:latin typeface="Inter"/>
                <a:ea typeface="Inter"/>
                <a:cs typeface="Inter"/>
                <a:sym typeface="Inter"/>
              </a:rPr>
              <a:t> framework to map simple natural language prompts directly to backend database systems.</a:t>
            </a:r>
            <a:endParaRPr/>
          </a:p>
        </p:txBody>
      </p:sp>
      <p:sp>
        <p:nvSpPr>
          <p:cNvPr id="288" name="Google Shape;288;p19"/>
          <p:cNvSpPr txBox="1"/>
          <p:nvPr/>
        </p:nvSpPr>
        <p:spPr>
          <a:xfrm>
            <a:off x="819150" y="2091630"/>
            <a:ext cx="4627765" cy="266700"/>
          </a:xfrm>
          <a:prstGeom prst="rect">
            <a:avLst/>
          </a:prstGeom>
          <a:noFill/>
          <a:ln>
            <a:noFill/>
          </a:ln>
        </p:spPr>
        <p:txBody>
          <a:bodyPr anchorCtr="0" anchor="t" bIns="0" lIns="238125" spcFirstLastPara="1" rIns="0" wrap="square" tIns="0">
            <a:spAutoFit/>
          </a:bodyPr>
          <a:lstStyle/>
          <a:p>
            <a:pPr indent="0" lvl="0" marL="0" marR="0" rtl="0" algn="l">
              <a:spcBef>
                <a:spcPts val="0"/>
              </a:spcBef>
              <a:spcAft>
                <a:spcPts val="0"/>
              </a:spcAft>
              <a:buNone/>
            </a:pPr>
            <a:r>
              <a:rPr b="1" i="0" lang="en-US" sz="1650" u="none" cap="none" strike="noStrike">
                <a:solidFill>
                  <a:srgbClr val="38BDF8"/>
                </a:solidFill>
                <a:latin typeface="Plus Jakarta Sans"/>
                <a:ea typeface="Plus Jakarta Sans"/>
                <a:cs typeface="Plus Jakarta Sans"/>
                <a:sym typeface="Plus Jakarta Sans"/>
              </a:rPr>
              <a:t>Predictive Engine</a:t>
            </a:r>
            <a:endParaRPr/>
          </a:p>
        </p:txBody>
      </p:sp>
      <p:pic>
        <p:nvPicPr>
          <p:cNvPr descr="image.png" id="289" name="Google Shape;289;p19"/>
          <p:cNvPicPr preferRelativeResize="0"/>
          <p:nvPr/>
        </p:nvPicPr>
        <p:blipFill rotWithShape="1">
          <a:blip r:embed="rId16">
            <a:alphaModFix/>
          </a:blip>
          <a:srcRect b="0" l="0" r="0" t="0"/>
          <a:stretch/>
        </p:blipFill>
        <p:spPr>
          <a:xfrm>
            <a:off x="5988546" y="2129730"/>
            <a:ext cx="266700" cy="209550"/>
          </a:xfrm>
          <a:prstGeom prst="rect">
            <a:avLst/>
          </a:prstGeom>
          <a:noFill/>
          <a:ln>
            <a:noFill/>
          </a:ln>
        </p:spPr>
      </p:pic>
      <p:pic>
        <p:nvPicPr>
          <p:cNvPr descr="image.png" id="290" name="Google Shape;290;p19"/>
          <p:cNvPicPr preferRelativeResize="0"/>
          <p:nvPr/>
        </p:nvPicPr>
        <p:blipFill rotWithShape="1">
          <a:blip r:embed="rId17">
            <a:alphaModFix/>
          </a:blip>
          <a:srcRect b="0" l="0" r="0" t="0"/>
          <a:stretch/>
        </p:blipFill>
        <p:spPr>
          <a:xfrm>
            <a:off x="819150" y="2129730"/>
            <a:ext cx="238125" cy="209550"/>
          </a:xfrm>
          <a:prstGeom prst="rect">
            <a:avLst/>
          </a:prstGeom>
          <a:noFill/>
          <a:ln>
            <a:noFill/>
          </a:ln>
        </p:spPr>
      </p:pic>
      <p:sp>
        <p:nvSpPr>
          <p:cNvPr id="291" name="Google Shape;291;p19"/>
          <p:cNvSpPr txBox="1"/>
          <p:nvPr/>
        </p:nvSpPr>
        <p:spPr>
          <a:xfrm>
            <a:off x="1104900" y="2472630"/>
            <a:ext cx="4121646"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Goal:</a:t>
            </a:r>
            <a:r>
              <a:rPr b="0" i="0" lang="en-US" sz="1125" u="none" cap="none" strike="noStrike">
                <a:solidFill>
                  <a:srgbClr val="E5E7EB"/>
                </a:solidFill>
                <a:latin typeface="Inter"/>
                <a:ea typeface="Inter"/>
                <a:cs typeface="Inter"/>
                <a:sym typeface="Inter"/>
              </a:rPr>
              <a:t> Mathematically calculate prospective candidate "Propensity to Join" probabilities.</a:t>
            </a:r>
            <a:endParaRPr/>
          </a:p>
        </p:txBody>
      </p:sp>
      <p:sp>
        <p:nvSpPr>
          <p:cNvPr id="292" name="Google Shape;292;p19"/>
          <p:cNvSpPr txBox="1"/>
          <p:nvPr/>
        </p:nvSpPr>
        <p:spPr>
          <a:xfrm>
            <a:off x="1104900" y="3044130"/>
            <a:ext cx="4121646" cy="642937"/>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Core Features:</a:t>
            </a:r>
            <a:r>
              <a:rPr b="0" i="0" lang="en-US" sz="1125" u="none" cap="none" strike="noStrike">
                <a:solidFill>
                  <a:srgbClr val="E5E7EB"/>
                </a:solidFill>
                <a:latin typeface="Inter"/>
                <a:ea typeface="Inter"/>
                <a:cs typeface="Inter"/>
                <a:sym typeface="Inter"/>
              </a:rPr>
              <a:t> Candidate login frequencies (Engagement), market salary differentials (Salary Gap), and automated Experience-Role fit index.</a:t>
            </a:r>
            <a:endParaRPr/>
          </a:p>
        </p:txBody>
      </p:sp>
      <p:sp>
        <p:nvSpPr>
          <p:cNvPr id="293" name="Google Shape;293;p19"/>
          <p:cNvSpPr txBox="1"/>
          <p:nvPr/>
        </p:nvSpPr>
        <p:spPr>
          <a:xfrm>
            <a:off x="1104900" y="3829942"/>
            <a:ext cx="4121646" cy="428625"/>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1" i="0" lang="en-US" sz="1125" u="none" cap="none" strike="noStrike">
                <a:solidFill>
                  <a:srgbClr val="E5E7EB"/>
                </a:solidFill>
                <a:latin typeface="Inter"/>
                <a:ea typeface="Inter"/>
                <a:cs typeface="Inter"/>
                <a:sym typeface="Inter"/>
              </a:rPr>
              <a:t>Target Algorithm:</a:t>
            </a:r>
            <a:r>
              <a:rPr b="0" i="0" lang="en-US" sz="1125" u="none" cap="none" strike="noStrike">
                <a:solidFill>
                  <a:srgbClr val="E5E7EB"/>
                </a:solidFill>
                <a:latin typeface="Inter"/>
                <a:ea typeface="Inter"/>
                <a:cs typeface="Inter"/>
                <a:sym typeface="Inter"/>
              </a:rPr>
              <a:t> Robust Random Forest / XGBoost ensemble models.</a:t>
            </a:r>
            <a:endParaRPr/>
          </a:p>
        </p:txBody>
      </p:sp>
      <p:sp>
        <p:nvSpPr>
          <p:cNvPr id="294" name="Google Shape;294;p19"/>
          <p:cNvSpPr txBox="1"/>
          <p:nvPr/>
        </p:nvSpPr>
        <p:spPr>
          <a:xfrm>
            <a:off x="6455271" y="3129855"/>
            <a:ext cx="47434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F3F4F6"/>
                </a:solidFill>
                <a:latin typeface="Inter"/>
                <a:ea typeface="Inter"/>
                <a:cs typeface="Inter"/>
                <a:sym typeface="Inter"/>
              </a:rPr>
              <a:t>Natural Language:</a:t>
            </a:r>
            <a:r>
              <a:rPr b="0" i="0" lang="en-US" sz="975" u="none" cap="none" strike="noStrike">
                <a:solidFill>
                  <a:srgbClr val="F3F4F6"/>
                </a:solidFill>
                <a:latin typeface="Inter"/>
                <a:ea typeface="Inter"/>
                <a:cs typeface="Inter"/>
                <a:sym typeface="Inter"/>
              </a:rPr>
              <a:t> Recruiter asks, "Who are top candidates with salary &lt; $90k?"</a:t>
            </a:r>
            <a:endParaRPr/>
          </a:p>
        </p:txBody>
      </p:sp>
      <p:sp>
        <p:nvSpPr>
          <p:cNvPr id="295" name="Google Shape;295;p19"/>
          <p:cNvSpPr txBox="1"/>
          <p:nvPr/>
        </p:nvSpPr>
        <p:spPr>
          <a:xfrm>
            <a:off x="6455271" y="3644205"/>
            <a:ext cx="32575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F3F4F6"/>
                </a:solidFill>
                <a:latin typeface="Inter"/>
                <a:ea typeface="Inter"/>
                <a:cs typeface="Inter"/>
                <a:sym typeface="Inter"/>
              </a:rPr>
              <a:t>LLM Parsing:</a:t>
            </a:r>
            <a:r>
              <a:rPr b="0" i="0" lang="en-US" sz="975" u="none" cap="none" strike="noStrike">
                <a:solidFill>
                  <a:srgbClr val="F3F4F6"/>
                </a:solidFill>
                <a:latin typeface="Inter"/>
                <a:ea typeface="Inter"/>
                <a:cs typeface="Inter"/>
                <a:sym typeface="Inter"/>
              </a:rPr>
              <a:t> System parses entity intent and structure.</a:t>
            </a:r>
            <a:endParaRPr/>
          </a:p>
        </p:txBody>
      </p:sp>
      <p:sp>
        <p:nvSpPr>
          <p:cNvPr id="296" name="Google Shape;296;p19"/>
          <p:cNvSpPr txBox="1"/>
          <p:nvPr/>
        </p:nvSpPr>
        <p:spPr>
          <a:xfrm>
            <a:off x="6455271" y="4158555"/>
            <a:ext cx="34766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F3F4F6"/>
                </a:solidFill>
                <a:latin typeface="Inter"/>
                <a:ea typeface="Inter"/>
                <a:cs typeface="Inter"/>
                <a:sym typeface="Inter"/>
              </a:rPr>
              <a:t>SQL Generation:</a:t>
            </a:r>
            <a:r>
              <a:rPr b="0" i="0" lang="en-US" sz="975" u="none" cap="none" strike="noStrike">
                <a:solidFill>
                  <a:srgbClr val="F3F4F6"/>
                </a:solidFill>
                <a:latin typeface="Inter"/>
                <a:ea typeface="Inter"/>
                <a:cs typeface="Inter"/>
                <a:sym typeface="Inter"/>
              </a:rPr>
              <a:t> Conversational Agent writes target query.</a:t>
            </a:r>
            <a:endParaRPr/>
          </a:p>
        </p:txBody>
      </p:sp>
      <p:sp>
        <p:nvSpPr>
          <p:cNvPr id="297" name="Google Shape;297;p19"/>
          <p:cNvSpPr txBox="1"/>
          <p:nvPr/>
        </p:nvSpPr>
        <p:spPr>
          <a:xfrm>
            <a:off x="6455271" y="4672905"/>
            <a:ext cx="40576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F3F4F6"/>
                </a:solidFill>
                <a:latin typeface="Inter"/>
                <a:ea typeface="Inter"/>
                <a:cs typeface="Inter"/>
                <a:sym typeface="Inter"/>
              </a:rPr>
              <a:t>Execution:</a:t>
            </a:r>
            <a:r>
              <a:rPr b="0" i="0" lang="en-US" sz="975" u="none" cap="none" strike="noStrike">
                <a:solidFill>
                  <a:srgbClr val="F3F4F6"/>
                </a:solidFill>
                <a:latin typeface="Inter"/>
                <a:ea typeface="Inter"/>
                <a:cs typeface="Inter"/>
                <a:sym typeface="Inter"/>
              </a:rPr>
              <a:t> Query runs against Azure DB; yields precise text answer.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image.png" id="302" name="Google Shape;302;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3" name="Google Shape;303;p20"/>
          <p:cNvPicPr preferRelativeResize="0"/>
          <p:nvPr/>
        </p:nvPicPr>
        <p:blipFill rotWithShape="1">
          <a:blip r:embed="rId4">
            <a:alphaModFix/>
          </a:blip>
          <a:srcRect b="0" l="0" r="0" t="0"/>
          <a:stretch/>
        </p:blipFill>
        <p:spPr>
          <a:xfrm>
            <a:off x="581025" y="2454771"/>
            <a:ext cx="2614612" cy="2140743"/>
          </a:xfrm>
          <a:prstGeom prst="rect">
            <a:avLst/>
          </a:prstGeom>
          <a:noFill/>
          <a:ln>
            <a:noFill/>
          </a:ln>
        </p:spPr>
      </p:pic>
      <p:pic>
        <p:nvPicPr>
          <p:cNvPr descr="image.png" id="304" name="Google Shape;304;p20"/>
          <p:cNvPicPr preferRelativeResize="0"/>
          <p:nvPr/>
        </p:nvPicPr>
        <p:blipFill rotWithShape="1">
          <a:blip r:embed="rId4">
            <a:alphaModFix/>
          </a:blip>
          <a:srcRect b="0" l="0" r="0" t="0"/>
          <a:stretch/>
        </p:blipFill>
        <p:spPr>
          <a:xfrm>
            <a:off x="3386137" y="2454771"/>
            <a:ext cx="2614612" cy="2140743"/>
          </a:xfrm>
          <a:prstGeom prst="rect">
            <a:avLst/>
          </a:prstGeom>
          <a:noFill/>
          <a:ln>
            <a:noFill/>
          </a:ln>
        </p:spPr>
      </p:pic>
      <p:pic>
        <p:nvPicPr>
          <p:cNvPr descr="image.png" id="305" name="Google Shape;305;p20"/>
          <p:cNvPicPr preferRelativeResize="0"/>
          <p:nvPr/>
        </p:nvPicPr>
        <p:blipFill rotWithShape="1">
          <a:blip r:embed="rId4">
            <a:alphaModFix/>
          </a:blip>
          <a:srcRect b="0" l="0" r="0" t="0"/>
          <a:stretch/>
        </p:blipFill>
        <p:spPr>
          <a:xfrm>
            <a:off x="6191250" y="2454771"/>
            <a:ext cx="2614612" cy="2140743"/>
          </a:xfrm>
          <a:prstGeom prst="rect">
            <a:avLst/>
          </a:prstGeom>
          <a:noFill/>
          <a:ln>
            <a:noFill/>
          </a:ln>
        </p:spPr>
      </p:pic>
      <p:pic>
        <p:nvPicPr>
          <p:cNvPr descr="image.png" id="306" name="Google Shape;306;p20"/>
          <p:cNvPicPr preferRelativeResize="0"/>
          <p:nvPr/>
        </p:nvPicPr>
        <p:blipFill rotWithShape="1">
          <a:blip r:embed="rId5">
            <a:alphaModFix/>
          </a:blip>
          <a:srcRect b="0" l="0" r="0" t="0"/>
          <a:stretch/>
        </p:blipFill>
        <p:spPr>
          <a:xfrm>
            <a:off x="8996362" y="2454771"/>
            <a:ext cx="2614612" cy="2140743"/>
          </a:xfrm>
          <a:prstGeom prst="rect">
            <a:avLst/>
          </a:prstGeom>
          <a:noFill/>
          <a:ln>
            <a:noFill/>
          </a:ln>
        </p:spPr>
      </p:pic>
      <p:sp>
        <p:nvSpPr>
          <p:cNvPr id="307" name="Google Shape;307;p20"/>
          <p:cNvSpPr txBox="1"/>
          <p:nvPr/>
        </p:nvSpPr>
        <p:spPr>
          <a:xfrm>
            <a:off x="8610600" y="247650"/>
            <a:ext cx="30003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PORTAL ENVIRONMENTS</a:t>
            </a:r>
            <a:endParaRPr/>
          </a:p>
        </p:txBody>
      </p:sp>
      <p:sp>
        <p:nvSpPr>
          <p:cNvPr id="308" name="Google Shape;308;p20"/>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Role-Based </a:t>
            </a:r>
            <a:r>
              <a:rPr b="1" i="0" lang="en-US" sz="2550" u="none" cap="none" strike="noStrike">
                <a:solidFill>
                  <a:srgbClr val="38BDF8"/>
                </a:solidFill>
                <a:latin typeface="Plus Jakarta Sans"/>
                <a:ea typeface="Plus Jakarta Sans"/>
                <a:cs typeface="Plus Jakarta Sans"/>
                <a:sym typeface="Plus Jakarta Sans"/>
              </a:rPr>
              <a:t>Product Ecosystem</a:t>
            </a:r>
            <a:endParaRPr/>
          </a:p>
        </p:txBody>
      </p:sp>
      <p:sp>
        <p:nvSpPr>
          <p:cNvPr id="309" name="Google Shape;309;p20"/>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10" name="Google Shape;310;p20"/>
          <p:cNvPicPr preferRelativeResize="0"/>
          <p:nvPr/>
        </p:nvPicPr>
        <p:blipFill rotWithShape="1">
          <a:blip r:embed="rId6">
            <a:alphaModFix/>
          </a:blip>
          <a:srcRect b="0" l="0" r="0" t="0"/>
          <a:stretch/>
        </p:blipFill>
        <p:spPr>
          <a:xfrm>
            <a:off x="723900" y="6183659"/>
            <a:ext cx="104775" cy="114300"/>
          </a:xfrm>
          <a:prstGeom prst="rect">
            <a:avLst/>
          </a:prstGeom>
          <a:noFill/>
          <a:ln>
            <a:noFill/>
          </a:ln>
        </p:spPr>
      </p:pic>
      <p:sp>
        <p:nvSpPr>
          <p:cNvPr id="311" name="Google Shape;311;p20"/>
          <p:cNvSpPr txBox="1"/>
          <p:nvPr/>
        </p:nvSpPr>
        <p:spPr>
          <a:xfrm>
            <a:off x="923925" y="6164609"/>
            <a:ext cx="10077450" cy="15999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900" u="none" cap="none" strike="noStrike">
                <a:solidFill>
                  <a:srgbClr val="9CA3AF"/>
                </a:solidFill>
                <a:latin typeface="Inter"/>
                <a:ea typeface="Inter"/>
                <a:cs typeface="Inter"/>
                <a:sym typeface="Inter"/>
              </a:rPr>
              <a:t>Presenter Notes:</a:t>
            </a:r>
            <a:r>
              <a:rPr b="0" i="0" lang="en-US" sz="900" u="none" cap="none" strike="noStrike">
                <a:solidFill>
                  <a:srgbClr val="9CA3AF"/>
                </a:solidFill>
                <a:latin typeface="Inter"/>
                <a:ea typeface="Inter"/>
                <a:cs typeface="Inter"/>
                <a:sym typeface="Inter"/>
              </a:rPr>
              <a:t> "The system is a complete ecosystem. It captures the full lifecycle of a candidate, from the first login to the final interview feedback, ensuring data integrity at every step."</a:t>
            </a:r>
            <a:endParaRPr/>
          </a:p>
        </p:txBody>
      </p:sp>
      <p:pic>
        <p:nvPicPr>
          <p:cNvPr descr="image.png" id="312" name="Google Shape;312;p20"/>
          <p:cNvPicPr preferRelativeResize="0"/>
          <p:nvPr/>
        </p:nvPicPr>
        <p:blipFill rotWithShape="1">
          <a:blip r:embed="rId7">
            <a:alphaModFix/>
          </a:blip>
          <a:srcRect b="0" l="0" r="0" t="0"/>
          <a:stretch/>
        </p:blipFill>
        <p:spPr>
          <a:xfrm>
            <a:off x="1626393" y="2673846"/>
            <a:ext cx="523875" cy="523875"/>
          </a:xfrm>
          <a:prstGeom prst="rect">
            <a:avLst/>
          </a:prstGeom>
          <a:noFill/>
          <a:ln>
            <a:noFill/>
          </a:ln>
        </p:spPr>
      </p:pic>
      <p:sp>
        <p:nvSpPr>
          <p:cNvPr id="313" name="Google Shape;313;p20"/>
          <p:cNvSpPr txBox="1"/>
          <p:nvPr/>
        </p:nvSpPr>
        <p:spPr>
          <a:xfrm>
            <a:off x="1198245" y="3359646"/>
            <a:ext cx="1380172"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75" u="none" cap="none" strike="noStrike">
                <a:solidFill>
                  <a:srgbClr val="FFFFFF"/>
                </a:solidFill>
                <a:latin typeface="Plus Jakarta Sans"/>
                <a:ea typeface="Plus Jakarta Sans"/>
                <a:cs typeface="Plus Jakarta Sans"/>
                <a:sym typeface="Plus Jakarta Sans"/>
              </a:rPr>
              <a:t>Candidate Portal</a:t>
            </a:r>
            <a:endParaRPr/>
          </a:p>
        </p:txBody>
      </p:sp>
      <p:sp>
        <p:nvSpPr>
          <p:cNvPr id="314" name="Google Shape;314;p20"/>
          <p:cNvSpPr txBox="1"/>
          <p:nvPr/>
        </p:nvSpPr>
        <p:spPr>
          <a:xfrm>
            <a:off x="800100" y="3683496"/>
            <a:ext cx="2176462" cy="692943"/>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975" u="none" cap="none" strike="noStrike">
                <a:solidFill>
                  <a:srgbClr val="9CA3AF"/>
                </a:solidFill>
                <a:latin typeface="Inter"/>
                <a:ea typeface="Inter"/>
                <a:cs typeface="Inter"/>
                <a:sym typeface="Inter"/>
              </a:rPr>
              <a:t>Enables secure user registration, automated resume management, and interactive behavioral telemetry logging.</a:t>
            </a:r>
            <a:endParaRPr/>
          </a:p>
        </p:txBody>
      </p:sp>
      <p:pic>
        <p:nvPicPr>
          <p:cNvPr descr="image.png" id="315" name="Google Shape;315;p20"/>
          <p:cNvPicPr preferRelativeResize="0"/>
          <p:nvPr/>
        </p:nvPicPr>
        <p:blipFill rotWithShape="1">
          <a:blip r:embed="rId8">
            <a:alphaModFix/>
          </a:blip>
          <a:srcRect b="0" l="0" r="0" t="0"/>
          <a:stretch/>
        </p:blipFill>
        <p:spPr>
          <a:xfrm>
            <a:off x="4431506" y="2673846"/>
            <a:ext cx="523875" cy="523875"/>
          </a:xfrm>
          <a:prstGeom prst="rect">
            <a:avLst/>
          </a:prstGeom>
          <a:noFill/>
          <a:ln>
            <a:noFill/>
          </a:ln>
        </p:spPr>
      </p:pic>
      <p:sp>
        <p:nvSpPr>
          <p:cNvPr id="316" name="Google Shape;316;p20"/>
          <p:cNvSpPr txBox="1"/>
          <p:nvPr/>
        </p:nvSpPr>
        <p:spPr>
          <a:xfrm>
            <a:off x="3968353" y="3359646"/>
            <a:ext cx="1450181"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75" u="none" cap="none" strike="noStrike">
                <a:solidFill>
                  <a:srgbClr val="FFFFFF"/>
                </a:solidFill>
                <a:latin typeface="Plus Jakarta Sans"/>
                <a:ea typeface="Plus Jakarta Sans"/>
                <a:cs typeface="Plus Jakarta Sans"/>
                <a:sym typeface="Plus Jakarta Sans"/>
              </a:rPr>
              <a:t>Interviewer Portal</a:t>
            </a:r>
            <a:endParaRPr/>
          </a:p>
        </p:txBody>
      </p:sp>
      <p:sp>
        <p:nvSpPr>
          <p:cNvPr id="317" name="Google Shape;317;p20"/>
          <p:cNvSpPr txBox="1"/>
          <p:nvPr/>
        </p:nvSpPr>
        <p:spPr>
          <a:xfrm>
            <a:off x="3605212" y="3683496"/>
            <a:ext cx="2176462" cy="519707"/>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975" u="none" cap="none" strike="noStrike">
                <a:solidFill>
                  <a:srgbClr val="9CA3AF"/>
                </a:solidFill>
                <a:latin typeface="Inter"/>
                <a:ea typeface="Inter"/>
                <a:cs typeface="Inter"/>
                <a:sym typeface="Inter"/>
              </a:rPr>
              <a:t>Features dynamic interview schedule management and an structured rating template loop.</a:t>
            </a:r>
            <a:endParaRPr/>
          </a:p>
        </p:txBody>
      </p:sp>
      <p:pic>
        <p:nvPicPr>
          <p:cNvPr descr="image.png" id="318" name="Google Shape;318;p20"/>
          <p:cNvPicPr preferRelativeResize="0"/>
          <p:nvPr/>
        </p:nvPicPr>
        <p:blipFill rotWithShape="1">
          <a:blip r:embed="rId9">
            <a:alphaModFix/>
          </a:blip>
          <a:srcRect b="0" l="0" r="0" t="0"/>
          <a:stretch/>
        </p:blipFill>
        <p:spPr>
          <a:xfrm>
            <a:off x="7236618" y="2673846"/>
            <a:ext cx="523875" cy="523875"/>
          </a:xfrm>
          <a:prstGeom prst="rect">
            <a:avLst/>
          </a:prstGeom>
          <a:noFill/>
          <a:ln>
            <a:noFill/>
          </a:ln>
        </p:spPr>
      </p:pic>
      <p:sp>
        <p:nvSpPr>
          <p:cNvPr id="319" name="Google Shape;319;p20"/>
          <p:cNvSpPr txBox="1"/>
          <p:nvPr/>
        </p:nvSpPr>
        <p:spPr>
          <a:xfrm>
            <a:off x="6908482" y="3359646"/>
            <a:ext cx="1180147"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75" u="none" cap="none" strike="noStrike">
                <a:solidFill>
                  <a:srgbClr val="FFFFFF"/>
                </a:solidFill>
                <a:latin typeface="Plus Jakarta Sans"/>
                <a:ea typeface="Plus Jakarta Sans"/>
                <a:cs typeface="Plus Jakarta Sans"/>
                <a:sym typeface="Plus Jakarta Sans"/>
              </a:rPr>
              <a:t>Admin Control</a:t>
            </a:r>
            <a:endParaRPr/>
          </a:p>
        </p:txBody>
      </p:sp>
      <p:sp>
        <p:nvSpPr>
          <p:cNvPr id="320" name="Google Shape;320;p20"/>
          <p:cNvSpPr txBox="1"/>
          <p:nvPr/>
        </p:nvSpPr>
        <p:spPr>
          <a:xfrm>
            <a:off x="6410325" y="3683496"/>
            <a:ext cx="2176462" cy="519707"/>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975" u="none" cap="none" strike="noStrike">
                <a:solidFill>
                  <a:srgbClr val="9CA3AF"/>
                </a:solidFill>
                <a:latin typeface="Inter"/>
                <a:ea typeface="Inter"/>
                <a:cs typeface="Inter"/>
                <a:sym typeface="Inter"/>
              </a:rPr>
              <a:t>Coordinates interview lifecycles and provides an elegant overall execution monitoring screen.</a:t>
            </a:r>
            <a:endParaRPr/>
          </a:p>
        </p:txBody>
      </p:sp>
      <p:pic>
        <p:nvPicPr>
          <p:cNvPr descr="image.png" id="321" name="Google Shape;321;p20"/>
          <p:cNvPicPr preferRelativeResize="0"/>
          <p:nvPr/>
        </p:nvPicPr>
        <p:blipFill rotWithShape="1">
          <a:blip r:embed="rId10">
            <a:alphaModFix/>
          </a:blip>
          <a:srcRect b="0" l="0" r="0" t="0"/>
          <a:stretch/>
        </p:blipFill>
        <p:spPr>
          <a:xfrm>
            <a:off x="10041731" y="2673846"/>
            <a:ext cx="523875" cy="523875"/>
          </a:xfrm>
          <a:prstGeom prst="rect">
            <a:avLst/>
          </a:prstGeom>
          <a:noFill/>
          <a:ln>
            <a:noFill/>
          </a:ln>
        </p:spPr>
      </p:pic>
      <p:sp>
        <p:nvSpPr>
          <p:cNvPr id="322" name="Google Shape;322;p20"/>
          <p:cNvSpPr txBox="1"/>
          <p:nvPr/>
        </p:nvSpPr>
        <p:spPr>
          <a:xfrm>
            <a:off x="9798605" y="3359646"/>
            <a:ext cx="1010126"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75" u="none" cap="none" strike="noStrike">
                <a:solidFill>
                  <a:srgbClr val="FFFFFF"/>
                </a:solidFill>
                <a:latin typeface="Plus Jakarta Sans"/>
                <a:ea typeface="Plus Jakarta Sans"/>
                <a:cs typeface="Plus Jakarta Sans"/>
                <a:sym typeface="Plus Jakarta Sans"/>
              </a:rPr>
              <a:t>Governance</a:t>
            </a:r>
            <a:endParaRPr/>
          </a:p>
        </p:txBody>
      </p:sp>
      <p:sp>
        <p:nvSpPr>
          <p:cNvPr id="323" name="Google Shape;323;p20"/>
          <p:cNvSpPr txBox="1"/>
          <p:nvPr/>
        </p:nvSpPr>
        <p:spPr>
          <a:xfrm>
            <a:off x="9215437" y="3683496"/>
            <a:ext cx="2176462" cy="519707"/>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975" u="none" cap="none" strike="noStrike">
                <a:solidFill>
                  <a:srgbClr val="9CA3AF"/>
                </a:solidFill>
                <a:latin typeface="Inter"/>
                <a:ea typeface="Inter"/>
                <a:cs typeface="Inter"/>
                <a:sym typeface="Inter"/>
              </a:rPr>
              <a:t>Separates PII and enforces strict, programmatic RBAC rules to maintain complete GDPR alignment.</a:t>
            </a:r>
            <a:endParaRPr/>
          </a:p>
        </p:txBody>
      </p:sp>
      <p:pic>
        <p:nvPicPr>
          <p:cNvPr descr="image.png" id="324" name="Google Shape;324;p20"/>
          <p:cNvPicPr preferRelativeResize="0"/>
          <p:nvPr/>
        </p:nvPicPr>
        <p:blipFill rotWithShape="1">
          <a:blip r:embed="rId11">
            <a:alphaModFix/>
          </a:blip>
          <a:srcRect b="0" l="0" r="0" t="0"/>
          <a:stretch/>
        </p:blipFill>
        <p:spPr>
          <a:xfrm>
            <a:off x="1769268" y="2802433"/>
            <a:ext cx="238125" cy="266700"/>
          </a:xfrm>
          <a:prstGeom prst="rect">
            <a:avLst/>
          </a:prstGeom>
          <a:noFill/>
          <a:ln>
            <a:noFill/>
          </a:ln>
        </p:spPr>
      </p:pic>
      <p:pic>
        <p:nvPicPr>
          <p:cNvPr descr="image.png" id="325" name="Google Shape;325;p20"/>
          <p:cNvPicPr preferRelativeResize="0"/>
          <p:nvPr/>
        </p:nvPicPr>
        <p:blipFill rotWithShape="1">
          <a:blip r:embed="rId12">
            <a:alphaModFix/>
          </a:blip>
          <a:srcRect b="0" l="0" r="0" t="0"/>
          <a:stretch/>
        </p:blipFill>
        <p:spPr>
          <a:xfrm>
            <a:off x="4593431" y="2802433"/>
            <a:ext cx="200025" cy="266700"/>
          </a:xfrm>
          <a:prstGeom prst="rect">
            <a:avLst/>
          </a:prstGeom>
          <a:noFill/>
          <a:ln>
            <a:noFill/>
          </a:ln>
        </p:spPr>
      </p:pic>
      <p:pic>
        <p:nvPicPr>
          <p:cNvPr descr="image.png" id="326" name="Google Shape;326;p20"/>
          <p:cNvPicPr preferRelativeResize="0"/>
          <p:nvPr/>
        </p:nvPicPr>
        <p:blipFill rotWithShape="1">
          <a:blip r:embed="rId13">
            <a:alphaModFix/>
          </a:blip>
          <a:srcRect b="0" l="0" r="0" t="0"/>
          <a:stretch/>
        </p:blipFill>
        <p:spPr>
          <a:xfrm>
            <a:off x="7365206" y="2802433"/>
            <a:ext cx="266700" cy="266700"/>
          </a:xfrm>
          <a:prstGeom prst="rect">
            <a:avLst/>
          </a:prstGeom>
          <a:noFill/>
          <a:ln>
            <a:noFill/>
          </a:ln>
        </p:spPr>
      </p:pic>
      <p:pic>
        <p:nvPicPr>
          <p:cNvPr descr="image.png" id="327" name="Google Shape;327;p20"/>
          <p:cNvPicPr preferRelativeResize="0"/>
          <p:nvPr/>
        </p:nvPicPr>
        <p:blipFill rotWithShape="1">
          <a:blip r:embed="rId14">
            <a:alphaModFix/>
          </a:blip>
          <a:srcRect b="0" l="0" r="0" t="0"/>
          <a:stretch/>
        </p:blipFill>
        <p:spPr>
          <a:xfrm>
            <a:off x="10170318" y="2802433"/>
            <a:ext cx="266700" cy="266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descr="image.png" id="332" name="Google Shape;33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3" name="Google Shape;333;p21"/>
          <p:cNvPicPr preferRelativeResize="0"/>
          <p:nvPr/>
        </p:nvPicPr>
        <p:blipFill rotWithShape="1">
          <a:blip r:embed="rId4">
            <a:alphaModFix/>
          </a:blip>
          <a:srcRect b="0" l="0" r="0" t="0"/>
          <a:stretch/>
        </p:blipFill>
        <p:spPr>
          <a:xfrm>
            <a:off x="6727180" y="2457598"/>
            <a:ext cx="4883646" cy="1975246"/>
          </a:xfrm>
          <a:prstGeom prst="rect">
            <a:avLst/>
          </a:prstGeom>
          <a:noFill/>
          <a:ln>
            <a:noFill/>
          </a:ln>
        </p:spPr>
      </p:pic>
      <p:sp>
        <p:nvSpPr>
          <p:cNvPr id="334" name="Google Shape;334;p21"/>
          <p:cNvSpPr txBox="1"/>
          <p:nvPr/>
        </p:nvSpPr>
        <p:spPr>
          <a:xfrm>
            <a:off x="8524875" y="247650"/>
            <a:ext cx="30861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COMPLETED MILESTONES</a:t>
            </a:r>
            <a:endParaRPr/>
          </a:p>
        </p:txBody>
      </p:sp>
      <p:sp>
        <p:nvSpPr>
          <p:cNvPr id="335" name="Google Shape;335;p21"/>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Current Progress </a:t>
            </a:r>
            <a:r>
              <a:rPr b="1" i="0" lang="en-US" sz="2550" u="none" cap="none" strike="noStrike">
                <a:solidFill>
                  <a:srgbClr val="38BDF8"/>
                </a:solidFill>
                <a:latin typeface="Plus Jakarta Sans"/>
                <a:ea typeface="Plus Jakarta Sans"/>
                <a:cs typeface="Plus Jakarta Sans"/>
                <a:sym typeface="Plus Jakarta Sans"/>
              </a:rPr>
              <a:t>(Proof of Concept)</a:t>
            </a:r>
            <a:endParaRPr/>
          </a:p>
        </p:txBody>
      </p:sp>
      <p:sp>
        <p:nvSpPr>
          <p:cNvPr id="336" name="Google Shape;336;p21"/>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37" name="Google Shape;337;p21"/>
          <p:cNvPicPr preferRelativeResize="0"/>
          <p:nvPr/>
        </p:nvPicPr>
        <p:blipFill rotWithShape="1">
          <a:blip r:embed="rId5">
            <a:alphaModFix/>
          </a:blip>
          <a:srcRect b="0" l="0" r="0" t="0"/>
          <a:stretch/>
        </p:blipFill>
        <p:spPr>
          <a:xfrm>
            <a:off x="723900" y="6023669"/>
            <a:ext cx="104775" cy="114300"/>
          </a:xfrm>
          <a:prstGeom prst="rect">
            <a:avLst/>
          </a:prstGeom>
          <a:noFill/>
          <a:ln>
            <a:noFill/>
          </a:ln>
        </p:spPr>
      </p:pic>
      <p:sp>
        <p:nvSpPr>
          <p:cNvPr id="338" name="Google Shape;338;p21"/>
          <p:cNvSpPr/>
          <p:nvPr/>
        </p:nvSpPr>
        <p:spPr>
          <a:xfrm>
            <a:off x="581025" y="2064097"/>
            <a:ext cx="5860500" cy="409500"/>
          </a:xfrm>
          <a:prstGeom prst="roundRect">
            <a:avLst>
              <a:gd fmla="val 18604" name="adj"/>
            </a:avLst>
          </a:prstGeom>
          <a:solidFill>
            <a:srgbClr val="161E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21"/>
          <p:cNvSpPr txBox="1"/>
          <p:nvPr/>
        </p:nvSpPr>
        <p:spPr>
          <a:xfrm>
            <a:off x="1047750" y="2178397"/>
            <a:ext cx="524128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E5E7EB"/>
                </a:solidFill>
                <a:latin typeface="Inter"/>
                <a:ea typeface="Inter"/>
                <a:cs typeface="Inter"/>
                <a:sym typeface="Inter"/>
              </a:rPr>
              <a:t>Azure PostgreSQL production cloud infrastructure fully deployed.</a:t>
            </a:r>
            <a:endParaRPr/>
          </a:p>
        </p:txBody>
      </p:sp>
      <p:sp>
        <p:nvSpPr>
          <p:cNvPr id="340" name="Google Shape;340;p21"/>
          <p:cNvSpPr/>
          <p:nvPr/>
        </p:nvSpPr>
        <p:spPr>
          <a:xfrm>
            <a:off x="581025" y="2064097"/>
            <a:ext cx="38100" cy="4095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1"/>
          <p:cNvSpPr/>
          <p:nvPr/>
        </p:nvSpPr>
        <p:spPr>
          <a:xfrm>
            <a:off x="581025" y="2607022"/>
            <a:ext cx="5860405" cy="409575"/>
          </a:xfrm>
          <a:prstGeom prst="roundRect">
            <a:avLst>
              <a:gd fmla="val 18604" name="adj"/>
            </a:avLst>
          </a:prstGeom>
          <a:solidFill>
            <a:srgbClr val="161E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1"/>
          <p:cNvSpPr txBox="1"/>
          <p:nvPr/>
        </p:nvSpPr>
        <p:spPr>
          <a:xfrm>
            <a:off x="1047750" y="2721322"/>
            <a:ext cx="524128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E5E7EB"/>
                </a:solidFill>
                <a:latin typeface="Inter"/>
                <a:ea typeface="Inter"/>
                <a:cs typeface="Inter"/>
                <a:sym typeface="Inter"/>
              </a:rPr>
              <a:t>Normalized enterprise database schemas implemented successfully.</a:t>
            </a:r>
            <a:endParaRPr/>
          </a:p>
        </p:txBody>
      </p:sp>
      <p:sp>
        <p:nvSpPr>
          <p:cNvPr id="343" name="Google Shape;343;p21"/>
          <p:cNvSpPr/>
          <p:nvPr/>
        </p:nvSpPr>
        <p:spPr>
          <a:xfrm>
            <a:off x="581025" y="2607022"/>
            <a:ext cx="38100" cy="4095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1"/>
          <p:cNvSpPr/>
          <p:nvPr/>
        </p:nvSpPr>
        <p:spPr>
          <a:xfrm>
            <a:off x="581025" y="3149947"/>
            <a:ext cx="5860405" cy="409575"/>
          </a:xfrm>
          <a:prstGeom prst="roundRect">
            <a:avLst>
              <a:gd fmla="val 18604" name="adj"/>
            </a:avLst>
          </a:prstGeom>
          <a:solidFill>
            <a:srgbClr val="161E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21"/>
          <p:cNvSpPr txBox="1"/>
          <p:nvPr/>
        </p:nvSpPr>
        <p:spPr>
          <a:xfrm>
            <a:off x="1047750" y="3264247"/>
            <a:ext cx="524128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E5E7EB"/>
                </a:solidFill>
                <a:latin typeface="Inter"/>
                <a:ea typeface="Inter"/>
                <a:cs typeface="Inter"/>
                <a:sym typeface="Inter"/>
              </a:rPr>
              <a:t>Multi-tenant role-based portals (Candidate/Interviewer/Admin) are fully live.</a:t>
            </a:r>
            <a:endParaRPr/>
          </a:p>
        </p:txBody>
      </p:sp>
      <p:sp>
        <p:nvSpPr>
          <p:cNvPr id="346" name="Google Shape;346;p21"/>
          <p:cNvSpPr/>
          <p:nvPr/>
        </p:nvSpPr>
        <p:spPr>
          <a:xfrm>
            <a:off x="581025" y="3149947"/>
            <a:ext cx="38100" cy="4095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1"/>
          <p:cNvSpPr/>
          <p:nvPr/>
        </p:nvSpPr>
        <p:spPr>
          <a:xfrm>
            <a:off x="581025" y="3692872"/>
            <a:ext cx="5860405" cy="409575"/>
          </a:xfrm>
          <a:prstGeom prst="roundRect">
            <a:avLst>
              <a:gd fmla="val 18604" name="adj"/>
            </a:avLst>
          </a:prstGeom>
          <a:solidFill>
            <a:srgbClr val="161E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8" name="Google Shape;348;p21"/>
          <p:cNvSpPr txBox="1"/>
          <p:nvPr/>
        </p:nvSpPr>
        <p:spPr>
          <a:xfrm>
            <a:off x="1047750" y="3807172"/>
            <a:ext cx="524128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E5E7EB"/>
                </a:solidFill>
                <a:latin typeface="Inter"/>
                <a:ea typeface="Inter"/>
                <a:cs typeface="Inter"/>
                <a:sym typeface="Inter"/>
              </a:rPr>
              <a:t>Synthetic production-grade pipeline data loaded (600+ records seeded).</a:t>
            </a:r>
            <a:endParaRPr/>
          </a:p>
        </p:txBody>
      </p:sp>
      <p:sp>
        <p:nvSpPr>
          <p:cNvPr id="349" name="Google Shape;349;p21"/>
          <p:cNvSpPr/>
          <p:nvPr/>
        </p:nvSpPr>
        <p:spPr>
          <a:xfrm>
            <a:off x="581025" y="3692872"/>
            <a:ext cx="38100" cy="409575"/>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21"/>
          <p:cNvSpPr/>
          <p:nvPr/>
        </p:nvSpPr>
        <p:spPr>
          <a:xfrm>
            <a:off x="581025" y="4235797"/>
            <a:ext cx="5860405" cy="590550"/>
          </a:xfrm>
          <a:prstGeom prst="roundRect">
            <a:avLst>
              <a:gd fmla="val 12903" name="adj"/>
            </a:avLst>
          </a:prstGeom>
          <a:solidFill>
            <a:srgbClr val="161E3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21"/>
          <p:cNvSpPr txBox="1"/>
          <p:nvPr/>
        </p:nvSpPr>
        <p:spPr>
          <a:xfrm>
            <a:off x="1047750" y="4350097"/>
            <a:ext cx="5241280" cy="3619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E5E7EB"/>
                </a:solidFill>
                <a:latin typeface="Inter"/>
                <a:ea typeface="Inter"/>
                <a:cs typeface="Inter"/>
                <a:sym typeface="Inter"/>
              </a:rPr>
              <a:t>Prefect Cloud cloud coordination active; Bronze layer ingestion fully validated.</a:t>
            </a:r>
            <a:endParaRPr/>
          </a:p>
        </p:txBody>
      </p:sp>
      <p:sp>
        <p:nvSpPr>
          <p:cNvPr id="352" name="Google Shape;352;p21"/>
          <p:cNvSpPr/>
          <p:nvPr/>
        </p:nvSpPr>
        <p:spPr>
          <a:xfrm>
            <a:off x="581025" y="4235797"/>
            <a:ext cx="38100" cy="59055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21"/>
          <p:cNvSpPr txBox="1"/>
          <p:nvPr/>
        </p:nvSpPr>
        <p:spPr>
          <a:xfrm>
            <a:off x="7022455" y="2752873"/>
            <a:ext cx="4293096" cy="609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4800" u="none" cap="none" strike="noStrike">
                <a:solidFill>
                  <a:srgbClr val="10B981"/>
                </a:solidFill>
                <a:latin typeface="Plus Jakarta Sans ExtraBold"/>
                <a:ea typeface="Plus Jakarta Sans ExtraBold"/>
                <a:cs typeface="Plus Jakarta Sans ExtraBold"/>
                <a:sym typeface="Plus Jakarta Sans ExtraBold"/>
              </a:rPr>
              <a:t>600+</a:t>
            </a:r>
            <a:endParaRPr/>
          </a:p>
        </p:txBody>
      </p:sp>
      <p:sp>
        <p:nvSpPr>
          <p:cNvPr id="354" name="Google Shape;354;p21"/>
          <p:cNvSpPr txBox="1"/>
          <p:nvPr/>
        </p:nvSpPr>
        <p:spPr>
          <a:xfrm>
            <a:off x="7022455" y="3457723"/>
            <a:ext cx="4293096"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FFFFFF"/>
                </a:solidFill>
                <a:latin typeface="Inter SemiBold"/>
                <a:ea typeface="Inter SemiBold"/>
                <a:cs typeface="Inter SemiBold"/>
                <a:sym typeface="Inter SemiBold"/>
              </a:rPr>
              <a:t>Active Simulated Candidate Records</a:t>
            </a:r>
            <a:endParaRPr/>
          </a:p>
        </p:txBody>
      </p:sp>
      <p:sp>
        <p:nvSpPr>
          <p:cNvPr id="355" name="Google Shape;355;p21"/>
          <p:cNvSpPr txBox="1"/>
          <p:nvPr/>
        </p:nvSpPr>
        <p:spPr>
          <a:xfrm>
            <a:off x="7022455" y="3791098"/>
            <a:ext cx="4293096" cy="346471"/>
          </a:xfrm>
          <a:prstGeom prst="rect">
            <a:avLst/>
          </a:prstGeom>
          <a:noFill/>
          <a:ln>
            <a:noFill/>
          </a:ln>
        </p:spPr>
        <p:txBody>
          <a:bodyPr anchorCtr="0" anchor="t" bIns="0" lIns="0" spcFirstLastPara="1" rIns="0" wrap="square" tIns="0">
            <a:spAutoFit/>
          </a:bodyPr>
          <a:lstStyle/>
          <a:p>
            <a:pPr indent="0" lvl="0" marL="0" marR="0" rtl="0" algn="ctr">
              <a:lnSpc>
                <a:spcPct val="139897"/>
              </a:lnSpc>
              <a:spcBef>
                <a:spcPts val="0"/>
              </a:spcBef>
              <a:spcAft>
                <a:spcPts val="0"/>
              </a:spcAft>
              <a:buNone/>
            </a:pPr>
            <a:r>
              <a:rPr b="0" i="0" lang="en-US" sz="975" u="none" cap="none" strike="noStrike">
                <a:solidFill>
                  <a:srgbClr val="9CA3AF"/>
                </a:solidFill>
                <a:latin typeface="Inter"/>
                <a:ea typeface="Inter"/>
                <a:cs typeface="Inter"/>
                <a:sym typeface="Inter"/>
              </a:rPr>
              <a:t>Generating full behavioral history, schema logs, and interview feedback cycles in production database.</a:t>
            </a:r>
            <a:endParaRPr/>
          </a:p>
        </p:txBody>
      </p:sp>
      <p:pic>
        <p:nvPicPr>
          <p:cNvPr descr="image.png" id="356" name="Google Shape;356;p21"/>
          <p:cNvPicPr preferRelativeResize="0"/>
          <p:nvPr/>
        </p:nvPicPr>
        <p:blipFill rotWithShape="1">
          <a:blip r:embed="rId6">
            <a:alphaModFix/>
          </a:blip>
          <a:srcRect b="0" l="0" r="0" t="0"/>
          <a:stretch/>
        </p:blipFill>
        <p:spPr>
          <a:xfrm>
            <a:off x="771525" y="2178397"/>
            <a:ext cx="171450" cy="180975"/>
          </a:xfrm>
          <a:prstGeom prst="rect">
            <a:avLst/>
          </a:prstGeom>
          <a:noFill/>
          <a:ln>
            <a:noFill/>
          </a:ln>
        </p:spPr>
      </p:pic>
      <p:pic>
        <p:nvPicPr>
          <p:cNvPr descr="image.png" id="357" name="Google Shape;357;p21"/>
          <p:cNvPicPr preferRelativeResize="0"/>
          <p:nvPr/>
        </p:nvPicPr>
        <p:blipFill rotWithShape="1">
          <a:blip r:embed="rId6">
            <a:alphaModFix/>
          </a:blip>
          <a:srcRect b="0" l="0" r="0" t="0"/>
          <a:stretch/>
        </p:blipFill>
        <p:spPr>
          <a:xfrm>
            <a:off x="771525" y="2721322"/>
            <a:ext cx="171450" cy="180975"/>
          </a:xfrm>
          <a:prstGeom prst="rect">
            <a:avLst/>
          </a:prstGeom>
          <a:noFill/>
          <a:ln>
            <a:noFill/>
          </a:ln>
        </p:spPr>
      </p:pic>
      <p:pic>
        <p:nvPicPr>
          <p:cNvPr descr="image.png" id="358" name="Google Shape;358;p21"/>
          <p:cNvPicPr preferRelativeResize="0"/>
          <p:nvPr/>
        </p:nvPicPr>
        <p:blipFill rotWithShape="1">
          <a:blip r:embed="rId6">
            <a:alphaModFix/>
          </a:blip>
          <a:srcRect b="0" l="0" r="0" t="0"/>
          <a:stretch/>
        </p:blipFill>
        <p:spPr>
          <a:xfrm>
            <a:off x="771525" y="3264247"/>
            <a:ext cx="171450" cy="180975"/>
          </a:xfrm>
          <a:prstGeom prst="rect">
            <a:avLst/>
          </a:prstGeom>
          <a:noFill/>
          <a:ln>
            <a:noFill/>
          </a:ln>
        </p:spPr>
      </p:pic>
      <p:pic>
        <p:nvPicPr>
          <p:cNvPr descr="image.png" id="359" name="Google Shape;359;p21"/>
          <p:cNvPicPr preferRelativeResize="0"/>
          <p:nvPr/>
        </p:nvPicPr>
        <p:blipFill rotWithShape="1">
          <a:blip r:embed="rId6">
            <a:alphaModFix/>
          </a:blip>
          <a:srcRect b="0" l="0" r="0" t="0"/>
          <a:stretch/>
        </p:blipFill>
        <p:spPr>
          <a:xfrm>
            <a:off x="771525" y="3807172"/>
            <a:ext cx="171450" cy="180975"/>
          </a:xfrm>
          <a:prstGeom prst="rect">
            <a:avLst/>
          </a:prstGeom>
          <a:noFill/>
          <a:ln>
            <a:noFill/>
          </a:ln>
        </p:spPr>
      </p:pic>
      <p:pic>
        <p:nvPicPr>
          <p:cNvPr descr="image.png" id="360" name="Google Shape;360;p21"/>
          <p:cNvPicPr preferRelativeResize="0"/>
          <p:nvPr/>
        </p:nvPicPr>
        <p:blipFill rotWithShape="1">
          <a:blip r:embed="rId6">
            <a:alphaModFix/>
          </a:blip>
          <a:srcRect b="0" l="0" r="0" t="0"/>
          <a:stretch/>
        </p:blipFill>
        <p:spPr>
          <a:xfrm>
            <a:off x="771525" y="4440584"/>
            <a:ext cx="171450" cy="18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descr="image.png" id="365" name="Google Shape;36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6" name="Google Shape;366;p22"/>
          <p:cNvPicPr preferRelativeResize="0"/>
          <p:nvPr/>
        </p:nvPicPr>
        <p:blipFill rotWithShape="1">
          <a:blip r:embed="rId4">
            <a:alphaModFix/>
          </a:blip>
          <a:srcRect b="0" l="0" r="0" t="0"/>
          <a:stretch/>
        </p:blipFill>
        <p:spPr>
          <a:xfrm>
            <a:off x="1678781" y="2686942"/>
            <a:ext cx="419100" cy="419100"/>
          </a:xfrm>
          <a:prstGeom prst="rect">
            <a:avLst/>
          </a:prstGeom>
          <a:noFill/>
          <a:ln>
            <a:noFill/>
          </a:ln>
        </p:spPr>
      </p:pic>
      <p:pic>
        <p:nvPicPr>
          <p:cNvPr descr="image.png" id="367" name="Google Shape;367;p22"/>
          <p:cNvPicPr preferRelativeResize="0"/>
          <p:nvPr/>
        </p:nvPicPr>
        <p:blipFill rotWithShape="1">
          <a:blip r:embed="rId5">
            <a:alphaModFix/>
          </a:blip>
          <a:srcRect b="0" l="0" r="0" t="0"/>
          <a:stretch/>
        </p:blipFill>
        <p:spPr>
          <a:xfrm>
            <a:off x="581025" y="3248917"/>
            <a:ext cx="2614612" cy="1114425"/>
          </a:xfrm>
          <a:prstGeom prst="rect">
            <a:avLst/>
          </a:prstGeom>
          <a:noFill/>
          <a:ln>
            <a:noFill/>
          </a:ln>
        </p:spPr>
      </p:pic>
      <p:pic>
        <p:nvPicPr>
          <p:cNvPr descr="image.png" id="368" name="Google Shape;368;p22"/>
          <p:cNvPicPr preferRelativeResize="0"/>
          <p:nvPr/>
        </p:nvPicPr>
        <p:blipFill rotWithShape="1">
          <a:blip r:embed="rId6">
            <a:alphaModFix/>
          </a:blip>
          <a:srcRect b="0" l="0" r="0" t="0"/>
          <a:stretch/>
        </p:blipFill>
        <p:spPr>
          <a:xfrm>
            <a:off x="4483893" y="2686942"/>
            <a:ext cx="419100" cy="419100"/>
          </a:xfrm>
          <a:prstGeom prst="rect">
            <a:avLst/>
          </a:prstGeom>
          <a:noFill/>
          <a:ln>
            <a:noFill/>
          </a:ln>
        </p:spPr>
      </p:pic>
      <p:pic>
        <p:nvPicPr>
          <p:cNvPr descr="image.png" id="369" name="Google Shape;369;p22"/>
          <p:cNvPicPr preferRelativeResize="0"/>
          <p:nvPr/>
        </p:nvPicPr>
        <p:blipFill rotWithShape="1">
          <a:blip r:embed="rId7">
            <a:alphaModFix/>
          </a:blip>
          <a:srcRect b="0" l="0" r="0" t="0"/>
          <a:stretch/>
        </p:blipFill>
        <p:spPr>
          <a:xfrm>
            <a:off x="3386137" y="3248917"/>
            <a:ext cx="2614612" cy="942975"/>
          </a:xfrm>
          <a:prstGeom prst="rect">
            <a:avLst/>
          </a:prstGeom>
          <a:noFill/>
          <a:ln>
            <a:noFill/>
          </a:ln>
        </p:spPr>
      </p:pic>
      <p:pic>
        <p:nvPicPr>
          <p:cNvPr descr="image.png" id="370" name="Google Shape;370;p22"/>
          <p:cNvPicPr preferRelativeResize="0"/>
          <p:nvPr/>
        </p:nvPicPr>
        <p:blipFill rotWithShape="1">
          <a:blip r:embed="rId8">
            <a:alphaModFix/>
          </a:blip>
          <a:srcRect b="0" l="0" r="0" t="0"/>
          <a:stretch/>
        </p:blipFill>
        <p:spPr>
          <a:xfrm>
            <a:off x="7289006" y="2686942"/>
            <a:ext cx="419100" cy="419100"/>
          </a:xfrm>
          <a:prstGeom prst="rect">
            <a:avLst/>
          </a:prstGeom>
          <a:noFill/>
          <a:ln>
            <a:noFill/>
          </a:ln>
        </p:spPr>
      </p:pic>
      <p:pic>
        <p:nvPicPr>
          <p:cNvPr descr="image.png" id="371" name="Google Shape;371;p22"/>
          <p:cNvPicPr preferRelativeResize="0"/>
          <p:nvPr/>
        </p:nvPicPr>
        <p:blipFill rotWithShape="1">
          <a:blip r:embed="rId5">
            <a:alphaModFix/>
          </a:blip>
          <a:srcRect b="0" l="0" r="0" t="0"/>
          <a:stretch/>
        </p:blipFill>
        <p:spPr>
          <a:xfrm>
            <a:off x="6191250" y="3248917"/>
            <a:ext cx="2614612" cy="1114425"/>
          </a:xfrm>
          <a:prstGeom prst="rect">
            <a:avLst/>
          </a:prstGeom>
          <a:noFill/>
          <a:ln>
            <a:noFill/>
          </a:ln>
        </p:spPr>
      </p:pic>
      <p:pic>
        <p:nvPicPr>
          <p:cNvPr descr="image.png" id="372" name="Google Shape;372;p22"/>
          <p:cNvPicPr preferRelativeResize="0"/>
          <p:nvPr/>
        </p:nvPicPr>
        <p:blipFill rotWithShape="1">
          <a:blip r:embed="rId9">
            <a:alphaModFix/>
          </a:blip>
          <a:srcRect b="0" l="0" r="0" t="0"/>
          <a:stretch/>
        </p:blipFill>
        <p:spPr>
          <a:xfrm>
            <a:off x="8996362" y="3248917"/>
            <a:ext cx="2614612" cy="1114425"/>
          </a:xfrm>
          <a:prstGeom prst="rect">
            <a:avLst/>
          </a:prstGeom>
          <a:noFill/>
          <a:ln>
            <a:noFill/>
          </a:ln>
        </p:spPr>
      </p:pic>
      <p:sp>
        <p:nvSpPr>
          <p:cNvPr id="373" name="Google Shape;373;p22"/>
          <p:cNvSpPr txBox="1"/>
          <p:nvPr/>
        </p:nvSpPr>
        <p:spPr>
          <a:xfrm>
            <a:off x="8267700" y="247650"/>
            <a:ext cx="3343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TIMELINE &amp; FUTURE SCOPE</a:t>
            </a:r>
            <a:endParaRPr/>
          </a:p>
        </p:txBody>
      </p:sp>
      <p:sp>
        <p:nvSpPr>
          <p:cNvPr id="374" name="Google Shape;374;p22"/>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Roadmap </a:t>
            </a:r>
            <a:r>
              <a:rPr b="1" i="0" lang="en-US" sz="2550" u="none" cap="none" strike="noStrike">
                <a:solidFill>
                  <a:srgbClr val="38BDF8"/>
                </a:solidFill>
                <a:latin typeface="Plus Jakarta Sans"/>
                <a:ea typeface="Plus Jakarta Sans"/>
                <a:cs typeface="Plus Jakarta Sans"/>
                <a:sym typeface="Plus Jakarta Sans"/>
              </a:rPr>
              <a:t>&amp; Future Work</a:t>
            </a:r>
            <a:endParaRPr/>
          </a:p>
        </p:txBody>
      </p:sp>
      <p:sp>
        <p:nvSpPr>
          <p:cNvPr id="375" name="Google Shape;375;p22"/>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76" name="Google Shape;376;p22"/>
          <p:cNvPicPr preferRelativeResize="0"/>
          <p:nvPr/>
        </p:nvPicPr>
        <p:blipFill rotWithShape="1">
          <a:blip r:embed="rId10">
            <a:alphaModFix/>
          </a:blip>
          <a:srcRect b="0" l="0" r="0" t="0"/>
          <a:stretch/>
        </p:blipFill>
        <p:spPr>
          <a:xfrm>
            <a:off x="723900" y="6183659"/>
            <a:ext cx="104775" cy="114300"/>
          </a:xfrm>
          <a:prstGeom prst="rect">
            <a:avLst/>
          </a:prstGeom>
          <a:noFill/>
          <a:ln>
            <a:noFill/>
          </a:ln>
        </p:spPr>
      </p:pic>
      <p:sp>
        <p:nvSpPr>
          <p:cNvPr id="377" name="Google Shape;377;p22"/>
          <p:cNvSpPr txBox="1"/>
          <p:nvPr/>
        </p:nvSpPr>
        <p:spPr>
          <a:xfrm>
            <a:off x="923925" y="6164609"/>
            <a:ext cx="9886950" cy="15999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900" u="none" cap="none" strike="noStrike">
                <a:solidFill>
                  <a:srgbClr val="9CA3AF"/>
                </a:solidFill>
                <a:latin typeface="Inter"/>
                <a:ea typeface="Inter"/>
                <a:cs typeface="Inter"/>
                <a:sym typeface="Inter"/>
              </a:rPr>
              <a:t>Presenter Notes:</a:t>
            </a:r>
            <a:r>
              <a:rPr b="0" i="0" lang="en-US" sz="900" u="none" cap="none" strike="noStrike">
                <a:solidFill>
                  <a:srgbClr val="9CA3AF"/>
                </a:solidFill>
                <a:latin typeface="Inter"/>
                <a:ea typeface="Inter"/>
                <a:cs typeface="Inter"/>
                <a:sym typeface="Inter"/>
              </a:rPr>
              <a:t> "My next immediate focus is the Silver layer transformation. Once the historical versions are locked in, I will move to the predictive modeling and the LLM integration."</a:t>
            </a:r>
            <a:endParaRPr/>
          </a:p>
        </p:txBody>
      </p:sp>
      <p:sp>
        <p:nvSpPr>
          <p:cNvPr id="378" name="Google Shape;378;p22"/>
          <p:cNvSpPr/>
          <p:nvPr/>
        </p:nvSpPr>
        <p:spPr>
          <a:xfrm>
            <a:off x="1057275" y="3515617"/>
            <a:ext cx="10077450" cy="190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79" name="Google Shape;379;p22"/>
          <p:cNvPicPr preferRelativeResize="0"/>
          <p:nvPr/>
        </p:nvPicPr>
        <p:blipFill rotWithShape="1">
          <a:blip r:embed="rId11">
            <a:alphaModFix/>
          </a:blip>
          <a:srcRect b="0" l="0" r="0" t="0"/>
          <a:stretch/>
        </p:blipFill>
        <p:spPr>
          <a:xfrm>
            <a:off x="10094118" y="2686942"/>
            <a:ext cx="419100" cy="419100"/>
          </a:xfrm>
          <a:prstGeom prst="rect">
            <a:avLst/>
          </a:prstGeom>
          <a:noFill/>
          <a:ln>
            <a:noFill/>
          </a:ln>
        </p:spPr>
      </p:pic>
      <p:sp>
        <p:nvSpPr>
          <p:cNvPr id="380" name="Google Shape;380;p22"/>
          <p:cNvSpPr txBox="1"/>
          <p:nvPr/>
        </p:nvSpPr>
        <p:spPr>
          <a:xfrm>
            <a:off x="685680" y="3410842"/>
            <a:ext cx="2405300"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Phase 2 (Silver)</a:t>
            </a:r>
            <a:endParaRPr/>
          </a:p>
        </p:txBody>
      </p:sp>
      <p:sp>
        <p:nvSpPr>
          <p:cNvPr id="381" name="Google Shape;381;p22"/>
          <p:cNvSpPr txBox="1"/>
          <p:nvPr/>
        </p:nvSpPr>
        <p:spPr>
          <a:xfrm>
            <a:off x="742950" y="3687067"/>
            <a:ext cx="2290762"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900" u="none" cap="none" strike="noStrike">
                <a:solidFill>
                  <a:srgbClr val="9CA3AF"/>
                </a:solidFill>
                <a:latin typeface="Inter"/>
                <a:ea typeface="Inter"/>
                <a:cs typeface="Inter"/>
                <a:sym typeface="Inter"/>
              </a:rPr>
              <a:t>Develop, optimize, and launch full SCD Type 2 tracking routines directly inside DuckDB.</a:t>
            </a:r>
            <a:endParaRPr/>
          </a:p>
        </p:txBody>
      </p:sp>
      <p:sp>
        <p:nvSpPr>
          <p:cNvPr id="382" name="Google Shape;382;p22"/>
          <p:cNvSpPr txBox="1"/>
          <p:nvPr/>
        </p:nvSpPr>
        <p:spPr>
          <a:xfrm>
            <a:off x="3490793" y="3410842"/>
            <a:ext cx="2405300"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Phase 3 (Gold)</a:t>
            </a:r>
            <a:endParaRPr/>
          </a:p>
        </p:txBody>
      </p:sp>
      <p:sp>
        <p:nvSpPr>
          <p:cNvPr id="383" name="Google Shape;383;p22"/>
          <p:cNvSpPr txBox="1"/>
          <p:nvPr/>
        </p:nvSpPr>
        <p:spPr>
          <a:xfrm>
            <a:off x="3548062" y="3687067"/>
            <a:ext cx="2290762"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900" u="none" cap="none" strike="noStrike">
                <a:solidFill>
                  <a:srgbClr val="9CA3AF"/>
                </a:solidFill>
                <a:latin typeface="Inter"/>
                <a:ea typeface="Inter"/>
                <a:cs typeface="Inter"/>
                <a:sym typeface="Inter"/>
              </a:rPr>
              <a:t>Build downstream serving Gold datamarts and construct the ML Feature Store.</a:t>
            </a:r>
            <a:endParaRPr/>
          </a:p>
        </p:txBody>
      </p:sp>
      <p:sp>
        <p:nvSpPr>
          <p:cNvPr id="384" name="Google Shape;384;p22"/>
          <p:cNvSpPr txBox="1"/>
          <p:nvPr/>
        </p:nvSpPr>
        <p:spPr>
          <a:xfrm>
            <a:off x="6295905" y="3410842"/>
            <a:ext cx="2405300"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Phase 4 (AI)</a:t>
            </a:r>
            <a:endParaRPr/>
          </a:p>
        </p:txBody>
      </p:sp>
      <p:sp>
        <p:nvSpPr>
          <p:cNvPr id="385" name="Google Shape;385;p22"/>
          <p:cNvSpPr txBox="1"/>
          <p:nvPr/>
        </p:nvSpPr>
        <p:spPr>
          <a:xfrm>
            <a:off x="6353175" y="3687067"/>
            <a:ext cx="2290762"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900" u="none" cap="none" strike="noStrike">
                <a:solidFill>
                  <a:srgbClr val="9CA3AF"/>
                </a:solidFill>
                <a:latin typeface="Inter"/>
                <a:ea typeface="Inter"/>
                <a:cs typeface="Inter"/>
                <a:sym typeface="Inter"/>
              </a:rPr>
              <a:t>Deploy integrated Text-to-SQL conversational agents alongside rich executive analytics views.</a:t>
            </a:r>
            <a:endParaRPr/>
          </a:p>
        </p:txBody>
      </p:sp>
      <p:pic>
        <p:nvPicPr>
          <p:cNvPr descr="image.png" id="386" name="Google Shape;386;p22"/>
          <p:cNvPicPr preferRelativeResize="0"/>
          <p:nvPr/>
        </p:nvPicPr>
        <p:blipFill rotWithShape="1">
          <a:blip r:embed="rId12">
            <a:alphaModFix/>
          </a:blip>
          <a:srcRect b="0" l="0" r="0" t="0"/>
          <a:stretch/>
        </p:blipFill>
        <p:spPr>
          <a:xfrm>
            <a:off x="10246518" y="2829817"/>
            <a:ext cx="114300" cy="133350"/>
          </a:xfrm>
          <a:prstGeom prst="rect">
            <a:avLst/>
          </a:prstGeom>
          <a:noFill/>
          <a:ln>
            <a:noFill/>
          </a:ln>
        </p:spPr>
      </p:pic>
      <p:sp>
        <p:nvSpPr>
          <p:cNvPr id="387" name="Google Shape;387;p22"/>
          <p:cNvSpPr txBox="1"/>
          <p:nvPr/>
        </p:nvSpPr>
        <p:spPr>
          <a:xfrm>
            <a:off x="9101018" y="3410842"/>
            <a:ext cx="2405300" cy="2000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Final Validation</a:t>
            </a:r>
            <a:endParaRPr/>
          </a:p>
        </p:txBody>
      </p:sp>
      <p:sp>
        <p:nvSpPr>
          <p:cNvPr id="388" name="Google Shape;388;p22"/>
          <p:cNvSpPr txBox="1"/>
          <p:nvPr/>
        </p:nvSpPr>
        <p:spPr>
          <a:xfrm>
            <a:off x="9158287" y="3687067"/>
            <a:ext cx="2290762" cy="5143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900" u="none" cap="none" strike="noStrike">
                <a:solidFill>
                  <a:srgbClr val="9CA3AF"/>
                </a:solidFill>
                <a:latin typeface="Inter"/>
                <a:ea typeface="Inter"/>
                <a:cs typeface="Inter"/>
                <a:sym typeface="Inter"/>
              </a:rPr>
              <a:t>Perform complete end-to-end model validation, system latency profiling, and user verification.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descr="image.png" id="393" name="Google Shape;393;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4" name="Google Shape;394;p23"/>
          <p:cNvPicPr preferRelativeResize="0"/>
          <p:nvPr/>
        </p:nvPicPr>
        <p:blipFill rotWithShape="1">
          <a:blip r:embed="rId4">
            <a:alphaModFix/>
          </a:blip>
          <a:srcRect b="0" l="0" r="0" t="0"/>
          <a:stretch/>
        </p:blipFill>
        <p:spPr>
          <a:xfrm>
            <a:off x="6770489" y="2439292"/>
            <a:ext cx="4840337" cy="2171700"/>
          </a:xfrm>
          <a:prstGeom prst="rect">
            <a:avLst/>
          </a:prstGeom>
          <a:noFill/>
          <a:ln>
            <a:noFill/>
          </a:ln>
        </p:spPr>
      </p:pic>
      <p:pic>
        <p:nvPicPr>
          <p:cNvPr descr="image.png" id="395" name="Google Shape;395;p23"/>
          <p:cNvPicPr preferRelativeResize="0"/>
          <p:nvPr/>
        </p:nvPicPr>
        <p:blipFill rotWithShape="1">
          <a:blip r:embed="rId5">
            <a:alphaModFix/>
          </a:blip>
          <a:srcRect b="0" l="0" r="0" t="0"/>
          <a:stretch/>
        </p:blipFill>
        <p:spPr>
          <a:xfrm>
            <a:off x="7161014" y="3858517"/>
            <a:ext cx="4059287" cy="361950"/>
          </a:xfrm>
          <a:prstGeom prst="rect">
            <a:avLst/>
          </a:prstGeom>
          <a:noFill/>
          <a:ln>
            <a:noFill/>
          </a:ln>
        </p:spPr>
      </p:pic>
      <p:sp>
        <p:nvSpPr>
          <p:cNvPr id="396" name="Google Shape;396;p23"/>
          <p:cNvSpPr txBox="1"/>
          <p:nvPr/>
        </p:nvSpPr>
        <p:spPr>
          <a:xfrm>
            <a:off x="8181975" y="247650"/>
            <a:ext cx="34290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CA3AF"/>
                </a:solidFill>
                <a:latin typeface="Fira Code"/>
                <a:ea typeface="Fira Code"/>
                <a:cs typeface="Fira Code"/>
                <a:sym typeface="Fira Code"/>
              </a:rPr>
              <a:t>TALENTFLOW AI | DEFENDING PROJECT THESIS</a:t>
            </a:r>
            <a:endParaRPr/>
          </a:p>
        </p:txBody>
      </p:sp>
      <p:sp>
        <p:nvSpPr>
          <p:cNvPr id="397" name="Google Shape;397;p23"/>
          <p:cNvSpPr txBox="1"/>
          <p:nvPr/>
        </p:nvSpPr>
        <p:spPr>
          <a:xfrm>
            <a:off x="723900" y="485775"/>
            <a:ext cx="11431428" cy="4095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50" u="none" cap="none" strike="noStrike">
                <a:solidFill>
                  <a:srgbClr val="FFFFFF"/>
                </a:solidFill>
                <a:latin typeface="Plus Jakarta Sans"/>
                <a:ea typeface="Plus Jakarta Sans"/>
                <a:cs typeface="Plus Jakarta Sans"/>
                <a:sym typeface="Plus Jakarta Sans"/>
              </a:rPr>
              <a:t>Conclusion </a:t>
            </a:r>
            <a:r>
              <a:rPr b="1" i="0" lang="en-US" sz="2550" u="none" cap="none" strike="noStrike">
                <a:solidFill>
                  <a:srgbClr val="38BDF8"/>
                </a:solidFill>
                <a:latin typeface="Plus Jakarta Sans"/>
                <a:ea typeface="Plus Jakarta Sans"/>
                <a:cs typeface="Plus Jakarta Sans"/>
                <a:sym typeface="Plus Jakarta Sans"/>
              </a:rPr>
              <a:t>&amp; Q&amp;A</a:t>
            </a:r>
            <a:endParaRPr/>
          </a:p>
        </p:txBody>
      </p:sp>
      <p:sp>
        <p:nvSpPr>
          <p:cNvPr id="398" name="Google Shape;398;p23"/>
          <p:cNvSpPr/>
          <p:nvPr/>
        </p:nvSpPr>
        <p:spPr>
          <a:xfrm>
            <a:off x="581025" y="485775"/>
            <a:ext cx="47625" cy="409575"/>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99" name="Google Shape;399;p23"/>
          <p:cNvPicPr preferRelativeResize="0"/>
          <p:nvPr/>
        </p:nvPicPr>
        <p:blipFill rotWithShape="1">
          <a:blip r:embed="rId6">
            <a:alphaModFix/>
          </a:blip>
          <a:srcRect b="0" l="0" r="0" t="0"/>
          <a:stretch/>
        </p:blipFill>
        <p:spPr>
          <a:xfrm>
            <a:off x="723900" y="6183659"/>
            <a:ext cx="104775" cy="114300"/>
          </a:xfrm>
          <a:prstGeom prst="rect">
            <a:avLst/>
          </a:prstGeom>
          <a:noFill/>
          <a:ln>
            <a:noFill/>
          </a:ln>
        </p:spPr>
      </p:pic>
      <p:sp>
        <p:nvSpPr>
          <p:cNvPr id="400" name="Google Shape;400;p23"/>
          <p:cNvSpPr txBox="1"/>
          <p:nvPr/>
        </p:nvSpPr>
        <p:spPr>
          <a:xfrm>
            <a:off x="923925" y="6164609"/>
            <a:ext cx="3457575" cy="15999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900" u="none" cap="none" strike="noStrike">
                <a:solidFill>
                  <a:srgbClr val="9CA3AF"/>
                </a:solidFill>
                <a:latin typeface="Inter"/>
                <a:ea typeface="Inter"/>
                <a:cs typeface="Inter"/>
                <a:sym typeface="Inter"/>
              </a:rPr>
              <a:t>Presenter Notes:</a:t>
            </a:r>
            <a:r>
              <a:rPr b="0" i="0" lang="en-US" sz="900" u="none" cap="none" strike="noStrike">
                <a:solidFill>
                  <a:srgbClr val="9CA3AF"/>
                </a:solidFill>
                <a:latin typeface="Inter"/>
                <a:ea typeface="Inter"/>
                <a:cs typeface="Inter"/>
                <a:sym typeface="Inter"/>
              </a:rPr>
              <a:t> "Thank you. I am now open to your questions."</a:t>
            </a:r>
            <a:endParaRPr/>
          </a:p>
        </p:txBody>
      </p:sp>
      <p:sp>
        <p:nvSpPr>
          <p:cNvPr id="401" name="Google Shape;401;p23"/>
          <p:cNvSpPr txBox="1"/>
          <p:nvPr/>
        </p:nvSpPr>
        <p:spPr>
          <a:xfrm>
            <a:off x="581025" y="2562522"/>
            <a:ext cx="5808464"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Inter"/>
                <a:ea typeface="Inter"/>
                <a:cs typeface="Inter"/>
                <a:sym typeface="Inter"/>
              </a:rPr>
              <a:t>TalentFlow AI</a:t>
            </a:r>
            <a:r>
              <a:rPr b="0" i="0" lang="en-US" sz="1650" u="none" cap="none" strike="noStrike">
                <a:solidFill>
                  <a:srgbClr val="E5E7EB"/>
                </a:solidFill>
                <a:latin typeface="Inter Medium"/>
                <a:ea typeface="Inter Medium"/>
                <a:cs typeface="Inter Medium"/>
                <a:sym typeface="Inter Medium"/>
              </a:rPr>
              <a:t> represents a modern shift from simple data storage to a resilient, cloud-native </a:t>
            </a:r>
            <a:r>
              <a:rPr b="1" i="0" lang="en-US" sz="1650" u="none" cap="none" strike="noStrike">
                <a:solidFill>
                  <a:srgbClr val="10B981"/>
                </a:solidFill>
                <a:latin typeface="Inter"/>
                <a:ea typeface="Inter"/>
                <a:cs typeface="Inter"/>
                <a:sym typeface="Inter"/>
              </a:rPr>
              <a:t>Enterprise Lakehouse Architecture</a:t>
            </a:r>
            <a:r>
              <a:rPr b="0" i="0" lang="en-US" sz="1650" u="none" cap="none" strike="noStrike">
                <a:solidFill>
                  <a:srgbClr val="E5E7EB"/>
                </a:solidFill>
                <a:latin typeface="Inter Medium"/>
                <a:ea typeface="Inter Medium"/>
                <a:cs typeface="Inter Medium"/>
                <a:sym typeface="Inter Medium"/>
              </a:rPr>
              <a:t>.</a:t>
            </a:r>
            <a:endParaRPr/>
          </a:p>
        </p:txBody>
      </p:sp>
      <p:sp>
        <p:nvSpPr>
          <p:cNvPr id="402" name="Google Shape;402;p23"/>
          <p:cNvSpPr txBox="1"/>
          <p:nvPr/>
        </p:nvSpPr>
        <p:spPr>
          <a:xfrm>
            <a:off x="581025" y="3710880"/>
            <a:ext cx="5808464" cy="776882"/>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9CA3AF"/>
                </a:solidFill>
                <a:latin typeface="Inter Light"/>
                <a:ea typeface="Inter Light"/>
                <a:cs typeface="Inter Light"/>
                <a:sym typeface="Inter Light"/>
              </a:rPr>
              <a:t>By combining the transactional reliability of SQL with the scale of a Data Lake and the accessible intelligence of Generative AI, we democratize analytics for recruiters.</a:t>
            </a:r>
            <a:endParaRPr/>
          </a:p>
        </p:txBody>
      </p:sp>
      <p:sp>
        <p:nvSpPr>
          <p:cNvPr id="403" name="Google Shape;403;p23"/>
          <p:cNvSpPr txBox="1"/>
          <p:nvPr/>
        </p:nvSpPr>
        <p:spPr>
          <a:xfrm>
            <a:off x="7059531" y="2829817"/>
            <a:ext cx="4262251" cy="504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150" u="none" cap="none" strike="noStrike">
                <a:solidFill>
                  <a:srgbClr val="FFFFFF"/>
                </a:solidFill>
                <a:latin typeface="Plus Jakarta Sans"/>
                <a:ea typeface="Plus Jakarta Sans"/>
                <a:cs typeface="Plus Jakarta Sans"/>
                <a:sym typeface="Plus Jakarta Sans"/>
              </a:rPr>
              <a:t>Questions?</a:t>
            </a:r>
            <a:endParaRPr/>
          </a:p>
        </p:txBody>
      </p:sp>
      <p:sp>
        <p:nvSpPr>
          <p:cNvPr id="404" name="Google Shape;404;p23"/>
          <p:cNvSpPr txBox="1"/>
          <p:nvPr/>
        </p:nvSpPr>
        <p:spPr>
          <a:xfrm>
            <a:off x="7161014" y="3429892"/>
            <a:ext cx="4059287" cy="19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9CA3AF"/>
                </a:solidFill>
                <a:latin typeface="Inter"/>
                <a:ea typeface="Inter"/>
                <a:cs typeface="Inter"/>
                <a:sym typeface="Inter"/>
              </a:rPr>
              <a:t>Thank you for your attention.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