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63b52997bd48c8" /><Relationship Type="http://schemas.openxmlformats.org/officeDocument/2006/relationships/extended-properties" Target="/docProps/app.xml" Id="R30987c3deeaf4995" /><Relationship Type="http://schemas.openxmlformats.org/officeDocument/2006/relationships/officeDocument" Target="/ppt/presentation.xml" Id="Re7ffb85b36f040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be5635e30e409b"/>
  </p:sldMasterIdLst>
  <p:notesMasterIdLst>
    <p:notesMasterId xmlns:r="http://schemas.openxmlformats.org/officeDocument/2006/relationships" r:id="R898e19e16b124b95"/>
  </p:notesMasterIdLst>
  <p:sldIdLst>
    <p:sldId xmlns:r="http://schemas.openxmlformats.org/officeDocument/2006/relationships" id="256" r:id="Recadbda538144c62"/>
    <p:sldId xmlns:r="http://schemas.openxmlformats.org/officeDocument/2006/relationships" id="257" r:id="R444e8f9ace1348dd"/>
    <p:sldId xmlns:r="http://schemas.openxmlformats.org/officeDocument/2006/relationships" id="258" r:id="R0c6399d2dbda43ca"/>
    <p:sldId xmlns:r="http://schemas.openxmlformats.org/officeDocument/2006/relationships" id="259" r:id="R292c5f3edcd64227"/>
    <p:sldId xmlns:r="http://schemas.openxmlformats.org/officeDocument/2006/relationships" id="260" r:id="Rab371257e7434cbb"/>
    <p:sldId xmlns:r="http://schemas.openxmlformats.org/officeDocument/2006/relationships" id="261" r:id="Rc551146179bd472e"/>
    <p:sldId xmlns:r="http://schemas.openxmlformats.org/officeDocument/2006/relationships" id="262" r:id="Rc24d3d9989004ec0"/>
    <p:sldId xmlns:r="http://schemas.openxmlformats.org/officeDocument/2006/relationships" id="263" r:id="R46f24666bcf94177"/>
    <p:sldId xmlns:r="http://schemas.openxmlformats.org/officeDocument/2006/relationships" id="264" r:id="R5b6f35b5aaaf4bbd"/>
    <p:sldId xmlns:r="http://schemas.openxmlformats.org/officeDocument/2006/relationships" id="265" r:id="R9810eb9e45f74d23"/>
    <p:sldId xmlns:r="http://schemas.openxmlformats.org/officeDocument/2006/relationships" id="266" r:id="R15e7c032b86047d7"/>
    <p:sldId xmlns:r="http://schemas.openxmlformats.org/officeDocument/2006/relationships" id="267" r:id="R3857c263c40c4412"/>
    <p:sldId xmlns:r="http://schemas.openxmlformats.org/officeDocument/2006/relationships" id="268" r:id="R7d611aca455b4d4c"/>
    <p:sldId xmlns:r="http://schemas.openxmlformats.org/officeDocument/2006/relationships" id="269" r:id="Rf61859d0a90d4854"/>
    <p:sldId xmlns:r="http://schemas.openxmlformats.org/officeDocument/2006/relationships" id="270" r:id="R95dceddb7e1b48d8"/>
    <p:sldId xmlns:r="http://schemas.openxmlformats.org/officeDocument/2006/relationships" id="271" r:id="R867ba81076ec4095"/>
    <p:sldId xmlns:r="http://schemas.openxmlformats.org/officeDocument/2006/relationships" id="272" r:id="Ra3b51607b402413e"/>
    <p:sldId xmlns:r="http://schemas.openxmlformats.org/officeDocument/2006/relationships" id="273" r:id="Rda422a6c3c5e4f3d"/>
    <p:sldId xmlns:r="http://schemas.openxmlformats.org/officeDocument/2006/relationships" id="274" r:id="Rcdf38e676e374d3b"/>
    <p:sldId xmlns:r="http://schemas.openxmlformats.org/officeDocument/2006/relationships" id="275" r:id="Rdd6951ae82ec4688"/>
    <p:sldId xmlns:r="http://schemas.openxmlformats.org/officeDocument/2006/relationships" id="276" r:id="R083aeb30480243ca"/>
    <p:sldId xmlns:r="http://schemas.openxmlformats.org/officeDocument/2006/relationships" id="277" r:id="R48565090d4914a45"/>
    <p:sldId xmlns:r="http://schemas.openxmlformats.org/officeDocument/2006/relationships" id="278" r:id="Rbb00b8d8152f4128"/>
    <p:sldId xmlns:r="http://schemas.openxmlformats.org/officeDocument/2006/relationships" id="279" r:id="Rede7f164ec5e43cf"/>
    <p:sldId xmlns:r="http://schemas.openxmlformats.org/officeDocument/2006/relationships" id="280" r:id="R2132b633eb4d496d"/>
    <p:sldId xmlns:r="http://schemas.openxmlformats.org/officeDocument/2006/relationships" id="281" r:id="Rd508bda45dfd4efc"/>
    <p:sldId xmlns:r="http://schemas.openxmlformats.org/officeDocument/2006/relationships" id="282" r:id="R39144033a026496c"/>
    <p:sldId xmlns:r="http://schemas.openxmlformats.org/officeDocument/2006/relationships" id="283" r:id="R051a52886ab543a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4102739bff433d" /><Relationship Type="http://schemas.openxmlformats.org/officeDocument/2006/relationships/slideMaster" Target="/ppt/slideMasters/slideMaster1.xml" Id="Rd4be5635e30e409b" /><Relationship Type="http://schemas.openxmlformats.org/officeDocument/2006/relationships/notesMaster" Target="/ppt/notesMasters/notesMaster1.xml" Id="R898e19e16b124b95" /><Relationship Type="http://schemas.openxmlformats.org/officeDocument/2006/relationships/presProps" Target="/ppt/presProps.xml" Id="R84c3e604c7c44690" /><Relationship Type="http://schemas.openxmlformats.org/officeDocument/2006/relationships/tableStyles" Target="/ppt/tableStyles.xml" Id="R1ba1ecdb62e04899" /><Relationship Type="http://schemas.openxmlformats.org/officeDocument/2006/relationships/slide" Target="/ppt/slides/slide1.xml" Id="Recadbda538144c62" /><Relationship Type="http://schemas.openxmlformats.org/officeDocument/2006/relationships/slide" Target="/ppt/slides/slide2.xml" Id="R444e8f9ace1348dd" /><Relationship Type="http://schemas.openxmlformats.org/officeDocument/2006/relationships/slide" Target="/ppt/slides/slide3.xml" Id="R0c6399d2dbda43ca" /><Relationship Type="http://schemas.openxmlformats.org/officeDocument/2006/relationships/slide" Target="/ppt/slides/slide4.xml" Id="R292c5f3edcd64227" /><Relationship Type="http://schemas.openxmlformats.org/officeDocument/2006/relationships/slide" Target="/ppt/slides/slide5.xml" Id="Rab371257e7434cbb" /><Relationship Type="http://schemas.openxmlformats.org/officeDocument/2006/relationships/slide" Target="/ppt/slides/slide6.xml" Id="Rc551146179bd472e" /><Relationship Type="http://schemas.openxmlformats.org/officeDocument/2006/relationships/slide" Target="/ppt/slides/slide7.xml" Id="Rc24d3d9989004ec0" /><Relationship Type="http://schemas.openxmlformats.org/officeDocument/2006/relationships/slide" Target="/ppt/slides/slide8.xml" Id="R46f24666bcf94177" /><Relationship Type="http://schemas.openxmlformats.org/officeDocument/2006/relationships/slide" Target="/ppt/slides/slide9.xml" Id="R5b6f35b5aaaf4bbd" /><Relationship Type="http://schemas.openxmlformats.org/officeDocument/2006/relationships/slide" Target="/ppt/slides/slide10.xml" Id="R9810eb9e45f74d23" /><Relationship Type="http://schemas.openxmlformats.org/officeDocument/2006/relationships/slide" Target="/ppt/slides/slide11.xml" Id="R15e7c032b86047d7" /><Relationship Type="http://schemas.openxmlformats.org/officeDocument/2006/relationships/slide" Target="/ppt/slides/slide12.xml" Id="R3857c263c40c4412" /><Relationship Type="http://schemas.openxmlformats.org/officeDocument/2006/relationships/slide" Target="/ppt/slides/slide13.xml" Id="R7d611aca455b4d4c" /><Relationship Type="http://schemas.openxmlformats.org/officeDocument/2006/relationships/slide" Target="/ppt/slides/slide14.xml" Id="Rf61859d0a90d4854" /><Relationship Type="http://schemas.openxmlformats.org/officeDocument/2006/relationships/slide" Target="/ppt/slides/slide15.xml" Id="R95dceddb7e1b48d8" /><Relationship Type="http://schemas.openxmlformats.org/officeDocument/2006/relationships/slide" Target="/ppt/slides/slide16.xml" Id="R867ba81076ec4095" /><Relationship Type="http://schemas.openxmlformats.org/officeDocument/2006/relationships/slide" Target="/ppt/slides/slide17.xml" Id="Ra3b51607b402413e" /><Relationship Type="http://schemas.openxmlformats.org/officeDocument/2006/relationships/slide" Target="/ppt/slides/slide18.xml" Id="Rda422a6c3c5e4f3d" /><Relationship Type="http://schemas.openxmlformats.org/officeDocument/2006/relationships/slide" Target="/ppt/slides/slide19.xml" Id="Rcdf38e676e374d3b" /><Relationship Type="http://schemas.openxmlformats.org/officeDocument/2006/relationships/slide" Target="/ppt/slides/slide20.xml" Id="Rdd6951ae82ec4688" /><Relationship Type="http://schemas.openxmlformats.org/officeDocument/2006/relationships/slide" Target="/ppt/slides/slide21.xml" Id="R083aeb30480243ca" /><Relationship Type="http://schemas.openxmlformats.org/officeDocument/2006/relationships/slide" Target="/ppt/slides/slide22.xml" Id="R48565090d4914a45" /><Relationship Type="http://schemas.openxmlformats.org/officeDocument/2006/relationships/slide" Target="/ppt/slides/slide23.xml" Id="Rbb00b8d8152f4128" /><Relationship Type="http://schemas.openxmlformats.org/officeDocument/2006/relationships/slide" Target="/ppt/slides/slide24.xml" Id="Rede7f164ec5e43cf" /><Relationship Type="http://schemas.openxmlformats.org/officeDocument/2006/relationships/slide" Target="/ppt/slides/slide25.xml" Id="R2132b633eb4d496d" /><Relationship Type="http://schemas.openxmlformats.org/officeDocument/2006/relationships/slide" Target="/ppt/slides/slide26.xml" Id="Rd508bda45dfd4efc" /><Relationship Type="http://schemas.openxmlformats.org/officeDocument/2006/relationships/slide" Target="/ppt/slides/slide27.xml" Id="R39144033a026496c" /><Relationship Type="http://schemas.openxmlformats.org/officeDocument/2006/relationships/slide" Target="/ppt/slides/slide28.xml" Id="R051a52886ab543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3ed049c0e442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e4abfd90ab49f5" /><Relationship Type="http://schemas.openxmlformats.org/officeDocument/2006/relationships/notesMaster" Target="/ppt/notesMasters/notesMaster1.xml" Id="R24a6f5f9cd6444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380bb9aed24a94" /><Relationship Type="http://schemas.openxmlformats.org/officeDocument/2006/relationships/notesMaster" Target="/ppt/notesMasters/notesMaster1.xml" Id="R228e7bc1bd284d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659cd796434ae1" /><Relationship Type="http://schemas.openxmlformats.org/officeDocument/2006/relationships/notesMaster" Target="/ppt/notesMasters/notesMaster1.xml" Id="Rc0ddd660965b4f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fab42a776a46be" /><Relationship Type="http://schemas.openxmlformats.org/officeDocument/2006/relationships/notesMaster" Target="/ppt/notesMasters/notesMaster1.xml" Id="Rd8f836cebb664c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de7a2ec8a44f10" /><Relationship Type="http://schemas.openxmlformats.org/officeDocument/2006/relationships/notesMaster" Target="/ppt/notesMasters/notesMaster1.xml" Id="R3ada4dd79b2d4e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2e3616178d4883" /><Relationship Type="http://schemas.openxmlformats.org/officeDocument/2006/relationships/notesMaster" Target="/ppt/notesMasters/notesMaster1.xml" Id="Rdac14409acfa43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ebf6cc4eb64b17" /><Relationship Type="http://schemas.openxmlformats.org/officeDocument/2006/relationships/notesMaster" Target="/ppt/notesMasters/notesMaster1.xml" Id="R9b39dbb163f247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b3cd5baf3549ab" /><Relationship Type="http://schemas.openxmlformats.org/officeDocument/2006/relationships/notesMaster" Target="/ppt/notesMasters/notesMaster1.xml" Id="R985e31dbdcf344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29de6223dc48ed" /><Relationship Type="http://schemas.openxmlformats.org/officeDocument/2006/relationships/notesMaster" Target="/ppt/notesMasters/notesMaster1.xml" Id="R872d385a44a140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9050c450424ae6" /><Relationship Type="http://schemas.openxmlformats.org/officeDocument/2006/relationships/notesMaster" Target="/ppt/notesMasters/notesMaster1.xml" Id="Rc47f21bf678e4c7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1dba11980746f9" /><Relationship Type="http://schemas.openxmlformats.org/officeDocument/2006/relationships/notesMaster" Target="/ppt/notesMasters/notesMaster1.xml" Id="Rd251d72412cc4ef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eda6250654e4baf" /><Relationship Type="http://schemas.openxmlformats.org/officeDocument/2006/relationships/notesMaster" Target="/ppt/notesMasters/notesMaster1.xml" Id="Ra7986b82dda7479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ef6390ba2614c4b" /><Relationship Type="http://schemas.openxmlformats.org/officeDocument/2006/relationships/notesMaster" Target="/ppt/notesMasters/notesMaster1.xml" Id="R21299f7d1a914f1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a121806068d4c3f" /><Relationship Type="http://schemas.openxmlformats.org/officeDocument/2006/relationships/notesMaster" Target="/ppt/notesMasters/notesMaster1.xml" Id="Rcf2ecbb661dc4b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7c9829f405542eb" /><Relationship Type="http://schemas.openxmlformats.org/officeDocument/2006/relationships/notesMaster" Target="/ppt/notesMasters/notesMaster1.xml" Id="R52ef2ca98e4144b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0c9d2f8c3a74776" /><Relationship Type="http://schemas.openxmlformats.org/officeDocument/2006/relationships/notesMaster" Target="/ppt/notesMasters/notesMaster1.xml" Id="R1667c8743b33409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26a16dd0bbd4fb0" /><Relationship Type="http://schemas.openxmlformats.org/officeDocument/2006/relationships/notesMaster" Target="/ppt/notesMasters/notesMaster1.xml" Id="R583af5667e2f402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d99913edca24595" /><Relationship Type="http://schemas.openxmlformats.org/officeDocument/2006/relationships/notesMaster" Target="/ppt/notesMasters/notesMaster1.xml" Id="R709385bb973444e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f303719c3a54cc3" /><Relationship Type="http://schemas.openxmlformats.org/officeDocument/2006/relationships/notesMaster" Target="/ppt/notesMasters/notesMaster1.xml" Id="R750a2744fda0459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e41ab46bf6c4016" /><Relationship Type="http://schemas.openxmlformats.org/officeDocument/2006/relationships/notesMaster" Target="/ppt/notesMasters/notesMaster1.xml" Id="R566fc81ca12e480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81c7aae7d9e473d" /><Relationship Type="http://schemas.openxmlformats.org/officeDocument/2006/relationships/notesMaster" Target="/ppt/notesMasters/notesMaster1.xml" Id="Rf2ee713f68bd45c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b2e809ea1aa437f" /><Relationship Type="http://schemas.openxmlformats.org/officeDocument/2006/relationships/notesMaster" Target="/ppt/notesMasters/notesMaster1.xml" Id="R3b34205866bc4e0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6d3b98735ca465c" /><Relationship Type="http://schemas.openxmlformats.org/officeDocument/2006/relationships/notesMaster" Target="/ppt/notesMasters/notesMaster1.xml" Id="Rda72a06742e440d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11372b44c2941a6" /><Relationship Type="http://schemas.openxmlformats.org/officeDocument/2006/relationships/notesMaster" Target="/ppt/notesMasters/notesMaster1.xml" Id="R5aadadb244f34ba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65c10f09f194857" /><Relationship Type="http://schemas.openxmlformats.org/officeDocument/2006/relationships/notesMaster" Target="/ppt/notesMasters/notesMaster1.xml" Id="R966db7624b4f45a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3d7856df4234726" /><Relationship Type="http://schemas.openxmlformats.org/officeDocument/2006/relationships/notesMaster" Target="/ppt/notesMasters/notesMaster1.xml" Id="R0b81ad72a853415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78fca0d51f643d1" /><Relationship Type="http://schemas.openxmlformats.org/officeDocument/2006/relationships/notesMaster" Target="/ppt/notesMasters/notesMaster1.xml" Id="R854007ec7e85415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8d09563f1064218" /><Relationship Type="http://schemas.openxmlformats.org/officeDocument/2006/relationships/notesMaster" Target="/ppt/notesMasters/notesMaster1.xml" Id="R337889ad791c47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4a5550d74243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da338a3d534dcc" /><Relationship Type="http://schemas.openxmlformats.org/officeDocument/2006/relationships/slideLayout" Target="/ppt/slideLayouts/slideLayout1.xml" Id="Rb7c347052b3240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c347052b3240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7dd38875d4e86" /><Relationship Type="http://schemas.openxmlformats.org/officeDocument/2006/relationships/notesSlide" Target="/ppt/notesSlides/notesSlide1.xml" Id="R8ffac97d0cf64b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f648c79c8455b" /><Relationship Type="http://schemas.openxmlformats.org/officeDocument/2006/relationships/notesSlide" Target="/ppt/notesSlides/notesSlide2.xml" Id="Rbc21be29e9634c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553b8e054437c" /><Relationship Type="http://schemas.openxmlformats.org/officeDocument/2006/relationships/notesSlide" Target="/ppt/notesSlides/notesSlide3.xml" Id="Rffa092a9efbc4d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2344edc80449b" /><Relationship Type="http://schemas.openxmlformats.org/officeDocument/2006/relationships/notesSlide" Target="/ppt/notesSlides/notesSlide4.xml" Id="R9c09d18b0b914d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c6b14759d4d36" /><Relationship Type="http://schemas.openxmlformats.org/officeDocument/2006/relationships/notesSlide" Target="/ppt/notesSlides/notesSlide5.xml" Id="Rce633c454d6b45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ebd2c837341e0" /><Relationship Type="http://schemas.openxmlformats.org/officeDocument/2006/relationships/image" Target="/ppt/media/image.png" Id="R1949e06f6e8e4937" /><Relationship Type="http://schemas.openxmlformats.org/officeDocument/2006/relationships/image" Target="/ppt/media/image2.png" Id="Rca07779e09cd4aa4" /><Relationship Type="http://schemas.openxmlformats.org/officeDocument/2006/relationships/notesSlide" Target="/ppt/notesSlides/notesSlide6.xml" Id="R0bb1f468d38e4e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31f944034474b" /><Relationship Type="http://schemas.openxmlformats.org/officeDocument/2006/relationships/image" Target="/ppt/media/image3.png" Id="R1c3357a67d5b4f22" /><Relationship Type="http://schemas.openxmlformats.org/officeDocument/2006/relationships/image" Target="/ppt/media/image4.png" Id="R22309d8c1d7f4a12" /><Relationship Type="http://schemas.openxmlformats.org/officeDocument/2006/relationships/image" Target="/ppt/media/image5.png" Id="Re5bdf96993804d0c" /><Relationship Type="http://schemas.openxmlformats.org/officeDocument/2006/relationships/notesSlide" Target="/ppt/notesSlides/notesSlide7.xml" Id="Raa1a65111db44c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df4ddb7a2489d" /><Relationship Type="http://schemas.openxmlformats.org/officeDocument/2006/relationships/image" Target="/ppt/media/image6.png" Id="R3b878f4bdc71457d" /><Relationship Type="http://schemas.openxmlformats.org/officeDocument/2006/relationships/notesSlide" Target="/ppt/notesSlides/notesSlide8.xml" Id="R1dd71a40b95d42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1d76aae964dac" /><Relationship Type="http://schemas.openxmlformats.org/officeDocument/2006/relationships/image" Target="/ppt/media/image7.png" Id="Rc04c23c4eb7c4f86" /><Relationship Type="http://schemas.openxmlformats.org/officeDocument/2006/relationships/notesSlide" Target="/ppt/notesSlides/notesSlide9.xml" Id="R044e98d3b76640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4cccd996b4024" /><Relationship Type="http://schemas.openxmlformats.org/officeDocument/2006/relationships/notesSlide" Target="/ppt/notesSlides/notesSlide10.xml" Id="Rc995de9ea81d46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1704ee07da49be" /><Relationship Type="http://schemas.openxmlformats.org/officeDocument/2006/relationships/notesSlide" Target="/ppt/notesSlides/notesSlide11.xml" Id="R6764adf0b64f48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cb741bc804d41" /><Relationship Type="http://schemas.openxmlformats.org/officeDocument/2006/relationships/image" Target="/ppt/media/image8.png" Id="R0b27075af4b044de" /><Relationship Type="http://schemas.openxmlformats.org/officeDocument/2006/relationships/image" Target="/ppt/media/image9.png" Id="R242110756071475b" /><Relationship Type="http://schemas.openxmlformats.org/officeDocument/2006/relationships/image" Target="/ppt/media/image10.png" Id="R90f573305b8d4bb6" /><Relationship Type="http://schemas.openxmlformats.org/officeDocument/2006/relationships/image" Target="/ppt/media/image11.png" Id="R9fc923e8f1334c9a" /><Relationship Type="http://schemas.openxmlformats.org/officeDocument/2006/relationships/notesSlide" Target="/ppt/notesSlides/notesSlide12.xml" Id="R28db26d4f634451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1228daff9435c" /><Relationship Type="http://schemas.openxmlformats.org/officeDocument/2006/relationships/image" Target="/ppt/media/image12.png" Id="Rfb7e758fe834488f" /><Relationship Type="http://schemas.openxmlformats.org/officeDocument/2006/relationships/image" Target="/ppt/media/image13.png" Id="Rb7d0f525326b43b9" /><Relationship Type="http://schemas.openxmlformats.org/officeDocument/2006/relationships/notesSlide" Target="/ppt/notesSlides/notesSlide13.xml" Id="R3849680a53414a2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6a0998806404f" /><Relationship Type="http://schemas.openxmlformats.org/officeDocument/2006/relationships/notesSlide" Target="/ppt/notesSlides/notesSlide14.xml" Id="Rdc16940f2fef4f8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ea96303114e19" /><Relationship Type="http://schemas.openxmlformats.org/officeDocument/2006/relationships/notesSlide" Target="/ppt/notesSlides/notesSlide15.xml" Id="R3a0e0198edd9494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4074d7af347f5" /><Relationship Type="http://schemas.openxmlformats.org/officeDocument/2006/relationships/notesSlide" Target="/ppt/notesSlides/notesSlide16.xml" Id="R7b8d2f29279549b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cda332a2f4475" /><Relationship Type="http://schemas.openxmlformats.org/officeDocument/2006/relationships/notesSlide" Target="/ppt/notesSlides/notesSlide17.xml" Id="R533b7554c85b47c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d5fa7644546c3" /><Relationship Type="http://schemas.openxmlformats.org/officeDocument/2006/relationships/notesSlide" Target="/ppt/notesSlides/notesSlide18.xml" Id="R68e8639f97c643c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bfd7298be4cbf" /><Relationship Type="http://schemas.openxmlformats.org/officeDocument/2006/relationships/image" Target="/ppt/media/image14.png" Id="R3b40ce2804424eaf" /><Relationship Type="http://schemas.openxmlformats.org/officeDocument/2006/relationships/image" Target="/ppt/media/image15.png" Id="Rbe9ece9de466410e" /><Relationship Type="http://schemas.openxmlformats.org/officeDocument/2006/relationships/notesSlide" Target="/ppt/notesSlides/notesSlide19.xml" Id="R4c25f1ca976340e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2a7c52b23942a9" /><Relationship Type="http://schemas.openxmlformats.org/officeDocument/2006/relationships/notesSlide" Target="/ppt/notesSlides/notesSlide20.xml" Id="R075cb1e5f6904a6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82eac582448d8" /><Relationship Type="http://schemas.openxmlformats.org/officeDocument/2006/relationships/image" Target="/ppt/media/image16.png" Id="Rf91a503af0dd44dd" /><Relationship Type="http://schemas.openxmlformats.org/officeDocument/2006/relationships/notesSlide" Target="/ppt/notesSlides/notesSlide21.xml" Id="Rc3a436a1f85b481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14f611c414c26" /><Relationship Type="http://schemas.openxmlformats.org/officeDocument/2006/relationships/notesSlide" Target="/ppt/notesSlides/notesSlide22.xml" Id="Rd22214c71181406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626efd2b3444e" /><Relationship Type="http://schemas.openxmlformats.org/officeDocument/2006/relationships/notesSlide" Target="/ppt/notesSlides/notesSlide23.xml" Id="R0608b2b5e1024c7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46f8e55494007" /><Relationship Type="http://schemas.openxmlformats.org/officeDocument/2006/relationships/notesSlide" Target="/ppt/notesSlides/notesSlide24.xml" Id="Ree51484d5296495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b2987fab34c8f" /><Relationship Type="http://schemas.openxmlformats.org/officeDocument/2006/relationships/notesSlide" Target="/ppt/notesSlides/notesSlide25.xml" Id="R2d8fe55c72d0476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5bbcfee894ed8" /><Relationship Type="http://schemas.openxmlformats.org/officeDocument/2006/relationships/notesSlide" Target="/ppt/notesSlides/notesSlide26.xml" Id="Re93cd1a263ef4aa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02b26659e4f7e" /><Relationship Type="http://schemas.openxmlformats.org/officeDocument/2006/relationships/notesSlide" Target="/ppt/notesSlides/notesSlide27.xml" Id="Raa9ae9ab972648a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7d1389c444acb" /><Relationship Type="http://schemas.openxmlformats.org/officeDocument/2006/relationships/notesSlide" Target="/ppt/notesSlides/notesSlide28.xml" Id="R14ce96a6190641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324C13-ADE6-4718-9AE5-3CD3729B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9A8AB-D08A-4492-B563-02237FC1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A5B0F-2D1A-42AC-A623-A19E95A5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DFD65-4B24-451E-B827-BF1C5C44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TALENTFLOW AI | MID-TERM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3C5559-F6B0-4E5E-A907-C67DB792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5F7FB"/>
                </a:solidFill>
              </a:defRPr>
            </a:pPr>
            <a:r>
              <a:rPr sz="3450" b="1">
                <a:solidFill>
                  <a:srgbClr val="F5F7FB"/>
                </a:solidFill>
              </a:rPr>
              <a:t>TalentFlow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399DC-EC0F-4C01-90B0-D719B81A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8CA"/>
                </a:solidFill>
              </a:defRPr>
            </a:pPr>
            <a:r>
              <a:rPr sz="1575" b="0">
                <a:solidFill>
                  <a:srgbClr val="A9B8CA"/>
                </a:solidFill>
              </a:rPr>
              <a:t>Enterprise Candidate Relationship Management and Predictive Intelligence Ecosystem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9D41DD-6C33-430A-B9A8-5FE5EEC3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8715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B"/>
                </a:solidFill>
              </a:defRPr>
            </a:pPr>
            <a:r>
              <a:rPr sz="1350" b="0">
                <a:solidFill>
                  <a:srgbClr val="F5F7FB"/>
                </a:solidFill>
              </a:rPr>
              <a:t>A detailed mid-term presentation covering system design, lakehouse engineering, validation, ML workflow, and future Text-to-SQL direction.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138E35-3D0B-4A4A-B417-87AF4AA6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2381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D2035"/>
          </a:solidFill>
          <a:ln xmlns:a="http://schemas.openxmlformats.org/drawingml/2006/main" w="9525">
            <a:solidFill>
              <a:srgbClr val="1D455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68DFB4-DD35-4062-A0BD-C6EE9117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577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C7F7"/>
                </a:solidFill>
              </a:defRPr>
            </a:pPr>
            <a:r>
              <a:rPr sz="2250" b="1">
                <a:solidFill>
                  <a:srgbClr val="25C7F7"/>
                </a:solidFill>
              </a:rPr>
              <a:t>2024DA04133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EDA484-9D2A-434D-B163-E991BC89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3877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8CA"/>
                </a:solidFill>
              </a:defRPr>
            </a:pPr>
            <a:r>
              <a:rPr sz="900" b="0">
                <a:solidFill>
                  <a:srgbClr val="A9B8CA"/>
                </a:solidFill>
              </a:rPr>
              <a:t>BITS 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699CB-AB87-4128-BA3A-04F9DBFE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05375"/>
            <a:ext cx="2381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D2035"/>
          </a:solidFill>
          <a:ln xmlns:a="http://schemas.openxmlformats.org/drawingml/2006/main" w="9525">
            <a:solidFill>
              <a:srgbClr val="1D45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0433CF-A9FE-49D8-93B3-C98BFA8D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0577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D689"/>
                </a:solidFill>
              </a:defRPr>
            </a:pPr>
            <a:r>
              <a:rPr sz="2250" b="1">
                <a:solidFill>
                  <a:srgbClr val="25D689"/>
                </a:solidFill>
              </a:rPr>
              <a:t>Mid-Term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F8E6EF-0875-4F90-8976-BB67484B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43877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8CA"/>
                </a:solidFill>
              </a:defRPr>
            </a:pPr>
            <a:r>
              <a:rPr sz="900" b="0">
                <a:solidFill>
                  <a:srgbClr val="A9B8CA"/>
                </a:solidFill>
              </a:rPr>
              <a:t>Project evaluation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8658FD-EA9D-40EE-BA4F-0B0DAD87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05375"/>
            <a:ext cx="2381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D2035"/>
          </a:solidFill>
          <a:ln xmlns:a="http://schemas.openxmlformats.org/drawingml/2006/main" w="9525">
            <a:solidFill>
              <a:srgbClr val="1D45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F199A7-1717-460E-9400-31F44D7C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0577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B84B"/>
                </a:solidFill>
              </a:defRPr>
            </a:pPr>
            <a:r>
              <a:rPr sz="2250" b="1">
                <a:solidFill>
                  <a:srgbClr val="F6B84B"/>
                </a:solidFill>
              </a:rPr>
              <a:t>Altimetrik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658644-6579-4681-9D76-A2463F17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43877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8CA"/>
                </a:solidFill>
              </a:defRPr>
            </a:pPr>
            <a:r>
              <a:rPr sz="900" b="0">
                <a:solidFill>
                  <a:srgbClr val="A9B8CA"/>
                </a:solidFill>
              </a:rPr>
              <a:t>Host organization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BEA4DE-F407-448F-B8DA-69C1F734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38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8CA"/>
                </a:solidFill>
              </a:defRPr>
            </a:pPr>
            <a:r>
              <a:rPr sz="975" b="0">
                <a:solidFill>
                  <a:srgbClr val="A9B8CA"/>
                </a:solidFill>
              </a:rPr>
              <a:t>Malikulashtar K Malampatiwalla</a:t>
            </a:r>
          </a:p>
        </p:txBody>
      </p:sp>
    </p:spTree>
    <p:extLst>
      <p:ext uri="{BB962C8B-B14F-4D97-AF65-F5344CB8AC3E}">
        <p14:creationId xmlns:p14="http://schemas.microsoft.com/office/powerpoint/2010/main" val="1738948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F81291-403A-42A2-ADFE-6EAE5A63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7C25E-C8F2-4B88-A8A2-04A4104B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BC614-1FF1-4CB9-A8CE-E0157A50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7352F-EA66-4E1E-9DB5-15549260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NARRATIVE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0A37C-D25B-4A1A-B710-FD5E008A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Presentation Roadmap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3CFE0-6D41-499E-A67B-F2E1F5BD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419A6-7362-477D-89D1-B1ED1842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How the review is structured for the examiner: problem, architecture, implementation evidence, validation, and next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177C5-4AA9-452E-96F2-6DE78375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5048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8B074-BBE3-4A8C-8AC5-396D2F57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C7F7"/>
                </a:solidFill>
              </a:defRPr>
            </a:pPr>
            <a:r>
              <a:rPr sz="1800" b="1">
                <a:solidFill>
                  <a:srgbClr val="25C7F7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A2B72-8A93-42F9-A267-AE6948A3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B"/>
                </a:solidFill>
              </a:defRPr>
            </a:pPr>
            <a:r>
              <a:rPr sz="1425" b="1">
                <a:solidFill>
                  <a:srgbClr val="F5F7FB"/>
                </a:solidFill>
              </a:rPr>
              <a:t>Why TalentFlow AI?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5111C1-03FE-4A1F-8570-3ABF528D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81250"/>
            <a:ext cx="404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Recruitment data fragmentation, loss of candidate history, and manual reporting bottlenecks.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EC1408-C518-4BA0-A9F8-649ED277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09750"/>
            <a:ext cx="5048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D67431-FE85-4934-8ACB-D1974A14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19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C7F7"/>
                </a:solidFill>
              </a:defRPr>
            </a:pPr>
            <a:r>
              <a:rPr sz="1800" b="1">
                <a:solidFill>
                  <a:srgbClr val="25C7F7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6F95C4-BEB9-405E-BF53-99B005DB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383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B"/>
                </a:solidFill>
              </a:defRPr>
            </a:pPr>
            <a:r>
              <a:rPr sz="1425" b="1">
                <a:solidFill>
                  <a:srgbClr val="F5F7FB"/>
                </a:solidFill>
              </a:rPr>
              <a:t>How the system is built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477E9A-AA7E-4993-BB4E-4CF790FD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81250"/>
            <a:ext cx="404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Streamlit portals, PostgreSQL operational schema, Azure lakehouse, Prefect flows, DuckDB Gold analytics.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A64801-FCEB-4822-807A-BA53F120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5048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911AFD-D593-4C1A-AD52-733C007E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814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C7F7"/>
                </a:solidFill>
              </a:defRPr>
            </a:pPr>
            <a:r>
              <a:rPr sz="1800" b="1">
                <a:solidFill>
                  <a:srgbClr val="25C7F7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ADD8D4-9E7E-41F1-ABD0-0DAC66C5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004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B"/>
                </a:solidFill>
              </a:defRPr>
            </a:pPr>
            <a:r>
              <a:rPr sz="1425" b="1">
                <a:solidFill>
                  <a:srgbClr val="F5F7FB"/>
                </a:solidFill>
              </a:rPr>
              <a:t>What has been completed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232229-43F4-4196-A144-C026A178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43375"/>
            <a:ext cx="404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Frontend workflows, Bronze/Silver/Gold ELT, Gold KPI datasets, ML artifacts, validation scripts.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61C251-8DCD-4918-AD79-E40B5503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571875"/>
            <a:ext cx="5048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2BCB98-5369-400E-9109-A9B751A7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814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C7F7"/>
                </a:solidFill>
              </a:defRPr>
            </a:pPr>
            <a:r>
              <a:rPr sz="1800" b="1">
                <a:solidFill>
                  <a:srgbClr val="25C7F7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04B22C-C0B3-4FAD-9D34-DBFEF248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004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B"/>
                </a:solidFill>
              </a:defRPr>
            </a:pPr>
            <a:r>
              <a:rPr sz="1425" b="1">
                <a:solidFill>
                  <a:srgbClr val="F5F7FB"/>
                </a:solidFill>
              </a:rPr>
              <a:t>What remains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2AD383-6BCE-4153-A645-3F7EA847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43375"/>
            <a:ext cx="404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Text-to-SQL conversational interface, stronger model validation, production hardening and final dissertation polish.</a:t>
            </a:r>
          </a:p>
        </p:txBody>
      </p:sp>
    </p:spTree>
    <p:extLst>
      <p:ext uri="{BB962C8B-B14F-4D97-AF65-F5344CB8AC3E}">
        <p14:creationId xmlns:p14="http://schemas.microsoft.com/office/powerpoint/2010/main" val="4230325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E904BF-7D74-42B6-9920-F7C1ACD2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E1E34-2120-45A7-9FBA-0D0A2B2E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F55A8-2692-4DA3-AA32-C91E384B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0F450-6122-4DE1-8DC1-A7A4B0DD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706095-E815-4D0B-BE22-0AC50924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Problem Definition and 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518317-C4D4-46A6-8EEC-D1BB4752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835393-4BDA-480B-85C2-5B8D2209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TalentFlow AI was designed around a practical recruitment-data problem: operational tools capture activity, but do not automatically create reliable analytical memory.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1C6240-14AD-494E-BF18-FAA23063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B72FAB-D259-4859-9604-A2444E68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06A6A"/>
                </a:solidFill>
              </a:defRPr>
            </a:pPr>
            <a:r>
              <a:rPr sz="750" b="1">
                <a:solidFill>
                  <a:srgbClr val="F06A6A"/>
                </a:solidFill>
              </a:rPr>
              <a:t>OPERATIONAL FRAGMENTATION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C34F33-95FA-4773-BDBD-6567DA82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669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F50D6-0BB2-4BE5-8F72-9C7B3E20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25050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Candidate profile, interview schedule, feedback and engagement data are spread across workflow screens.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5273F6-3319-4C43-9E63-F2349EFB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94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0337C8-AC2E-4620-B2E4-096EFDCD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25050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Simple update-in-place systems overwrite the earlier state of a candidate.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4D94A3-F9CD-4C29-B4A5-D33E7897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18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0F3D3B-E5AF-4F4F-951E-771123FA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25050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Recruiters need timeline-aware information, not just the current profile row.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8059FA-AE10-412D-BEC5-4909214A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B7FB0A-8F00-46B2-B13B-6CB1C69B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0764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6B84B"/>
                </a:solidFill>
              </a:defRPr>
            </a:pPr>
            <a:r>
              <a:rPr sz="750" b="1">
                <a:solidFill>
                  <a:srgbClr val="F6B84B"/>
                </a:solidFill>
              </a:rPr>
              <a:t>ANALYTICS BOTTLENECK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C23754-2C50-4041-AC61-9634C8B0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4669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28FCC0-2F8F-4466-B656-29BF5A81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457450"/>
            <a:ext cx="25050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Hiring-funnel, salary, engagement and city-level questions require manual SQL or exported reports.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3F6EFD-6488-4E37-9011-68FFC222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0194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BA82B4-FB9D-47B2-8374-B77BACE1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009900"/>
            <a:ext cx="25050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Operational databases are not designed as business-facing reporting products.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8007E6-03E2-4568-BE4B-115D84EC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5718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104485-748B-408E-BA36-A1627C51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562350"/>
            <a:ext cx="25050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Data quality and privacy must be handled before analytics are trusted.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2B5FD5-64A6-4012-AE96-34C724EC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333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E4C43C-7369-4117-B892-DB8A832E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764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D689"/>
                </a:solidFill>
              </a:defRPr>
            </a:pPr>
            <a:r>
              <a:rPr sz="750" b="1">
                <a:solidFill>
                  <a:srgbClr val="25D689"/>
                </a:solidFill>
              </a:rPr>
              <a:t>PROJECT RESPONSE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2A3993-03FC-445D-A72C-F84B6289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669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DEC7FA-425A-4E93-A95F-323913AD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57450"/>
            <a:ext cx="25050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Separate OLTP work from lakehouse analytics.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8126D7-1766-44B0-A4E6-3FB985C0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194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D967D9-46F1-4543-835E-0021DAD8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9900"/>
            <a:ext cx="25050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Preserve historical candidate versions through Silver SCD2 logic.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883B51-D2EC-4E1B-A630-47B5CF72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718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F5F7BE-CE79-419F-B175-61F0C392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62350"/>
            <a:ext cx="25050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Serve Gold KPIs and ML features to admin dashboards and future conversational analytics.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ACC92A-D7FF-472A-B8C5-CDF9F5F8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340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C7F7"/>
                </a:solidFill>
              </a:defRPr>
            </a:pPr>
            <a:r>
              <a:rPr sz="1500" b="1">
                <a:solidFill>
                  <a:srgbClr val="25C7F7"/>
                </a:solidFill>
              </a:rPr>
              <a:t>Design implication: the project is not only a recruitment portal; it is a governed recruitment-data product.</a:t>
            </a:r>
          </a:p>
        </p:txBody>
      </p:sp>
    </p:spTree>
    <p:extLst>
      <p:ext uri="{BB962C8B-B14F-4D97-AF65-F5344CB8AC3E}">
        <p14:creationId xmlns:p14="http://schemas.microsoft.com/office/powerpoint/2010/main" val="8635744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D284FD-86B3-413D-967A-17E26EDD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2FCC9-250F-475E-B3B1-3C44007E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9F63E-5B87-4C01-B5B8-9681C5A5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B4171-C9FD-48A8-BA91-DCFEA009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OBJECTIVES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89469C-E71E-455D-B799-D5FEED32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Project Objectives and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5E881-3560-4BF2-8395-43CC01DE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F22DD-3CD9-4AC2-B016-084E21A9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The scope combines application workflows with data engineering and AI readiness, so the system demonstrates end-to-end recruitment intelligence.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DF4C0-FFBC-462C-A4C0-CAF4D110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11010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A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D4D2B2-60A0-4D4E-B144-5290273E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0225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F7FB"/>
                </a:solidFill>
              </a:defRPr>
            </a:pPr>
            <a:r>
              <a:rPr sz="900" b="1">
                <a:solidFill>
                  <a:srgbClr val="F5F7FB"/>
                </a:solidFill>
              </a:rPr>
              <a:t>Area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9F62B5-2AE1-4DA3-848B-BB475EC3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800225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F7FB"/>
                </a:solidFill>
              </a:defRPr>
            </a:pPr>
            <a:r>
              <a:rPr sz="900" b="1">
                <a:solidFill>
                  <a:srgbClr val="F5F7FB"/>
                </a:solidFill>
              </a:rPr>
              <a:t>Objective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8B1699-50D7-4A5F-846A-DD36608D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1800225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F7FB"/>
                </a:solidFill>
              </a:defRPr>
            </a:pPr>
            <a:r>
              <a:rPr sz="900" b="1">
                <a:solidFill>
                  <a:srgbClr val="F5F7FB"/>
                </a:solidFill>
              </a:rPr>
              <a:t>Implementation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0E4BE7-68E4-4E22-93CC-868018F6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10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31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57F36D-03F3-4C83-99B2-98AE2A09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24100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Operational CRM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02DC1C-8CEB-42DB-842E-F4160E4B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324100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Candidate, interviewer and admin workflows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F7C7DE-60B9-40EC-B24B-3276D01D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324100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Streamlit portal, profile updates, schedules, feedback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A4BAC4-ABAA-44D7-8737-78473A31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0"/>
            <a:ext cx="11010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C7A8A4-9027-4E25-B280-518FCD82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47975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Relational 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609298-598B-46DD-968D-94AF84C2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847975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Normalized recruitment source schema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FAB51D-2F99-48F6-BF77-881CEB1C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847975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13 PostgreSQL tables with PK/FK/CHECK/UNIQUE constraints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111D45-EAC2-4CC9-859A-5A183CC3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86125"/>
            <a:ext cx="11010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31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435AC8-E625-4518-85AC-EFC5B3D4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Lakehouse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A9804F-CE2F-4A4A-A07E-880291E6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371850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Bronze raw, Silver secure, Gold analytics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EDBA7D-2DB8-4114-AC87-A55BE0C8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3371850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Versioned Parquet outputs with latest copies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C5EC7B-64AC-4105-B4F5-77C133F1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0"/>
            <a:ext cx="11010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8C9885-F324-4459-BD36-C6D84773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95725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Orchestration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D60C12-EF53-4D91-AAE9-423FF3F1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895725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Repeatable ELT with observability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284084-621E-4CAF-9683-0E7D2C0F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3895725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Prefect full flow and 2-minute demo deployment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F97D08-5BE8-4AE7-AA30-74443942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11010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31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3AB501-D24A-4A13-92E5-80D8F3B3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9600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Analytics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2F9757-5F15-4374-AD35-493C7C7E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4419600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Recruitment KPI datasets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9F07ED-8E07-424E-8E44-16592487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4419600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city_talent_score, salary_benchmarks, engagement, funnel, hire_rate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629117-7DB2-4535-AE19-6B2A2B9C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11010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893DE9-A639-4394-9FCF-E0F1FC25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43475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Predictive AI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53F148-D271-4EE8-9A94-411BD7B2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4943475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ML-ready features and model artifacts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92BDF3-C9BD-445F-9330-AAD9CD4B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4943475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Random Forest pipelines, metrics JSON, feature importance CSVs</a:t>
            </a:r>
          </a:p>
        </p:txBody>
      </p:sp>
    </p:spTree>
    <p:extLst>
      <p:ext uri="{BB962C8B-B14F-4D97-AF65-F5344CB8AC3E}">
        <p14:creationId xmlns:p14="http://schemas.microsoft.com/office/powerpoint/2010/main" val="166761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637905-00F4-4829-A1E4-46E57C60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64D993-7AED-44B2-80CC-BC9D8599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0ECA3-6248-4693-8291-B11509DD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3849D-ABB3-4BA1-9AD4-1F7A2DA9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SYSTEM MODULES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CD339-FD97-4A98-93B0-18340686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Current Implementation Modules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04A39-9C6C-482F-B6F4-C8460382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D2297-11C3-4D3E-AAD3-AE22345F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The implementation is modular: user-facing actions are separated from storage, transformation, analytics, metadata and validation.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B4631-7396-4D1F-B566-6C744079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5095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5D4D80-EA04-4E0A-BFE0-1C16EE8F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C7F7"/>
                </a:solidFill>
              </a:defRPr>
            </a:pPr>
            <a:r>
              <a:rPr sz="1125" b="1">
                <a:solidFill>
                  <a:srgbClr val="25C7F7"/>
                </a:solidFill>
              </a:rPr>
              <a:t>Candidate Portal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CF0D47-56C3-426A-BE4B-3C41D017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4307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A9B8CA"/>
                </a:solidFill>
              </a:defRPr>
            </a:pPr>
            <a:r>
              <a:rPr sz="923" b="0">
                <a:solidFill>
                  <a:srgbClr val="A9B8CA"/>
                </a:solidFill>
              </a:rPr>
              <a:t>Registration, login, profile display/update, engagement logging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00F7DD-EE48-4090-BF86-AE56672D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095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159682-34F7-41D8-BA95-1F08210C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C7F7"/>
                </a:solidFill>
              </a:defRPr>
            </a:pPr>
            <a:r>
              <a:rPr sz="1125" b="1">
                <a:solidFill>
                  <a:srgbClr val="25C7F7"/>
                </a:solidFill>
              </a:rPr>
              <a:t>Interviewer Portal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80CE19-1693-4E13-AF34-65FF4FE5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4307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A9B8CA"/>
                </a:solidFill>
              </a:defRPr>
            </a:pPr>
            <a:r>
              <a:rPr sz="923" b="0">
                <a:solidFill>
                  <a:srgbClr val="A9B8CA"/>
                </a:solidFill>
              </a:rPr>
              <a:t>Assigned interview view, structured rating, comments and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E993AC-2EC7-477E-92D8-86BE6E49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5095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EBEE6D-B878-44B6-BC75-A8F8E9AF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C7F7"/>
                </a:solidFill>
              </a:defRPr>
            </a:pPr>
            <a:r>
              <a:rPr sz="1125" b="1">
                <a:solidFill>
                  <a:srgbClr val="25C7F7"/>
                </a:solidFill>
              </a:rPr>
              <a:t>Admin Portal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354114-A329-4957-9C21-2DBABAF4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5747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A9B8CA"/>
                </a:solidFill>
              </a:defRPr>
            </a:pPr>
            <a:r>
              <a:rPr sz="923" b="0">
                <a:solidFill>
                  <a:srgbClr val="A9B8CA"/>
                </a:solidFill>
              </a:rPr>
              <a:t>Recruiter assignment, schedule control, KPI tabs and ML feature insights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4BDB8B-F917-4D20-A4F8-7F6558C5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33650"/>
            <a:ext cx="5095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27557C-1A01-41B4-BF09-470AB6EB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670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C7F7"/>
                </a:solidFill>
              </a:defRPr>
            </a:pPr>
            <a:r>
              <a:rPr sz="1125" b="1">
                <a:solidFill>
                  <a:srgbClr val="25C7F7"/>
                </a:solidFill>
              </a:rPr>
              <a:t>Operational DB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21D945-C88E-489F-A5A7-EC751855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5747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A9B8CA"/>
                </a:solidFill>
              </a:defRPr>
            </a:pPr>
            <a:r>
              <a:rPr sz="923" b="0">
                <a:solidFill>
                  <a:srgbClr val="A9B8CA"/>
                </a:solidFill>
              </a:rPr>
              <a:t>PostgreSQL recruitment entities, constraints, audit and login logs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BCFDC1-9C3E-4FC3-B5F7-1FF2F279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48050"/>
            <a:ext cx="5095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A1FF2F-3C14-456E-A39F-884FE478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C7F7"/>
                </a:solidFill>
              </a:defRPr>
            </a:pPr>
            <a:r>
              <a:rPr sz="1125" b="1">
                <a:solidFill>
                  <a:srgbClr val="25C7F7"/>
                </a:solidFill>
              </a:rPr>
              <a:t>Bronze Layer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900E73-C1DA-449C-BFDD-4AA0A0A2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7187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A9B8CA"/>
                </a:solidFill>
              </a:defRPr>
            </a:pPr>
            <a:r>
              <a:rPr sz="923" b="0">
                <a:solidFill>
                  <a:srgbClr val="A9B8CA"/>
                </a:solidFill>
              </a:rPr>
              <a:t>Raw source extraction to versioned Parquet paths and latest copies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E63864-9FC5-486C-9B32-28FF88FE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095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33DB1D-968F-4534-885B-BABD31A0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814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C7F7"/>
                </a:solidFill>
              </a:defRPr>
            </a:pPr>
            <a:r>
              <a:rPr sz="1125" b="1">
                <a:solidFill>
                  <a:srgbClr val="25C7F7"/>
                </a:solidFill>
              </a:rPr>
              <a:t>Silver Layer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6DCC3B-61A5-4F6C-8EC0-F77CDA66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7187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A9B8CA"/>
                </a:solidFill>
              </a:defRPr>
            </a:pPr>
            <a:r>
              <a:rPr sz="923" b="0">
                <a:solidFill>
                  <a:srgbClr val="A9B8CA"/>
                </a:solidFill>
              </a:rPr>
              <a:t>PII encryption, SCD2 candidate tracking, secure Parquet outputs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7FE7B9-44EB-45C8-84B9-83BA5393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5095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9D000A-FD3D-487A-B04B-5530054E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C7F7"/>
                </a:solidFill>
              </a:defRPr>
            </a:pPr>
            <a:r>
              <a:rPr sz="1125" b="1">
                <a:solidFill>
                  <a:srgbClr val="25C7F7"/>
                </a:solidFill>
              </a:rPr>
              <a:t>Gold Layer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2900BE-330E-47DB-A283-A4CB7191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8627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A9B8CA"/>
                </a:solidFill>
              </a:defRPr>
            </a:pPr>
            <a:r>
              <a:rPr sz="923" b="0">
                <a:solidFill>
                  <a:srgbClr val="A9B8CA"/>
                </a:solidFill>
              </a:rPr>
              <a:t>DuckDB KPI aggregation and optional analytics schema publishing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266E4B-C60A-4A09-AFEE-EB8C3997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62450"/>
            <a:ext cx="5095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DF5420-7DA0-4116-86D1-A2449EC2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95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C7F7"/>
                </a:solidFill>
              </a:defRPr>
            </a:pPr>
            <a:r>
              <a:rPr sz="1125" b="1">
                <a:solidFill>
                  <a:srgbClr val="25C7F7"/>
                </a:solidFill>
              </a:rPr>
              <a:t>ML Layer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93786D-3DF3-43E5-A9CE-B1907D49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8627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A9B8CA"/>
                </a:solidFill>
              </a:defRPr>
            </a:pPr>
            <a:r>
              <a:rPr sz="923" b="0">
                <a:solidFill>
                  <a:srgbClr val="A9B8CA"/>
                </a:solidFill>
              </a:rPr>
              <a:t>Random Forest artifacts, metrics, feature importance and dashboard output</a:t>
            </a:r>
          </a:p>
        </p:txBody>
      </p:sp>
    </p:spTree>
    <p:extLst>
      <p:ext uri="{BB962C8B-B14F-4D97-AF65-F5344CB8AC3E}">
        <p14:creationId xmlns:p14="http://schemas.microsoft.com/office/powerpoint/2010/main" val="19970356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65E44B-334B-4E8A-A77D-B1E7ACA1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092E3-701E-4C03-8CCE-E182D12D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65363E-61C8-41D7-AB38-0329CFF8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F1D9D5-780F-4A4E-9BA8-924CCE6D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APPLICATION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58B32-56B0-4EB5-AE21-CC365138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Visual Evidence: Candidate and Admin Workflows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DB03B3-996F-4364-9363-D1FA7F7A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C34C1-91D1-40B9-90E3-3C7B0F2A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These screens show the user-facing Streamlit application that feeds the operational PostgreSQL source database.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9F3F1-279A-463E-AA65-F0EBB9BE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371600"/>
            <a:ext cx="5400675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081522"/>
          </a:solidFill>
          <a:ln xmlns:a="http://schemas.openxmlformats.org/drawingml/2006/main" w="9525">
            <a:solidFill>
              <a:srgbClr val="22415C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49e06f6e8e4937"/>
          <a:srcRect xmlns:a="http://schemas.openxmlformats.org/drawingml/2006/main" l="5685" t="0" r="56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1428750"/>
            <a:ext cx="5286375" cy="28575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CA424A-7FE3-4CFC-A829-1BE44651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400550"/>
            <a:ext cx="5210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A9B8CA"/>
                </a:solidFill>
              </a:defRPr>
            </a:pPr>
            <a:r>
              <a:rPr sz="863" b="0">
                <a:solidFill>
                  <a:srgbClr val="A9B8CA"/>
                </a:solidFill>
              </a:rPr>
              <a:t>Candidate registration screen captures profile data and login credentials.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74B71-690E-45D1-BCC0-ADBA122E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71600"/>
            <a:ext cx="5400675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081522"/>
          </a:solidFill>
          <a:ln xmlns:a="http://schemas.openxmlformats.org/drawingml/2006/main" w="9525">
            <a:solidFill>
              <a:srgbClr val="22415C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07779e09cd4aa4"/>
          <a:srcRect xmlns:a="http://schemas.openxmlformats.org/drawingml/2006/main" l="6522" t="0" r="65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428750"/>
            <a:ext cx="5286375" cy="28575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7D8221-A3C6-4AC3-8E61-C931B893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00550"/>
            <a:ext cx="5210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A9B8CA"/>
                </a:solidFill>
              </a:defRPr>
            </a:pPr>
            <a:r>
              <a:rPr sz="863" b="0">
                <a:solidFill>
                  <a:srgbClr val="A9B8CA"/>
                </a:solidFill>
              </a:rPr>
              <a:t>Candidate dashboard shows the profile fields that become operational source records.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479A41-A196-4EC0-9B04-36E89D0D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0668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07142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6BFDF6-DBA0-490A-9D93-5F353DEE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05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Why this matters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67F085-D0C4-4FCB-BB74-26B4FBF7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0673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9B8CA"/>
                </a:solidFill>
              </a:defRPr>
            </a:pPr>
            <a:r>
              <a:rPr sz="1013" b="0">
                <a:solidFill>
                  <a:srgbClr val="A9B8CA"/>
                </a:solidFill>
              </a:rPr>
              <a:t>The portal is not separate from the data platform: candidate registration, profile updates and login activity create the records later extracted into Bronze and transformed into engagement, salary and profile-history analytics.</a:t>
            </a:r>
          </a:p>
        </p:txBody>
      </p:sp>
    </p:spTree>
    <p:extLst>
      <p:ext uri="{BB962C8B-B14F-4D97-AF65-F5344CB8AC3E}">
        <p14:creationId xmlns:p14="http://schemas.microsoft.com/office/powerpoint/2010/main" val="755345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685E7F-62C0-49CF-BCE1-99BA9476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A80AB5-D044-457A-967D-40E537E1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7988D-14F7-43C6-9466-823EA81F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81A1B-6D0F-4D97-B9C6-B26334C1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APPLICATION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62AA2A-4465-4468-A7E9-F2C13B63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Visual Evidence: Interviewer and Admin Workflows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759F9-6497-40B8-A512-A22B7BA5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4E184-8B67-4253-9D0E-76BBDEFA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The recruitment workflow is role based: admins schedule interviews and interviewers submit feedback that later becomes Gold and ML input.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7A5B12-9122-4D2B-92D7-A73D870F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23975"/>
            <a:ext cx="363855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081522"/>
          </a:solidFill>
          <a:ln xmlns:a="http://schemas.openxmlformats.org/drawingml/2006/main" w="9525">
            <a:solidFill>
              <a:srgbClr val="22415C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3357a67d5b4f22"/>
          <a:srcRect xmlns:a="http://schemas.openxmlformats.org/drawingml/2006/main" l="13918" t="0" r="139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381125"/>
            <a:ext cx="3524250" cy="2286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557128-D500-4676-81F6-B7D9CC66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3448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A9B8CA"/>
                </a:solidFill>
              </a:defRPr>
            </a:pPr>
            <a:r>
              <a:rPr sz="863" b="0">
                <a:solidFill>
                  <a:srgbClr val="A9B8CA"/>
                </a:solidFill>
              </a:rPr>
              <a:t>Admin scheduling creates interview_schedules records.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371EF4-7FC0-42D5-88ED-E338D93B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323975"/>
            <a:ext cx="363855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081522"/>
          </a:solidFill>
          <a:ln xmlns:a="http://schemas.openxmlformats.org/drawingml/2006/main" w="9525">
            <a:solidFill>
              <a:srgbClr val="22415C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309d8c1d7f4a12"/>
          <a:srcRect xmlns:a="http://schemas.openxmlformats.org/drawingml/2006/main" l="14154" t="0" r="141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3875" y="1381125"/>
            <a:ext cx="3524250" cy="2286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E3615A-58E2-4C7D-B987-297F72A8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781425"/>
            <a:ext cx="3448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A9B8CA"/>
                </a:solidFill>
              </a:defRPr>
            </a:pPr>
            <a:r>
              <a:rPr sz="863" b="0">
                <a:solidFill>
                  <a:srgbClr val="A9B8CA"/>
                </a:solidFill>
              </a:rPr>
              <a:t>Admin pipeline overview shows scheduled/completed stages.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9F4485-3665-4FC3-B352-F54AF3A7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323975"/>
            <a:ext cx="363855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081522"/>
          </a:solidFill>
          <a:ln xmlns:a="http://schemas.openxmlformats.org/drawingml/2006/main" w="9525">
            <a:solidFill>
              <a:srgbClr val="22415C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bdf96993804d0c"/>
          <a:srcRect xmlns:a="http://schemas.openxmlformats.org/drawingml/2006/main" l="13169" t="0" r="131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1381125"/>
            <a:ext cx="3524250" cy="2286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41F167-6C7C-430A-8FE7-03513F3A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81425"/>
            <a:ext cx="3448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A9B8CA"/>
                </a:solidFill>
              </a:defRPr>
            </a:pPr>
            <a:r>
              <a:rPr sz="863" b="0">
                <a:solidFill>
                  <a:srgbClr val="A9B8CA"/>
                </a:solidFill>
              </a:rPr>
              <a:t>Interviewer feedback captures rating and hire/hold/reject decisions.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658C0D-874A-4147-BDE8-CC9AA4AB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76750"/>
            <a:ext cx="10763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7142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963CFB-AEF8-48B4-B1E5-15822B11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86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C7F7"/>
                </a:solidFill>
              </a:defRPr>
            </a:pPr>
            <a:r>
              <a:rPr sz="750" b="1">
                <a:solidFill>
                  <a:srgbClr val="25C7F7"/>
                </a:solidFill>
              </a:rPr>
              <a:t>DATA GENERATED BY THESE SCREENS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6E212B-57C2-4AB1-8C7C-B3EF719F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387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D689"/>
                </a:solidFill>
              </a:defRPr>
            </a:pPr>
            <a:r>
              <a:rPr sz="97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1BF6D8-6080-48BF-843B-F96817E3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029200"/>
            <a:ext cx="941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5F7FB"/>
                </a:solidFill>
              </a:defRPr>
            </a:pPr>
            <a:r>
              <a:rPr sz="975" b="0">
                <a:solidFill>
                  <a:srgbClr val="F5F7FB"/>
                </a:solidFill>
              </a:rPr>
              <a:t>interview_schedules links candidate_id, job_id, interviewer_id, stage_id, interview_date and status.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17169F-D02C-4ABE-B29C-FF2B1CE2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673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D689"/>
                </a:solidFill>
              </a:defRPr>
            </a:pPr>
            <a:r>
              <a:rPr sz="97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A3F118-B1B6-4260-9316-71F76D52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257800"/>
            <a:ext cx="941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5F7FB"/>
                </a:solidFill>
              </a:defRPr>
            </a:pPr>
            <a:r>
              <a:rPr sz="975" b="0">
                <a:solidFill>
                  <a:srgbClr val="F5F7FB"/>
                </a:solidFill>
              </a:rPr>
              <a:t>interview_feedback stores rating, comments, decision and submitted_at.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A5FB57-2F69-464E-BA34-3673D032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959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D689"/>
                </a:solidFill>
              </a:defRPr>
            </a:pPr>
            <a:r>
              <a:rPr sz="97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CCCBD8-0C74-4CA4-89DD-86BC9A87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486400"/>
            <a:ext cx="941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5F7FB"/>
                </a:solidFill>
              </a:defRPr>
            </a:pPr>
            <a:r>
              <a:rPr sz="975" b="0">
                <a:solidFill>
                  <a:srgbClr val="F5F7FB"/>
                </a:solidFill>
              </a:rPr>
              <a:t>These records drive interview_pipeline_funnel, job_hire_rate and Random Forest model targets.</a:t>
            </a:r>
          </a:p>
        </p:txBody>
      </p:sp>
    </p:spTree>
    <p:extLst>
      <p:ext uri="{BB962C8B-B14F-4D97-AF65-F5344CB8AC3E}">
        <p14:creationId xmlns:p14="http://schemas.microsoft.com/office/powerpoint/2010/main" val="13756257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0F133C-69AF-444F-AC8D-C14EC536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4A271-ABAB-437F-ABBE-F5BAF44C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8D75A-D86F-4336-A2A8-67FA7C40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A1482-96AD-4732-9719-7F28F68D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BDE3E-5665-446A-B911-C6F711E2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End-to-End Functional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4B35B-544C-40A2-9C60-CD93ECBE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726EE4-F981-4CF5-BD04-36AC606E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The implementation follows the flow captured in your mid-term report: operational capture, medallion ELT, Gold analytics, and ML outputs.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878f4bdc71457d"/>
          <a:stretch xmlns:a="http://schemas.openxmlformats.org/drawingml/2006/main"/>
        </p:blipFill>
        <p:spPr>
          <a:xfrm xmlns:a="http://schemas.openxmlformats.org/drawingml/2006/main">
            <a:off x="2871913" y="1381125"/>
            <a:ext cx="6448174" cy="2333625"/>
          </a:xfrm>
          <a:prstGeom xmlns:a="http://schemas.openxmlformats.org/drawingml/2006/main" prst="roundRect">
            <a:avLst>
              <a:gd name="adj" fmla="val 326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D28E59-D8DB-4E16-925C-A51638A1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33875"/>
            <a:ext cx="1770063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D2035"/>
          </a:solidFill>
          <a:ln xmlns:a="http://schemas.openxmlformats.org/drawingml/2006/main" w="9525">
            <a:solidFill>
              <a:srgbClr val="2144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5C73DA-D03A-4992-92E5-DDD933DB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48175"/>
            <a:ext cx="154146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C7F7"/>
                </a:solidFill>
              </a:defRPr>
            </a:pPr>
            <a:r>
              <a:rPr sz="975" b="1">
                <a:solidFill>
                  <a:srgbClr val="25C7F7"/>
                </a:solidFill>
              </a:rPr>
              <a:t>Streamlit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49BE79-3870-49F0-A6B7-68354A37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33925"/>
            <a:ext cx="15414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8CA"/>
                </a:solidFill>
              </a:defRPr>
            </a:pPr>
            <a:r>
              <a:rPr sz="788" b="0">
                <a:solidFill>
                  <a:srgbClr val="A9B8CA"/>
                </a:solidFill>
              </a:rPr>
              <a:t>Candidate, Interviewer, Admin and KPI screens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701370-4E44-4758-A3CB-4EB10F4D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463" y="4695825"/>
            <a:ext cx="13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9B8CA"/>
                </a:solidFill>
              </a:defRPr>
            </a:pPr>
            <a:r>
              <a:rPr sz="1275" b="1">
                <a:solidFill>
                  <a:srgbClr val="A9B8C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79EFC1-E630-4936-93F0-713EEA0E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713" y="4333875"/>
            <a:ext cx="1770063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D2035"/>
          </a:solidFill>
          <a:ln xmlns:a="http://schemas.openxmlformats.org/drawingml/2006/main" w="9525">
            <a:solidFill>
              <a:srgbClr val="2144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D38700-A76F-4546-B662-103A2FBE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013" y="4448175"/>
            <a:ext cx="154146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C7F7"/>
                </a:solidFill>
              </a:defRPr>
            </a:pPr>
            <a:r>
              <a:rPr sz="975" b="1">
                <a:solidFill>
                  <a:srgbClr val="25C7F7"/>
                </a:solidFill>
              </a:rPr>
              <a:t>PostgreSQL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D1F7A0-5B16-4E29-9576-4668A366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013" y="4733925"/>
            <a:ext cx="15414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8CA"/>
                </a:solidFill>
              </a:defRPr>
            </a:pPr>
            <a:r>
              <a:rPr sz="788" b="0">
                <a:solidFill>
                  <a:srgbClr val="A9B8CA"/>
                </a:solidFill>
              </a:rPr>
              <a:t>Normalized OLTP source and audit logs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2F14D4-9005-4186-BABA-125EC4AE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300" y="4695825"/>
            <a:ext cx="13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9B8CA"/>
                </a:solidFill>
              </a:defRPr>
            </a:pPr>
            <a:r>
              <a:rPr sz="1275" b="1">
                <a:solidFill>
                  <a:srgbClr val="A9B8CA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247BF8-CF52-4EEF-A475-D94741DB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4333875"/>
            <a:ext cx="1770063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D2035"/>
          </a:solidFill>
          <a:ln xmlns:a="http://schemas.openxmlformats.org/drawingml/2006/main" w="9525">
            <a:solidFill>
              <a:srgbClr val="2144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B2EE11-7586-4099-BAD8-E8A78B08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448175"/>
            <a:ext cx="154146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C7F7"/>
                </a:solidFill>
              </a:defRPr>
            </a:pPr>
            <a:r>
              <a:rPr sz="975" b="1">
                <a:solidFill>
                  <a:srgbClr val="25C7F7"/>
                </a:solidFill>
              </a:rPr>
              <a:t>Bronze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20CDCD-F5F6-494C-A4DB-AD83A106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733925"/>
            <a:ext cx="15414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8CA"/>
                </a:solidFill>
              </a:defRPr>
            </a:pPr>
            <a:r>
              <a:rPr sz="788" b="0">
                <a:solidFill>
                  <a:srgbClr val="A9B8CA"/>
                </a:solidFill>
              </a:rPr>
              <a:t>Raw extracts with versioned run folders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E95349-6F6A-46A6-AD99-A3464868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4695825"/>
            <a:ext cx="13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9B8CA"/>
                </a:solidFill>
              </a:defRPr>
            </a:pPr>
            <a:r>
              <a:rPr sz="1275" b="1">
                <a:solidFill>
                  <a:srgbClr val="A9B8CA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FBF773-A93B-4DD6-B7E6-27B23E6F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8388" y="4333875"/>
            <a:ext cx="1770063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D2035"/>
          </a:solidFill>
          <a:ln xmlns:a="http://schemas.openxmlformats.org/drawingml/2006/main" w="9525">
            <a:solidFill>
              <a:srgbClr val="2144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B7616E-FD49-4E3E-8DDC-B9753E30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2688" y="4448175"/>
            <a:ext cx="154146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C7F7"/>
                </a:solidFill>
              </a:defRPr>
            </a:pPr>
            <a:r>
              <a:rPr sz="975" b="1">
                <a:solidFill>
                  <a:srgbClr val="25C7F7"/>
                </a:solidFill>
              </a:rPr>
              <a:t>Silver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96DCFF-2F1F-4B3A-89B6-3E86BB0F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2688" y="4733925"/>
            <a:ext cx="15414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8CA"/>
                </a:solidFill>
              </a:defRPr>
            </a:pPr>
            <a:r>
              <a:rPr sz="788" b="0">
                <a:solidFill>
                  <a:srgbClr val="A9B8CA"/>
                </a:solidFill>
              </a:rPr>
              <a:t>PII encryption and SCD2 history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52F77C-973D-407D-B576-1EFFC806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975" y="4695825"/>
            <a:ext cx="13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9B8CA"/>
                </a:solidFill>
              </a:defRPr>
            </a:pPr>
            <a:r>
              <a:rPr sz="1275" b="1">
                <a:solidFill>
                  <a:srgbClr val="A9B8CA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6B408E-2E2A-4469-99F8-7317DC2D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25" y="4333875"/>
            <a:ext cx="1770063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D2035"/>
          </a:solidFill>
          <a:ln xmlns:a="http://schemas.openxmlformats.org/drawingml/2006/main" w="9525">
            <a:solidFill>
              <a:srgbClr val="2144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874162-2EBB-4E50-AAB9-7B71CB0F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7525" y="4448175"/>
            <a:ext cx="154146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C7F7"/>
                </a:solidFill>
              </a:defRPr>
            </a:pPr>
            <a:r>
              <a:rPr sz="975" b="1">
                <a:solidFill>
                  <a:srgbClr val="25C7F7"/>
                </a:solidFill>
              </a:rPr>
              <a:t>Gold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2602E6-4C26-4B97-8869-531D610E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7525" y="4733925"/>
            <a:ext cx="15414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8CA"/>
                </a:solidFill>
              </a:defRPr>
            </a:pPr>
            <a:r>
              <a:rPr sz="788" b="0">
                <a:solidFill>
                  <a:srgbClr val="A9B8CA"/>
                </a:solidFill>
              </a:rPr>
              <a:t>DuckDB KPIs as Parquet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0145FA-E8EE-4470-AE27-A85C9CF8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813" y="4695825"/>
            <a:ext cx="13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9B8CA"/>
                </a:solidFill>
              </a:defRPr>
            </a:pPr>
            <a:r>
              <a:rPr sz="1275" b="1">
                <a:solidFill>
                  <a:srgbClr val="A9B8CA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B0A640-0D3C-488B-979D-E8FF839A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8063" y="4333875"/>
            <a:ext cx="1770063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221B13"/>
          </a:solidFill>
          <a:ln xmlns:a="http://schemas.openxmlformats.org/drawingml/2006/main" w="9525">
            <a:solidFill>
              <a:srgbClr val="AD683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4F3391-2C39-4858-97AF-6558A43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363" y="4448175"/>
            <a:ext cx="154146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B84B"/>
                </a:solidFill>
              </a:defRPr>
            </a:pPr>
            <a:r>
              <a:rPr sz="975" b="1">
                <a:solidFill>
                  <a:srgbClr val="F6B84B"/>
                </a:solidFill>
              </a:rPr>
              <a:t>ML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A68ED7-113A-470B-8846-F913BE13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363" y="4733925"/>
            <a:ext cx="15414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8CA"/>
                </a:solidFill>
              </a:defRPr>
            </a:pPr>
            <a:r>
              <a:rPr sz="788" b="0">
                <a:solidFill>
                  <a:srgbClr val="A9B8CA"/>
                </a:solidFill>
              </a:rPr>
              <a:t>Training artifacts and feature insights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613ED6-083F-4ACF-88A0-3884CB30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9B8CA"/>
                </a:solidFill>
              </a:defRPr>
            </a:pPr>
            <a:r>
              <a:rPr sz="1013" b="0">
                <a:solidFill>
                  <a:srgbClr val="A9B8CA"/>
                </a:solidFill>
              </a:rPr>
              <a:t>Reference alignment: medallion architecture improves quality progressively from raw to validated to business-ready data; Gold is optimized for analytics and ML consumption.</a:t>
            </a:r>
          </a:p>
        </p:txBody>
      </p:sp>
    </p:spTree>
    <p:extLst>
      <p:ext uri="{BB962C8B-B14F-4D97-AF65-F5344CB8AC3E}">
        <p14:creationId xmlns:p14="http://schemas.microsoft.com/office/powerpoint/2010/main" val="13212639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1CBD7F-EEDC-4415-9C43-23E291F9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20D06-A531-4948-BF22-52B12F36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2E9CA-9272-4439-A1B4-D5597200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91E7E-CB31-46CF-81D4-A80C91C5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DATABASE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CAB19-0E7E-4D53-8953-5A5C1795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ER Diagram and Relational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19274-DE9A-4675-8098-1768C78C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F5227-8A6B-4EB0-8E9C-EFF4EA86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The OLTP database is normalized to protect operational integrity before data enters the lakehouse.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4c23c4eb7c4f86"/>
          <a:stretch xmlns:a="http://schemas.openxmlformats.org/drawingml/2006/main"/>
        </p:blipFill>
        <p:spPr>
          <a:xfrm xmlns:a="http://schemas.openxmlformats.org/drawingml/2006/main">
            <a:off x="523875" y="1414198"/>
            <a:ext cx="6762750" cy="4696354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EBAF2F-7810-4EA3-98C1-358161E3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381125"/>
            <a:ext cx="3857625" cy="476250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E4F988-DE8A-47D7-949F-750DE8DE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38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C7F7"/>
                </a:solidFill>
              </a:defRPr>
            </a:pPr>
            <a:r>
              <a:rPr sz="750" b="1">
                <a:solidFill>
                  <a:srgbClr val="25C7F7"/>
                </a:solidFill>
              </a:rPr>
              <a:t>SCHEMA GROUPS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9E4D1-DFDE-4960-8416-E1ED3A3D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050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D29996-1915-4E07-9387-AB1ABB1A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2981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Candidate core: candidates, education, login logs, audit log.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7CB8EB-3E6D-4E8E-AD6E-05C6B81D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384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F140EC-21E5-431F-9323-F8690247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28900"/>
            <a:ext cx="2981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Hiring and evaluation: jobs, stages, interviewers, schedules, feedback, responses.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599208-0D3F-4308-8F4C-66FF227B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718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71F7AB-01F9-41E1-8A64-2C1D3354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62300"/>
            <a:ext cx="2981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Administration: recruiters and reference tables.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E110C9-66FE-4FC2-883C-418707AE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052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D82070-018D-49FA-B78D-397B5DA1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95700"/>
            <a:ext cx="2981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Integrity: UUID primary keys, foreign keys, unique emails and rating CHECK constraint.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C4B00F-2A7F-441F-ADC5-B8BC70BA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386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7D8837-EDC5-4A07-81E1-E14F8CCE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29100"/>
            <a:ext cx="2981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Analytical seed: login logs and feedback become ML features and Gold KPIs.</a:t>
            </a:r>
          </a:p>
        </p:txBody>
      </p:sp>
    </p:spTree>
    <p:extLst>
      <p:ext uri="{BB962C8B-B14F-4D97-AF65-F5344CB8AC3E}">
        <p14:creationId xmlns:p14="http://schemas.microsoft.com/office/powerpoint/2010/main" val="14625109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DFEA7C-BA4E-405D-9E0E-CB3B4A83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E96372-B7BA-47D2-BF59-655B84FD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E8EAF-E4CD-419E-BFDC-9269C118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1B6913-8284-4EB1-9624-5C857204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OLTP LAYER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E1F43-6487-4616-9273-72DC0F09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PostgreSQL Operational 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05F49E-0674-4DA6-B1CB-8F4E6062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F2FB4-A3B8-4744-BB4F-3B11E8D7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PostgreSQL is used as the transactional source of truth; the lakehouse is not a replacement for the normalized application database.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9084A-EE36-4624-B61D-8DE163EA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5A6A8B-373F-448C-8EC0-392E0F71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C7F7"/>
                </a:solidFill>
              </a:defRPr>
            </a:pPr>
            <a:r>
              <a:rPr sz="750" b="1">
                <a:solidFill>
                  <a:srgbClr val="25C7F7"/>
                </a:solidFill>
              </a:rPr>
              <a:t>WHY POSTGRESQL HERE?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4704C8-A592-4877-9362-372D754E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955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D21D07-A1DF-420B-A5DD-6DF2D330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Recruitment workflow needs row-level consistency and relational integrity.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E0B3CF-D111-4D4B-A2BB-7B214F29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479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08EADB-5F03-4489-BF49-360F5044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Foreign keys connect candidate, schedule, job, interviewer and feedback records.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9855E3-F6F2-4548-9FB4-7500C452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04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06300B-85B5-46E8-9F55-F2A2B1E9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Constraints prevent invalid operational values before they reach analytics.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D7D1A1-82CD-4561-8477-1C96726F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8E5A74-148F-4195-80FB-18C38AFD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The schema remains understandable for application queries and migrations.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70E1A8-67AE-4398-AD6A-E9B3FBC4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19250"/>
            <a:ext cx="7239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07142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155735-38F7-4BB0-BA81-A6BF1E17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85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D689"/>
                </a:solidFill>
              </a:defRPr>
            </a:pPr>
            <a:r>
              <a:rPr sz="750" b="1">
                <a:solidFill>
                  <a:srgbClr val="25D689"/>
                </a:solidFill>
              </a:rPr>
              <a:t>REPRESENTATIVE SCHEMA CHOICES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014D74-BCF2-4FC6-9E34-4BA937ED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86000"/>
            <a:ext cx="63341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CFF"/>
                </a:solidFill>
              </a:defRPr>
            </a:pPr>
            <a:r>
              <a:rPr sz="1200" b="0">
                <a:solidFill>
                  <a:srgbClr val="D8ECFF"/>
                </a:solidFill>
              </a:rPr>
              <a:t>candidates(candidate_id UUID PRIMARY KEY, email TEXT UNIQUE NOT NULL, expected_salary NUMERIC)</a:t>
            </a:r>
          </a:p>
          <a:p xmlns:a="http://schemas.openxmlformats.org/drawingml/2006/main">
            <a:pPr algn="l">
              <a:defRPr sz="1200" b="0">
                <a:solidFill>
                  <a:srgbClr val="D8ECFF"/>
                </a:solidFill>
              </a:defRPr>
            </a:pPr>
            <a:r>
              <a:rPr sz="1200" b="0">
                <a:solidFill>
                  <a:srgbClr val="D8ECFF"/>
                </a:solidFill>
              </a:rPr>
              <a:t>interview_schedules(schedule_id UUID PRIMARY KEY, candidate_id FK, job_id FK, interviewer_id FK, stage_id FK)</a:t>
            </a:r>
          </a:p>
          <a:p xmlns:a="http://schemas.openxmlformats.org/drawingml/2006/main">
            <a:pPr algn="l">
              <a:defRPr sz="1200" b="0">
                <a:solidFill>
                  <a:srgbClr val="D8ECFF"/>
                </a:solidFill>
              </a:defRPr>
            </a:pPr>
            <a:r>
              <a:rPr sz="1200" b="0">
                <a:solidFill>
                  <a:srgbClr val="D8ECFF"/>
                </a:solidFill>
              </a:rPr>
              <a:t>interview_feedback(feedback_id SERIAL PRIMARY KEY, schedule_id FK, rating INTEGER CHECK rating between 1 and 5)</a:t>
            </a:r>
          </a:p>
          <a:p xmlns:a="http://schemas.openxmlformats.org/drawingml/2006/main">
            <a:pPr algn="l">
              <a:defRPr sz="1200" b="0">
                <a:solidFill>
                  <a:srgbClr val="D8ECFF"/>
                </a:solidFill>
              </a:defRPr>
            </a:pPr>
            <a:r>
              <a:rPr sz="1200" b="0">
                <a:solidFill>
                  <a:srgbClr val="D8ECFF"/>
                </a:solidFill>
              </a:rPr>
              <a:t>login_logs(log_id SERIAL PRIMARY KEY, candidate_id FK, login_timestamp)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28347E-3B35-4C8A-83BD-E02D6EFB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7200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8CA"/>
                </a:solidFill>
              </a:defRPr>
            </a:pPr>
            <a:r>
              <a:rPr sz="975" b="0">
                <a:solidFill>
                  <a:srgbClr val="A9B8CA"/>
                </a:solidFill>
              </a:rPr>
              <a:t>Reference used: PostgreSQL constraints documentation confirms CHECK, NOT NULL, UNIQUE, PRIMARY KEY and FOREIGN KEY controls for table integrity.</a:t>
            </a:r>
          </a:p>
        </p:txBody>
      </p:sp>
    </p:spTree>
    <p:extLst>
      <p:ext uri="{BB962C8B-B14F-4D97-AF65-F5344CB8AC3E}">
        <p14:creationId xmlns:p14="http://schemas.microsoft.com/office/powerpoint/2010/main" val="14241094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DB6C77-3FFC-4336-9D49-9286DE86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C71872-2F94-4364-8DE8-42C7BD98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19C51-47F6-407D-95C4-03758974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CAD436-15DE-49A9-A837-E37B10C1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LAKEHOUSE RATIONALE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1AAB4-0624-42D4-88DC-61DB394C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Why Medallion Architecture?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80238-457B-410A-8AB1-A1FCC6C5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8B346-C764-454F-B7B9-4F0FCC2A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The project uses Bronze, Silver and Gold layers because each stage has a different responsibility and audience.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5CEF8F-8AB0-4060-83BE-6214CAB5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10858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A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2402DB-3FB9-4253-83CA-C6D30D07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43075"/>
            <a:ext cx="3448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F7FB"/>
                </a:solidFill>
              </a:defRPr>
            </a:pPr>
            <a:r>
              <a:rPr sz="900" b="1">
                <a:solidFill>
                  <a:srgbClr val="F5F7FB"/>
                </a:solidFill>
              </a:rPr>
              <a:t>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26D701-28AA-472D-ACAB-CA3ADC13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43075"/>
            <a:ext cx="3448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F7FB"/>
                </a:solidFill>
              </a:defRPr>
            </a:pPr>
            <a:r>
              <a:rPr sz="900" b="1">
                <a:solidFill>
                  <a:srgbClr val="F5F7FB"/>
                </a:solidFill>
              </a:rPr>
              <a:t>TalentFlow implementation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F31A48-26A1-4134-BE81-DD8D923D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43075"/>
            <a:ext cx="3448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F7FB"/>
                </a:solidFill>
              </a:defRPr>
            </a:pPr>
            <a:r>
              <a:rPr sz="900" b="1">
                <a:solidFill>
                  <a:srgbClr val="F5F7FB"/>
                </a:solidFill>
              </a:rPr>
              <a:t>Reference-backed purpose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F6E372-E1E6-430B-8CEE-B9430C46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10858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31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2C599A-ECB3-4FB8-AC14-C8A63B4E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24125"/>
            <a:ext cx="3448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Bronze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806470-B0BB-46CC-84EB-8FCA56B5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24125"/>
            <a:ext cx="3448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Extract each PostgreSQL table to raw versioned Parquet plus latest copy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83AA29-2A7D-42E5-A35F-F50FE76D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24125"/>
            <a:ext cx="3448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Preserve source fidelity, enable reprocessing and audit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3EF32E-0FAA-4442-A5D5-9EC7FF70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3D7406-F06F-45E4-93C6-8C63044D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05175"/>
            <a:ext cx="3448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Silver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DB6A3D-5B24-4B27-ABD5-6FA502B2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05175"/>
            <a:ext cx="3448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Encrypt PII, normalize UUIDs, apply row_hash and SCD2 current flag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94E574-BA75-4F9D-8F08-3CAC349A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05175"/>
            <a:ext cx="3448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Clean, validate, deduplicate and enrich detailed 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17D86B-3626-4C9E-A8BC-B48F5231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0858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31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822C51-7B48-405A-B099-E24A69D2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86225"/>
            <a:ext cx="3448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Gold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46465E-6F33-43CC-8B3B-64A17B05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86225"/>
            <a:ext cx="3448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Build business KPIs and ML feature tables using DuckDB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732F45-6C87-4DDD-A430-613808BD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86225"/>
            <a:ext cx="3448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Serve domain-specific analytics, dashboards and ML-ready datasets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5F0066-20C3-4821-A7F8-9C4C2217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B84B"/>
                </a:solidFill>
              </a:defRPr>
            </a:pPr>
            <a:r>
              <a:rPr sz="1275" b="1">
                <a:solidFill>
                  <a:srgbClr val="F6B84B"/>
                </a:solidFill>
              </a:rPr>
              <a:t>Design comparison: direct OLTP reporting is simpler, but it mixes operational load with analytics, loses historical versions, and makes privacy controls harder to isolate.</a:t>
            </a:r>
          </a:p>
        </p:txBody>
      </p:sp>
    </p:spTree>
    <p:extLst>
      <p:ext uri="{BB962C8B-B14F-4D97-AF65-F5344CB8AC3E}">
        <p14:creationId xmlns:p14="http://schemas.microsoft.com/office/powerpoint/2010/main" val="15773692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6A6698-9C67-4338-9338-7F262BE8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2B1758-9977-4726-9A03-B1210B12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2F957-9E22-4333-84E3-7376DD20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BFFD43-3715-4AD2-9307-D01DFEB6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AZURE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1AA2F-F109-4D6A-891B-57CDFDC4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Visual Evidence: Azure Lakehouse Containers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146664-0C7D-420A-AE21-A3E7071D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4E5227-B04C-41B6-8015-35216F95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The Azure storage account shows the medallion layout implemented as separate private containers for Bronze, Silver and Gold.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C0C2AC-C6C2-4098-AA4C-E29F472D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5353050" cy="2733675"/>
          </a:xfrm>
          <a:prstGeom xmlns:a="http://schemas.openxmlformats.org/drawingml/2006/main" prst="roundRect">
            <a:avLst>
              <a:gd name="adj" fmla="val 2787"/>
            </a:avLst>
          </a:prstGeom>
          <a:solidFill xmlns:a="http://schemas.openxmlformats.org/drawingml/2006/main">
            <a:srgbClr val="081522"/>
          </a:solidFill>
          <a:ln xmlns:a="http://schemas.openxmlformats.org/drawingml/2006/main" w="9525">
            <a:solidFill>
              <a:srgbClr val="22415C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27075af4b044de"/>
          <a:srcRect xmlns:a="http://schemas.openxmlformats.org/drawingml/2006/main" l="21455" t="0" r="214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381125"/>
            <a:ext cx="5238750" cy="2333625"/>
          </a:xfrm>
          <a:prstGeom xmlns:a="http://schemas.openxmlformats.org/drawingml/2006/main" prst="roundRect">
            <a:avLst>
              <a:gd name="adj" fmla="val 3265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0028DD-BB5F-4065-A353-E9ED828A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516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A9B8CA"/>
                </a:solidFill>
              </a:defRPr>
            </a:pPr>
            <a:r>
              <a:rPr sz="863" b="0">
                <a:solidFill>
                  <a:srgbClr val="A9B8CA"/>
                </a:solidFill>
              </a:rPr>
              <a:t>Storage account containers: bronze, silver and gold.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8D5F1D-605C-4A30-81C7-E8A42C14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23975"/>
            <a:ext cx="5353050" cy="2733675"/>
          </a:xfrm>
          <a:prstGeom xmlns:a="http://schemas.openxmlformats.org/drawingml/2006/main" prst="roundRect">
            <a:avLst>
              <a:gd name="adj" fmla="val 2787"/>
            </a:avLst>
          </a:prstGeom>
          <a:solidFill xmlns:a="http://schemas.openxmlformats.org/drawingml/2006/main">
            <a:srgbClr val="081522"/>
          </a:solidFill>
          <a:ln xmlns:a="http://schemas.openxmlformats.org/drawingml/2006/main" w="9525">
            <a:solidFill>
              <a:srgbClr val="22415C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2110756071475b"/>
          <a:srcRect xmlns:a="http://schemas.openxmlformats.org/drawingml/2006/main" l="5243" t="0" r="52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381125"/>
            <a:ext cx="5238750" cy="2333625"/>
          </a:xfrm>
          <a:prstGeom xmlns:a="http://schemas.openxmlformats.org/drawingml/2006/main" prst="roundRect">
            <a:avLst>
              <a:gd name="adj" fmla="val 3265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5175BF-5FEB-4734-B1FB-1176E952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29050"/>
            <a:ext cx="516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A9B8CA"/>
                </a:solidFill>
              </a:defRPr>
            </a:pPr>
            <a:r>
              <a:rPr sz="863" b="0">
                <a:solidFill>
                  <a:srgbClr val="A9B8CA"/>
                </a:solidFill>
              </a:rPr>
              <a:t>Bronze container stores raw table folders from PostgreSQL extraction.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F68FAC-14E9-422B-96C4-87E9941B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29100"/>
            <a:ext cx="535305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081522"/>
          </a:solidFill>
          <a:ln xmlns:a="http://schemas.openxmlformats.org/drawingml/2006/main" w="9525">
            <a:solidFill>
              <a:srgbClr val="22415C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573305b8d4bb6"/>
          <a:srcRect xmlns:a="http://schemas.openxmlformats.org/drawingml/2006/main" l="0" t="12187" r="0" b="121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286250"/>
            <a:ext cx="5238750" cy="1619250"/>
          </a:xfrm>
          <a:prstGeom xmlns:a="http://schemas.openxmlformats.org/drawingml/2006/main" prst="roundRect">
            <a:avLst>
              <a:gd name="adj" fmla="val 4706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C626D3-67E7-496A-9DC8-FC4DA81B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516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A9B8CA"/>
                </a:solidFill>
              </a:defRPr>
            </a:pPr>
            <a:r>
              <a:rPr sz="863" b="0">
                <a:solidFill>
                  <a:srgbClr val="A9B8CA"/>
                </a:solidFill>
              </a:rPr>
              <a:t>Silver container stores secure/transformed table folders, including *_secure outputs.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161F7C-E313-4CE7-8862-9644F772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29100"/>
            <a:ext cx="535305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081522"/>
          </a:solidFill>
          <a:ln xmlns:a="http://schemas.openxmlformats.org/drawingml/2006/main" w="9525">
            <a:solidFill>
              <a:srgbClr val="22415C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c923e8f1334c9a"/>
          <a:srcRect xmlns:a="http://schemas.openxmlformats.org/drawingml/2006/main" l="63" t="0" r="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4286250"/>
            <a:ext cx="5238750" cy="1619250"/>
          </a:xfrm>
          <a:prstGeom xmlns:a="http://schemas.openxmlformats.org/drawingml/2006/main" prst="roundRect">
            <a:avLst>
              <a:gd name="adj" fmla="val 4706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9FB12E-A174-478A-B5F9-BED7C418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019800"/>
            <a:ext cx="516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A9B8CA"/>
                </a:solidFill>
              </a:defRPr>
            </a:pPr>
            <a:r>
              <a:rPr sz="863" b="0">
                <a:solidFill>
                  <a:srgbClr val="A9B8CA"/>
                </a:solidFill>
              </a:rPr>
              <a:t>Gold container stores business-facing KPI dataset folders.</a:t>
            </a:r>
          </a:p>
        </p:txBody>
      </p:sp>
    </p:spTree>
    <p:extLst>
      <p:ext uri="{BB962C8B-B14F-4D97-AF65-F5344CB8AC3E}">
        <p14:creationId xmlns:p14="http://schemas.microsoft.com/office/powerpoint/2010/main" val="6243375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C451E1-A7C8-4D71-A74E-E2C5EB1E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71440-5068-41E4-9004-8C6BD5E1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0C9C6-7CCC-4C7E-A57B-99097A3A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93C32-19BD-42DF-A84C-6C05A140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GOLD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3EFE5-6980-48BE-90CB-50F07069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Visual Evidence: Gold Versioned Parquet Outputs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D711C1-68B5-4DD8-8E41-20397134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0077C-409F-4493-A892-E9ED9ACD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Gold outputs are written as versioned Parquet snapshots and latest copies, which supports repeated demo runs and reproducibility.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D5852-8008-4DA8-A768-EE9449E7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54483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081522"/>
          </a:solidFill>
          <a:ln xmlns:a="http://schemas.openxmlformats.org/drawingml/2006/main" w="9525">
            <a:solidFill>
              <a:srgbClr val="22415C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7e758fe834488f"/>
          <a:srcRect xmlns:a="http://schemas.openxmlformats.org/drawingml/2006/main" l="13818" t="0" r="138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428750"/>
            <a:ext cx="5334000" cy="2762250"/>
          </a:xfrm>
          <a:prstGeom xmlns:a="http://schemas.openxmlformats.org/drawingml/2006/main" prst="roundRect">
            <a:avLst>
              <a:gd name="adj" fmla="val 2759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BE9E16-84AE-412F-8BFA-AD193191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525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A9B8CA"/>
                </a:solidFill>
              </a:defRPr>
            </a:pPr>
            <a:r>
              <a:rPr sz="863" b="0">
                <a:solidFill>
                  <a:srgbClr val="A9B8CA"/>
                </a:solidFill>
              </a:rPr>
              <a:t>salary_benchmarks has multiple run_datetime folders plus latest.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E9B569-3646-43DC-A1BA-A890C5B5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371600"/>
            <a:ext cx="54483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081522"/>
          </a:solidFill>
          <a:ln xmlns:a="http://schemas.openxmlformats.org/drawingml/2006/main" w="9525">
            <a:solidFill>
              <a:srgbClr val="22415C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d0f525326b43b9"/>
          <a:srcRect xmlns:a="http://schemas.openxmlformats.org/drawingml/2006/main" l="24064" t="0" r="240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1428750"/>
            <a:ext cx="5334000" cy="2762250"/>
          </a:xfrm>
          <a:prstGeom xmlns:a="http://schemas.openxmlformats.org/drawingml/2006/main" prst="roundRect">
            <a:avLst>
              <a:gd name="adj" fmla="val 2759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2C4065-EC8E-4548-B580-E4C7FAF4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305300"/>
            <a:ext cx="525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A9B8CA"/>
                </a:solidFill>
              </a:defRPr>
            </a:pPr>
            <a:r>
              <a:rPr sz="863" b="0">
                <a:solidFill>
                  <a:srgbClr val="A9B8CA"/>
                </a:solidFill>
              </a:rPr>
              <a:t>Inside a run folder, the Gold parquet file is stored as a block blob.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693CF6-92C7-4D22-BB94-640F661B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10382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7142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03CF82-6B6E-4A5D-9AB6-C6502BE7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0540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Presentation talking point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B03A32-5EA7-43CB-B919-F3F6886F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06730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9B8CA"/>
                </a:solidFill>
              </a:defRPr>
            </a:pPr>
            <a:r>
              <a:rPr sz="1013" b="0">
                <a:solidFill>
                  <a:srgbClr val="A9B8CA"/>
                </a:solidFill>
              </a:rPr>
              <a:t>This proves that the Gold layer is lake-first: each KPI dataset is materialized to Azure storage with traceable runtime partitions, and PostgreSQL publishing is only an optional dashboard cache.</a:t>
            </a:r>
          </a:p>
        </p:txBody>
      </p:sp>
    </p:spTree>
    <p:extLst>
      <p:ext uri="{BB962C8B-B14F-4D97-AF65-F5344CB8AC3E}">
        <p14:creationId xmlns:p14="http://schemas.microsoft.com/office/powerpoint/2010/main" val="11622839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67CABA-CF15-4020-9A41-55C867BF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D4B31-8401-404D-A0D7-D44CC6C4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B5627-71F4-4772-B52C-2C43EE66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AD99E0-B89E-4CA7-9E80-9AC436CB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BRONZE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4E8FC-F550-4B52-B381-679E4D82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Bronze Layer: Raw Ingestion and Runtime Lineage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E7C2A-C9EE-44D8-A9E5-5F452F44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5E8B4-78E3-4480-A521-D6D26923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Bronze is intentionally close to the source. It captures raw extracts and ties every table to the same run identifier.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AEB8BF-F7AD-4519-B9D0-6FE6F8BD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5143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9DADA4-7FF9-4319-A853-817AB5CC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C7F7"/>
                </a:solidFill>
              </a:defRPr>
            </a:pPr>
            <a:r>
              <a:rPr sz="750" b="1">
                <a:solidFill>
                  <a:srgbClr val="25C7F7"/>
                </a:solidFill>
              </a:rPr>
              <a:t>IMPLEMENTATION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48E550-3DCB-443A-8A12-5B93A240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955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ACBFE3-4F06-4279-9F6A-F423F9A9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4124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Prefect task reads each configured PostgreSQL table with pandas SQL extraction.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5E6911-FCA7-473A-A6CA-E9D2B542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289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409A0-620C-4AE3-96D1-6490AF19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4124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Each table is written to Azure Blob Storage as Parquet.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030C20-C745-4AEE-8F5F-EDE723A0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623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010550-8E9C-446F-BD0D-6B19D4A4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4124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Every run writes a versioned path and a latest copy.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68E725-180E-4988-AECA-8D177838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957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C13F0D-8B3F-4048-BE07-05EBFFE8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86200"/>
            <a:ext cx="4124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Shared run_datetime links Bronze, Silver and Gold outputs from the same execution.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4BE93D-1CDD-49CC-9A93-0B41AF5E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429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07142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FB0FB1-76EA-477F-AD0E-C6BCA057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85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D689"/>
                </a:solidFill>
              </a:defRPr>
            </a:pPr>
            <a:r>
              <a:rPr sz="750" b="1">
                <a:solidFill>
                  <a:srgbClr val="25D689"/>
                </a:solidFill>
              </a:rPr>
              <a:t>PATH CONTRACT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305974-216A-4DE2-80C7-42F336A9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86000"/>
            <a:ext cx="4572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CFF"/>
                </a:solidFill>
              </a:defRPr>
            </a:pPr>
            <a:r>
              <a:rPr sz="1200" b="0">
                <a:solidFill>
                  <a:srgbClr val="D8ECFF"/>
                </a:solidFill>
              </a:rPr>
              <a:t>bronze/&lt;table_name&gt;/run_datetime=YYYYMMDD_HHMMSS/*.parquet</a:t>
            </a:r>
          </a:p>
          <a:p xmlns:a="http://schemas.openxmlformats.org/drawingml/2006/main">
            <a:pPr algn="l">
              <a:defRPr sz="1200" b="0">
                <a:solidFill>
                  <a:srgbClr val="D8ECFF"/>
                </a:solidFill>
              </a:defRPr>
            </a:pPr>
            <a:r>
              <a:rPr sz="1200" b="0">
                <a:solidFill>
                  <a:srgbClr val="D8ECFF"/>
                </a:solidFill>
              </a:rPr>
              <a:t>bronze/&lt;table_name&gt;/latest/&lt;table_name&gt;.parquet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D8ECFF"/>
                </a:solidFill>
              </a:defRPr>
            </a:pPr>
            <a:r>
              <a:rPr sz="1200" b="0">
                <a:solidFill>
                  <a:srgbClr val="D8ECFF"/>
                </a:solidFill>
              </a:rPr>
              <a:t>The same run_datetime is passed into Silver and Gold, giving traceability when demo runs execute every 2 minutes.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DA7F17-56C9-4E49-B3B5-6D4999C8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62450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8CA"/>
                </a:solidFill>
              </a:defRPr>
            </a:pPr>
            <a:r>
              <a:rPr sz="975" b="0">
                <a:solidFill>
                  <a:srgbClr val="A9B8CA"/>
                </a:solidFill>
              </a:rPr>
              <a:t>Azure Data Lake Storage is built on Blob Storage and supports hierarchical directory organization for data lake workloads.</a:t>
            </a:r>
          </a:p>
        </p:txBody>
      </p:sp>
    </p:spTree>
    <p:extLst>
      <p:ext uri="{BB962C8B-B14F-4D97-AF65-F5344CB8AC3E}">
        <p14:creationId xmlns:p14="http://schemas.microsoft.com/office/powerpoint/2010/main" val="175408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C416E3-0026-482B-BA77-468E81BB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0EC9C-56C6-40B0-9287-97D6ABCB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5A749-426D-4709-9D00-66F69B6D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FBADEE-7966-4E10-9852-0CE54881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SILVER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08E52-A874-4FE5-BE12-7A810939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Silver Layer: PII Protection and SCD Type 2 History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3AC50-E4B3-4EFC-BFBB-71D793B8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DC4E85-D919-4FF8-A065-F44416E4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Silver is where TalentFlow AI becomes analytically trustworthy: sensitive data is protected and changed candidate profiles are versioned.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31CAC5-2C07-4CA0-ABB4-1C485564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3429000" cy="39052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13A7E2-F0D0-434F-9177-45A5527E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D689"/>
                </a:solidFill>
              </a:defRPr>
            </a:pPr>
            <a:r>
              <a:rPr sz="750" b="1">
                <a:solidFill>
                  <a:srgbClr val="25D689"/>
                </a:solidFill>
              </a:rPr>
              <a:t>PRIVACY CONTROLS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011CE-023A-47F2-8693-6A5AEBC8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02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DFA415-1B16-4E31-A71D-E30599D7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2552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PII columns are encrypted before secure Parquet output.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12933D-F220-4A66-A0AD-250D7B89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289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6DDAC6-3864-41FA-8381-864A0622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2552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Numeric salary fields are cast to object/string before ciphertext assignment.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63CEE5-37FC-499B-8741-C291FB5D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575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183F14-9C7F-46C1-8E93-11A22DD4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2552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Gold decrypts only the salary value required for aggregate KPI calculation.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DC5FCE-410D-4284-A3C3-E0F5AE9C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24000"/>
            <a:ext cx="3429000" cy="39052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8D075B-D586-4574-AAE1-F21DD4B1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907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C7F7"/>
                </a:solidFill>
              </a:defRPr>
            </a:pPr>
            <a:r>
              <a:rPr sz="750" b="1">
                <a:solidFill>
                  <a:srgbClr val="25C7F7"/>
                </a:solidFill>
              </a:rPr>
              <a:t>SCD2 MECHANISM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0D183C-4011-44FE-823A-5DEA625A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002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80928D-E80D-4B58-ADAC-E60DA31E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9075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candidate_id is normalized even when Parquet returns UUID bytes.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FB91F0-D96E-4D39-B75E-997874DD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336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DCD2F5-3876-4C69-9BE1-63185ED1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2415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row_hash detects changes across tracked attributes.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E04FDA-DEC0-44D6-9142-26573A5D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670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FAB1A9-1382-4A98-9458-E4DF1D9B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5755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Changed keys close previous rows with end_date and is_current = false.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3F7625-1FE2-46FC-B5C7-4183B2C4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004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21B2FB-DC4D-4335-BB62-3B1B0B8C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9095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New versions start with current timestamp and is_current = true.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70F89C-548C-449E-899A-8D75DB98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3429000" cy="39052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5783BA-EBA9-4FFC-9D60-FF36E226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907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6B84B"/>
                </a:solidFill>
              </a:defRPr>
            </a:pPr>
            <a:r>
              <a:rPr sz="750" b="1">
                <a:solidFill>
                  <a:srgbClr val="F6B84B"/>
                </a:solidFill>
              </a:rPr>
              <a:t>WHY IT MATTERS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A1B010-D127-482A-892D-B9A578C3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002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53A0BF-7608-4147-9319-8B528BB2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2552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Recruitment analytics need the state of the candidate at the time of decisions.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F1C170-DBF7-4A4E-A2C6-B0095CBC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289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11CFBA-BFAF-4D07-A814-4E287724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19400"/>
            <a:ext cx="2552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Historical profile movement supports longitudinal analysis.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4C73EA-C70A-4246-866E-C477B91A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575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1D3B60-FD27-420B-B9E2-F39B3FB0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48050"/>
            <a:ext cx="2552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Kimball-style dimensional thinking values clear grain and time-variant history.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229BD8-0D5E-4992-BAF9-49CF5348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1038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7FB"/>
                </a:solidFill>
              </a:defRPr>
            </a:pPr>
            <a:r>
              <a:rPr sz="1200" b="0">
                <a:solidFill>
                  <a:srgbClr val="F5F7FB"/>
                </a:solidFill>
              </a:rPr>
              <a:t>Mid-term debugging outcome: the pipeline was fixed to handle encrypted strings in numeric columns and UUID byte decoding in SCD2 comparison.</a:t>
            </a:r>
          </a:p>
        </p:txBody>
      </p:sp>
    </p:spTree>
    <p:extLst>
      <p:ext uri="{BB962C8B-B14F-4D97-AF65-F5344CB8AC3E}">
        <p14:creationId xmlns:p14="http://schemas.microsoft.com/office/powerpoint/2010/main" val="1236768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6EAF30-46A8-41B0-BB28-AF965226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591D8-8DBD-4976-8E8D-A52D0C62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7FF76-8D74-4109-9621-D749824C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FA2E41-C267-488F-9A69-290ADC8C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GOLD ANALYTICS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D82C39-354E-47B6-8373-C48F5F46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Gold Layer: Business-Facing Analytical Datasets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2C13F-99BB-4E3B-A46B-0056F946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8344C-86A7-4242-B000-E8148A93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Gold converts secure Silver data into purpose-built recruitment KPIs that can be consumed by dashboards, BI tools and ML workflows.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82A2D6-E7E6-4935-B8D3-F6850CDF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04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A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5F01C6-27FC-4F24-B040-FA5C2B67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51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F7FB"/>
                </a:solidFill>
              </a:defRPr>
            </a:pPr>
            <a:r>
              <a:rPr sz="900" b="1">
                <a:solidFill>
                  <a:srgbClr val="F5F7FB"/>
                </a:solidFill>
              </a:rPr>
              <a:t>Gold dataset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3C811C-EC70-4C4F-8450-9F1CA124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1657350"/>
            <a:ext cx="351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F7FB"/>
                </a:solidFill>
              </a:defRPr>
            </a:pPr>
            <a:r>
              <a:rPr sz="900" b="1">
                <a:solidFill>
                  <a:srgbClr val="F5F7FB"/>
                </a:solidFill>
              </a:rPr>
              <a:t>Business question answered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8DBDE7-0773-42BA-83BA-7EAD12E7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1657350"/>
            <a:ext cx="351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F7FB"/>
                </a:solidFill>
              </a:defRPr>
            </a:pPr>
            <a:r>
              <a:rPr sz="900" b="1">
                <a:solidFill>
                  <a:srgbClr val="F5F7FB"/>
                </a:solidFill>
              </a:rPr>
              <a:t>Implementation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90D173-3FBA-4CEE-992C-A3C20A29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104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31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9C6AEA-CFA0-42EE-850D-6E650326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51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city_talent_score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DD6158-AE1A-4D0A-9A78-CE0ADC48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266950"/>
            <a:ext cx="351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Where is candidate density high and what is avg salary by city?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AA7EF6-4EE2-4C6B-89E7-CF6B3545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266950"/>
            <a:ext cx="351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COUNT + AVG expected salary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01296C-6A96-43E5-889B-9291FC3A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90825"/>
            <a:ext cx="1104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365D6A-8DCF-44EA-BE6E-A25BAD08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51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salary_benchmarks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39C972-2681-4CCC-B9C1-55835756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876550"/>
            <a:ext cx="351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How do expected salaries vary by degree?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1611BF-104D-493C-A4DF-A02925BF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876550"/>
            <a:ext cx="351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Join candidates with education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8EA71A-B048-4F92-8AE4-8AD8EABD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00425"/>
            <a:ext cx="1104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31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622DDD-D54D-419D-BD63-3222135D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351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candidate_engagement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D58702-9378-4EF6-BF04-669A269E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3486150"/>
            <a:ext cx="351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Which candidates are active?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D1E124-8E28-404E-B4AB-EE2A4487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3486150"/>
            <a:ext cx="351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Count login_logs per candidate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2C4438-9AAC-4737-9229-13DF5454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0025"/>
            <a:ext cx="1104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990ABD-84DC-4103-85A7-D2C6B52D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51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interview_pipeline_funnel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A63278-F4D4-4D35-9623-94A22957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4095750"/>
            <a:ext cx="351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How many interviews by role, stage and status?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E75C44-C28F-42CF-A2A6-DB5367A0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4095750"/>
            <a:ext cx="351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Join schedules, jobs and stages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67B17E-907B-44DA-A301-C3FAE930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9625"/>
            <a:ext cx="1104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31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DF741E-4591-4418-9D3A-EE89F58E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351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job_hire_rate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16541F-ABE5-4DC1-89D6-36D7FA3C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4705350"/>
            <a:ext cx="351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Which roles convert feedback into hires?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26D46F-69B2-47C5-8F57-4424C599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4705350"/>
            <a:ext cx="351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Hire count / total feedback percentage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BEC5AA-25DB-49B4-9A3B-2C28304B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Reference alignment: Kimball/Ross dimensional modeling focuses on business processes, grain, dimensions and facts. Gold tables in this project are intentionally domain-specific and query-ready.</a:t>
            </a:r>
          </a:p>
        </p:txBody>
      </p:sp>
    </p:spTree>
    <p:extLst>
      <p:ext uri="{BB962C8B-B14F-4D97-AF65-F5344CB8AC3E}">
        <p14:creationId xmlns:p14="http://schemas.microsoft.com/office/powerpoint/2010/main" val="16680301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18C2D2-6D16-4EC5-84FD-424F6AA6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768AC-6613-457E-B247-B5EB1E4F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5CF3D1-D0F4-4A30-90CE-8863F169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C95AA8-CD79-4CB5-A778-754AD90C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ANALYTICAL COMPUTE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6BDFD1-033F-45C3-A468-779201BC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DuckDB Analytical SQL Over Parquet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CAD84-D3F2-41A3-8122-5D6A6122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76C7C6-0DB3-4F4E-9F00-9012F4BB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DuckDB is used as lightweight analytical compute for Gold aggregation without making PostgreSQL do warehouse-style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FB56A3-8C2F-4DCF-9DFC-2F401122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47625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00D384-20C9-49B2-B381-4F08E8A6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C7F7"/>
                </a:solidFill>
              </a:defRPr>
            </a:pPr>
            <a:r>
              <a:rPr sz="750" b="1">
                <a:solidFill>
                  <a:srgbClr val="25C7F7"/>
                </a:solidFill>
              </a:rPr>
              <a:t>WHY DUCKDB?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649F8-0791-4A8A-A3B4-69CE3B1F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955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A5D989-519E-4A3F-8C80-000AA46B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3743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Reads Parquet files directly from temporary Silver downloads.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3A52AB-E47D-4ED3-BEB4-30F66934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289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C17D3-3A89-436E-811B-E7E34102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3743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Uses SQL joins and group-by logic for KPI generation.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FE339B-F02F-4E6F-9AE7-D8BFFFFC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623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3D1DF0-4BE2-43B3-A4EE-ECF7A8FB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3743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Keeps Gold generation lake-first; PostgreSQL publish is optional for dashboard caching.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AD9978-73A5-4679-9C68-1BF85DB8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957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C12CA8-6AAE-4509-A59E-0E927CA8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86200"/>
            <a:ext cx="3743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Simple to run locally during demo and easy to reason about in code.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45704A-8230-46BB-B130-44D805E6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19250"/>
            <a:ext cx="58102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7142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E04190-1E07-4329-B7D3-08EDF283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85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D689"/>
                </a:solidFill>
              </a:defRPr>
            </a:pPr>
            <a:r>
              <a:rPr sz="750" b="1">
                <a:solidFill>
                  <a:srgbClr val="25D689"/>
                </a:solidFill>
              </a:rPr>
              <a:t>REPRESENTATIVE GOLD QUERY PATTERN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82BA0D-E7E3-4535-9285-3EDB6589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66950"/>
            <a:ext cx="49530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D8ECFF"/>
                </a:solidFill>
              </a:defRPr>
            </a:pPr>
            <a:r>
              <a:rPr sz="1013" b="0">
                <a:solidFill>
                  <a:srgbClr val="D8ECFF"/>
                </a:solidFill>
              </a:rPr>
              <a:t>SELECT j.job_title,</a:t>
            </a:r>
          </a:p>
          <a:p xmlns:a="http://schemas.openxmlformats.org/drawingml/2006/main">
            <a:pPr algn="l">
              <a:defRPr sz="1013" b="0">
                <a:solidFill>
                  <a:srgbClr val="D8ECFF"/>
                </a:solidFill>
              </a:defRPr>
            </a:pPr>
            <a:r>
              <a:rPr sz="1013" b="0">
                <a:solidFill>
                  <a:srgbClr val="D8ECFF"/>
                </a:solidFill>
              </a:rPr>
              <a:t>       COUNT(*) AS total_feedback,</a:t>
            </a:r>
          </a:p>
          <a:p xmlns:a="http://schemas.openxmlformats.org/drawingml/2006/main">
            <a:pPr algn="l">
              <a:defRPr sz="1013" b="0">
                <a:solidFill>
                  <a:srgbClr val="D8ECFF"/>
                </a:solidFill>
              </a:defRPr>
            </a:pPr>
            <a:r>
              <a:rPr sz="1013" b="0">
                <a:solidFill>
                  <a:srgbClr val="D8ECFF"/>
                </a:solidFill>
              </a:rPr>
              <a:t>       SUM(CASE WHEN f.decision = 'Hire' THEN 1 ELSE 0 END) AS hire_count,</a:t>
            </a:r>
          </a:p>
          <a:p xmlns:a="http://schemas.openxmlformats.org/drawingml/2006/main">
            <a:pPr algn="l">
              <a:defRPr sz="1013" b="0">
                <a:solidFill>
                  <a:srgbClr val="D8ECFF"/>
                </a:solidFill>
              </a:defRPr>
            </a:pPr>
            <a:r>
              <a:rPr sz="1013" b="0">
                <a:solidFill>
                  <a:srgbClr val="D8ECFF"/>
                </a:solidFill>
              </a:rPr>
              <a:t>       ROUND(100.0 * hire_count / COUNT(*), 2) AS hire_rate_pct</a:t>
            </a:r>
          </a:p>
          <a:p xmlns:a="http://schemas.openxmlformats.org/drawingml/2006/main">
            <a:pPr algn="l">
              <a:defRPr sz="1013" b="0">
                <a:solidFill>
                  <a:srgbClr val="D8ECFF"/>
                </a:solidFill>
              </a:defRPr>
            </a:pPr>
            <a:r>
              <a:rPr sz="1013" b="0">
                <a:solidFill>
                  <a:srgbClr val="D8ECFF"/>
                </a:solidFill>
              </a:rPr>
              <a:t>FROM feedback f</a:t>
            </a:r>
          </a:p>
          <a:p xmlns:a="http://schemas.openxmlformats.org/drawingml/2006/main">
            <a:pPr algn="l">
              <a:defRPr sz="1013" b="0">
                <a:solidFill>
                  <a:srgbClr val="D8ECFF"/>
                </a:solidFill>
              </a:defRPr>
            </a:pPr>
            <a:r>
              <a:rPr sz="1013" b="0">
                <a:solidFill>
                  <a:srgbClr val="D8ECFF"/>
                </a:solidFill>
              </a:rPr>
              <a:t>JOIN schedules s ON f.schedule_id = s.schedule_id</a:t>
            </a:r>
          </a:p>
          <a:p xmlns:a="http://schemas.openxmlformats.org/drawingml/2006/main">
            <a:pPr algn="l">
              <a:defRPr sz="1013" b="0">
                <a:solidFill>
                  <a:srgbClr val="D8ECFF"/>
                </a:solidFill>
              </a:defRPr>
            </a:pPr>
            <a:r>
              <a:rPr sz="1013" b="0">
                <a:solidFill>
                  <a:srgbClr val="D8ECFF"/>
                </a:solidFill>
              </a:rPr>
              <a:t>JOIN jobs j ON s.job_id = j.job_id</a:t>
            </a:r>
          </a:p>
          <a:p xmlns:a="http://schemas.openxmlformats.org/drawingml/2006/main">
            <a:pPr algn="l">
              <a:defRPr sz="1013" b="0">
                <a:solidFill>
                  <a:srgbClr val="D8ECFF"/>
                </a:solidFill>
              </a:defRPr>
            </a:pPr>
            <a:r>
              <a:rPr sz="1013" b="0">
                <a:solidFill>
                  <a:srgbClr val="D8ECFF"/>
                </a:solidFill>
              </a:rPr>
              <a:t>GROUP BY j.job_title;</a:t>
            </a:r>
          </a:p>
        </p:txBody>
      </p:sp>
    </p:spTree>
    <p:extLst>
      <p:ext uri="{BB962C8B-B14F-4D97-AF65-F5344CB8AC3E}">
        <p14:creationId xmlns:p14="http://schemas.microsoft.com/office/powerpoint/2010/main" val="192422285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8C8598-C90E-40A1-B277-67D287D8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90245-3DFD-4DBB-8550-84185D47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92A55-EAEB-4052-9504-6B152DB5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22E9F-A396-404A-B9E3-E589EE6E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ORCHESTRATION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43572E-76D9-462D-B6AC-1C8D8F05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Prefect Orchestration and 2-Minute Demo Schedule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FDF285-8EF9-4150-A368-A9A7918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20B53F-7AF4-4759-9DD1-A8C52404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The pipeline is orchestrated as a full Bronze -&gt; Silver -&gt; Gold flow, with an interval deployment for examiner demonstration.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C4AEA-F7A8-4429-BA12-1BED23B9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3381375" cy="352425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9E0A20-C089-40CC-B236-E608DC75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C7F7"/>
                </a:solidFill>
              </a:defRPr>
            </a:pPr>
            <a:r>
              <a:rPr sz="750" b="1">
                <a:solidFill>
                  <a:srgbClr val="25C7F7"/>
                </a:solidFill>
              </a:rPr>
              <a:t>FLOW STRUCTURE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F5AE5E-D8F1-4B8A-9C46-099B7DF9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955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784D7-4190-43FA-9462-02C689D5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2505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TalentFlow-Full-ELT creates or accepts a shared run_datetime.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3FD210-D16D-4BB5-909F-B59A7E6A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7A711B-E991-4007-98FB-6878DB28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2505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bronze_flow, silver_flow and gold_flow run in order.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BE2D83-004D-477B-A5BD-387E1CA3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147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489E1A-EE73-47D3-9C07-96CAADF2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05200"/>
            <a:ext cx="2505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publish_postgres flag optionally caches Gold tables in analytics schema.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91F644-39E5-42CC-BC34-32E17B5F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19250"/>
            <a:ext cx="3381375" cy="352425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9D5FC2-A47B-4412-A4C2-3927F82C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85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D689"/>
                </a:solidFill>
              </a:defRPr>
            </a:pPr>
            <a:r>
              <a:rPr sz="750" b="1">
                <a:solidFill>
                  <a:srgbClr val="25D689"/>
                </a:solidFill>
              </a:rPr>
              <a:t>CLOUD DEMO DEPLOYMENT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69B890-016B-4F05-8BA8-2E1687C1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955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84E549-A569-417A-967B-53E74295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86000"/>
            <a:ext cx="25050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Deployment name: talentflow-elt-every-2-min-demo.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AF655B-8C69-4C0C-831F-A28B5821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289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735320-8D11-4573-A78A-600883D1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19400"/>
            <a:ext cx="25050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Interval: 120 seconds.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16EC39-2795-434F-976E-2FE8E3BD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623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EE6D2E-D7CB-4A3E-918D-FCB6E1F0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52800"/>
            <a:ext cx="25050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Tags: talentflow, demo, etl.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516BF4-7543-4779-810D-31F0E866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957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762799-36A0-4E7B-87AF-B8C328A0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86200"/>
            <a:ext cx="25050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Prefect Cloud shows flow runs, state, failures and logs.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E107EA-381E-4A75-A2A1-F5AA5533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3381375" cy="352425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F26B71-AA50-4E50-980D-766D9D77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85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6B84B"/>
                </a:solidFill>
              </a:defRPr>
            </a:pPr>
            <a:r>
              <a:rPr sz="750" b="1">
                <a:solidFill>
                  <a:srgbClr val="F6B84B"/>
                </a:solidFill>
              </a:rPr>
              <a:t>REFERENCE FIT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329D2D-5227-4688-A356-9253B302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955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FB2461-ABD1-4120-ACEE-31B2C03B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86000"/>
            <a:ext cx="2505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Prefect flows are decorated Python functions.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D5FA91-D34B-46E5-962E-295118F1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051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82CFB5-B0BB-4789-8B51-B805AF03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505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Flow run states are tracked for observability.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D5A954-3A35-4E04-ACE6-5E44A034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147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D3E2F3-E6C8-412D-8D00-1835B969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05200"/>
            <a:ext cx="2505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Deployments allow schedules and remote interaction.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3CB655-679C-4CF2-A7BF-25AF2F38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71500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5C7F7"/>
                </a:solidFill>
              </a:defRPr>
            </a:pPr>
            <a:r>
              <a:rPr sz="1200" b="0">
                <a:solidFill>
                  <a:srgbClr val="25C7F7"/>
                </a:solidFill>
              </a:rPr>
              <a:t>Demo command used: python scripts/serve_elt_prefect_cloud.py</a:t>
            </a:r>
          </a:p>
        </p:txBody>
      </p:sp>
    </p:spTree>
    <p:extLst>
      <p:ext uri="{BB962C8B-B14F-4D97-AF65-F5344CB8AC3E}">
        <p14:creationId xmlns:p14="http://schemas.microsoft.com/office/powerpoint/2010/main" val="90355539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9DA1F1-3B62-4224-AC5C-60A80FC3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2FF361-0472-4ED2-9168-BC34480D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CDC56-062F-468E-9A71-B4A1846B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95FF4-5D2E-4EFB-987B-17F611A8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PREFECT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AAE537-25FE-40C5-851D-958C8367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Visual Evidence: Prefect Cloud Orchestration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1BEEF9-9F53-47EC-BA7F-74469FE8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3D550E-D428-4CAA-971C-F93474B0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The Cloud UI screenshots prove that the full ELT was deployed on an interval schedule and that nested Bronze, Silver and Gold flows completed.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15375E-EF5D-4F8D-855F-E2DD6702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323975"/>
            <a:ext cx="5400675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081522"/>
          </a:solidFill>
          <a:ln xmlns:a="http://schemas.openxmlformats.org/drawingml/2006/main" w="9525">
            <a:solidFill>
              <a:srgbClr val="22415C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40ce2804424eaf"/>
          <a:srcRect xmlns:a="http://schemas.openxmlformats.org/drawingml/2006/main" l="13389" t="0" r="133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1381125"/>
            <a:ext cx="5286375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33D5CF-1E07-482A-901B-B68A30B8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638675"/>
            <a:ext cx="5210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A9B8CA"/>
                </a:solidFill>
              </a:defRPr>
            </a:pPr>
            <a:r>
              <a:rPr sz="863" b="0">
                <a:solidFill>
                  <a:srgbClr val="A9B8CA"/>
                </a:solidFill>
              </a:rPr>
              <a:t>Deployment view: every 2 minutes schedule, ready status and recent successful runs.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D35C84-503F-4CE5-915D-A2584E3E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23975"/>
            <a:ext cx="5400675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081522"/>
          </a:solidFill>
          <a:ln xmlns:a="http://schemas.openxmlformats.org/drawingml/2006/main" w="9525">
            <a:solidFill>
              <a:srgbClr val="22415C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9ece9de466410e"/>
          <a:srcRect xmlns:a="http://schemas.openxmlformats.org/drawingml/2006/main" l="12765" t="0" r="127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381125"/>
            <a:ext cx="5286375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0D2DFD-25C4-4C1A-A8B5-9C2C9ECD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38675"/>
            <a:ext cx="5210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A9B8CA"/>
                </a:solidFill>
              </a:defRPr>
            </a:pPr>
            <a:r>
              <a:rPr sz="863" b="0">
                <a:solidFill>
                  <a:srgbClr val="A9B8CA"/>
                </a:solidFill>
              </a:rPr>
              <a:t>Runs view: TalentFlow-Full-ELT triggers Bronze, Silver and Gold child flows.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80999C-6DBD-41CF-A676-E3E06387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0382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7142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397B4C-75AC-43F0-AF8A-C9DB479F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149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How to explain 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15BD96-7FDB-4413-A1D8-6F990A13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2768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9B8CA"/>
                </a:solidFill>
              </a:defRPr>
            </a:pPr>
            <a:r>
              <a:rPr sz="1013" b="0">
                <a:solidFill>
                  <a:srgbClr val="A9B8CA"/>
                </a:solidFill>
              </a:rPr>
              <a:t>For the demo, the examiner can see recurring flow runs, completed states, duration, parameters and task-run counts instead of only trusting terminal output.</a:t>
            </a:r>
          </a:p>
        </p:txBody>
      </p:sp>
    </p:spTree>
    <p:extLst>
      <p:ext uri="{BB962C8B-B14F-4D97-AF65-F5344CB8AC3E}">
        <p14:creationId xmlns:p14="http://schemas.microsoft.com/office/powerpoint/2010/main" val="46641452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2E2452-9E34-4ACC-BA5F-2B2E6D1C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2ECE6F-1222-4805-9443-174E0DB1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F0BD2-1487-4463-845F-DA83FE88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B5F49-73B8-48F8-BAE7-20A7AAA0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PREDICTIVE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76AF2B-9ED6-4BCE-A430-0E866397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Machine Learning Workflow and Current 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D5C30-6DEE-41FA-813C-2EAAC9AD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4316E-E6FC-4E6F-BB70-2E5DA476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The current ML goal is not to claim a final high-performing model; it is to prove a complete, repeatable predictive-intelligence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2D0DE-A9C3-4E08-BECD-9290EC91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2381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D2035"/>
          </a:solidFill>
          <a:ln xmlns:a="http://schemas.openxmlformats.org/drawingml/2006/main" w="9525">
            <a:solidFill>
              <a:srgbClr val="1D455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015352-BFFC-499D-8EBB-E130362D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2402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C7F7"/>
                </a:solidFill>
              </a:defRPr>
            </a:pPr>
            <a:r>
              <a:rPr sz="2250" b="1">
                <a:solidFill>
                  <a:srgbClr val="25C7F7"/>
                </a:solidFill>
              </a:rPr>
              <a:t>0.5021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1D704-8602-4909-97C7-A7A1CFFB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8CA"/>
                </a:solidFill>
              </a:defRPr>
            </a:pPr>
            <a:r>
              <a:rPr sz="900" b="0">
                <a:solidFill>
                  <a:srgbClr val="A9B8CA"/>
                </a:solidFill>
              </a:rPr>
              <a:t>Hire prediction 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7A1FB9-CB6E-4E39-AE86-E3628215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71625"/>
            <a:ext cx="2381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D2035"/>
          </a:solidFill>
          <a:ln xmlns:a="http://schemas.openxmlformats.org/drawingml/2006/main" w="9525">
            <a:solidFill>
              <a:srgbClr val="1D45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5F80D7-C95A-4D4C-A211-9167D980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72402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D689"/>
                </a:solidFill>
              </a:defRPr>
            </a:pPr>
            <a:r>
              <a:rPr sz="2250" b="1">
                <a:solidFill>
                  <a:srgbClr val="25D689"/>
                </a:solidFill>
              </a:rPr>
              <a:t>0.3958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084784-7607-45B5-87A8-782DB66D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0502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8CA"/>
                </a:solidFill>
              </a:defRPr>
            </a:pPr>
            <a:r>
              <a:rPr sz="900" b="0">
                <a:solidFill>
                  <a:srgbClr val="A9B8CA"/>
                </a:solidFill>
              </a:rPr>
              <a:t>Hire prediction F1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97B949-F8DA-4303-BD7F-9244B1CA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71625"/>
            <a:ext cx="2381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D2035"/>
          </a:solidFill>
          <a:ln xmlns:a="http://schemas.openxmlformats.org/drawingml/2006/main" w="9525">
            <a:solidFill>
              <a:srgbClr val="1D45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907FBE-0DA5-4913-8249-6D8549BA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72402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B84B"/>
                </a:solidFill>
              </a:defRPr>
            </a:pPr>
            <a:r>
              <a:rPr sz="2250" b="1">
                <a:solidFill>
                  <a:srgbClr val="F6B84B"/>
                </a:solidFill>
              </a:rPr>
              <a:t>0.5016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8BB71B-BD6E-4EA0-9ACA-53B90379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0502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8CA"/>
                </a:solidFill>
              </a:defRPr>
            </a:pPr>
            <a:r>
              <a:rPr sz="900" b="0">
                <a:solidFill>
                  <a:srgbClr val="A9B8CA"/>
                </a:solidFill>
              </a:rPr>
              <a:t>Hire prediction ROC-AUC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92F951-8DC0-4AF6-8149-0D78FBBB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1625"/>
            <a:ext cx="2381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D2035"/>
          </a:solidFill>
          <a:ln xmlns:a="http://schemas.openxmlformats.org/drawingml/2006/main" w="9525">
            <a:solidFill>
              <a:srgbClr val="1D45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E7BCC0-B448-471C-BEEF-E5CED257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2402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6A6A"/>
                </a:solidFill>
              </a:defRPr>
            </a:pPr>
            <a:r>
              <a:rPr sz="2250" b="1">
                <a:solidFill>
                  <a:srgbClr val="F06A6A"/>
                </a:solidFill>
              </a:rPr>
              <a:t>1.2278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BC3892-0651-42C4-BEE8-A41229B3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0502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8CA"/>
                </a:solidFill>
              </a:defRPr>
            </a:pPr>
            <a:r>
              <a:rPr sz="900" b="0">
                <a:solidFill>
                  <a:srgbClr val="A9B8CA"/>
                </a:solidFill>
              </a:rPr>
              <a:t>Rating prediction MAE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7FCE14-712B-4914-8E56-E24AF544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5095875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1947B3-FF9E-4461-96E8-79B034E6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C7F7"/>
                </a:solidFill>
              </a:defRPr>
            </a:pPr>
            <a:r>
              <a:rPr sz="750" b="1">
                <a:solidFill>
                  <a:srgbClr val="25C7F7"/>
                </a:solidFill>
              </a:rPr>
              <a:t>PIPELINE DESIGN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5E5F4E-8156-45BD-BC37-92661003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337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F701BF-F7E9-4D04-8F53-94A97CE5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3981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Feature query joins feedback, schedules, candidates, jobs, stages, education and login counts.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B839C4-52D5-4B1F-BDA7-E3A1B1C7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932797-625C-45F5-925D-FE90097A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3981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ColumnTransformer handles numeric and categorical features.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0AC958-096B-4997-8825-04968BED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719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4DECA3-E423-4AB2-94D7-F33EC989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62450"/>
            <a:ext cx="3981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Random Forest classifier/regressor artifacts are saved with joblib.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3402D1-6825-46CD-8FFA-586DD542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910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01F7F1-4B92-48CF-A6B8-508A4262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3981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Feature importance CSVs are published to analytics.ml_feature_insights.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CB5D86-C5E7-4230-87B6-1732763E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57500"/>
            <a:ext cx="5476875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3051F6-604E-4013-8F79-5EE1316F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242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D689"/>
                </a:solidFill>
              </a:defRPr>
            </a:pPr>
            <a:r>
              <a:rPr sz="750" b="1">
                <a:solidFill>
                  <a:srgbClr val="25D689"/>
                </a:solidFill>
              </a:rPr>
              <a:t>TOP HIRE-MODEL FEATURE IMPORTANCES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1AE39F-6ABD-40C3-ADC5-60698D87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433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8CA"/>
                </a:solidFill>
              </a:defRPr>
            </a:pPr>
            <a:r>
              <a:rPr sz="788" b="0">
                <a:solidFill>
                  <a:srgbClr val="A9B8CA"/>
                </a:solidFill>
              </a:rPr>
              <a:t>expected_salary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AB4065-5C7A-4C14-A68B-010D789A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581400"/>
            <a:ext cx="2571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DAC7AE-CB66-4870-ADFA-365285F4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35337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5F7FB"/>
                </a:solidFill>
              </a:defRPr>
            </a:pPr>
            <a:r>
              <a:rPr sz="750" b="0">
                <a:solidFill>
                  <a:srgbClr val="F5F7FB"/>
                </a:solidFill>
              </a:rPr>
              <a:t>0.0893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EC88F3-261B-435D-88F6-7CF60AF5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195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8CA"/>
                </a:solidFill>
              </a:defRPr>
            </a:pPr>
            <a:r>
              <a:rPr sz="788" b="0">
                <a:solidFill>
                  <a:srgbClr val="A9B8CA"/>
                </a:solidFill>
              </a:rPr>
              <a:t>gpa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A9004F-72DF-4E1A-B4FE-3ED50E70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857625"/>
            <a:ext cx="2508392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89D3F5-FA01-4327-BC30-32261CA9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38100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5F7FB"/>
                </a:solidFill>
              </a:defRPr>
            </a:pPr>
            <a:r>
              <a:rPr sz="750" b="0">
                <a:solidFill>
                  <a:srgbClr val="F5F7FB"/>
                </a:solidFill>
              </a:rPr>
              <a:t>0.0871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7BBF63-AAFF-4FA2-B30F-7EB243EF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957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8CA"/>
                </a:solidFill>
              </a:defRPr>
            </a:pPr>
            <a:r>
              <a:rPr sz="788" b="0">
                <a:solidFill>
                  <a:srgbClr val="A9B8CA"/>
                </a:solidFill>
              </a:rPr>
              <a:t>passing_year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5F44A1-DF09-4674-96D5-411FE757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133850"/>
            <a:ext cx="1894974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1BA0C8-397B-48FE-B305-3C30F945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40862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5F7FB"/>
                </a:solidFill>
              </a:defRPr>
            </a:pPr>
            <a:r>
              <a:rPr sz="750" b="0">
                <a:solidFill>
                  <a:srgbClr val="F5F7FB"/>
                </a:solidFill>
              </a:rPr>
              <a:t>0.0658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FE54830-1124-4B1D-B2D7-24A5894D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719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8CA"/>
                </a:solidFill>
              </a:defRPr>
            </a:pPr>
            <a:r>
              <a:rPr sz="788" b="0">
                <a:solidFill>
                  <a:srgbClr val="A9B8CA"/>
                </a:solidFill>
              </a:rPr>
              <a:t>login_count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FBD158-0A34-4C8D-A120-8B32C9FD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410075"/>
            <a:ext cx="1667462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F82C95-9E85-4391-91B5-1401B543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43624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5F7FB"/>
                </a:solidFill>
              </a:defRPr>
            </a:pPr>
            <a:r>
              <a:rPr sz="750" b="0">
                <a:solidFill>
                  <a:srgbClr val="F5F7FB"/>
                </a:solidFill>
              </a:rPr>
              <a:t>0.0579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8D873F7-A662-4A92-8657-2B72020E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482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8CA"/>
                </a:solidFill>
              </a:defRPr>
            </a:pPr>
            <a:r>
              <a:rPr sz="788" b="0">
                <a:solidFill>
                  <a:srgbClr val="A9B8CA"/>
                </a:solidFill>
              </a:rPr>
              <a:t>state_Maharashtra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24E07FF-06C5-4372-8C17-FAFF0F72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686300"/>
            <a:ext cx="127291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4228563-E697-4A05-966B-B3308043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46386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5F7FB"/>
                </a:solidFill>
              </a:defRPr>
            </a:pPr>
            <a:r>
              <a:rPr sz="750" b="0">
                <a:solidFill>
                  <a:srgbClr val="F5F7FB"/>
                </a:solidFill>
              </a:rPr>
              <a:t>0.0442</a:t>
            </a:r>
          </a:p>
        </p:txBody>
      </p:sp>
    </p:spTree>
    <p:extLst>
      <p:ext uri="{BB962C8B-B14F-4D97-AF65-F5344CB8AC3E}">
        <p14:creationId xmlns:p14="http://schemas.microsoft.com/office/powerpoint/2010/main" val="196810590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4866FC-B6F7-43CD-96BB-9B6BCF27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7B72E-231E-42C4-91AE-CFD7E058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59312-323C-4A39-AF2A-8C83495D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42CA7-D63E-424D-A50A-B1BD069F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DASHBOARD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74939-8EEB-4038-8977-F8C70DC7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Visual Evidence: Gold KPI Dashboard and ML Insights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B92550-F9EC-4A44-8AB2-AC713CA1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FBDA7-4C17-400C-A017-6C7D9A5B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This screen closes the loop: source data becomes Gold KPIs and model feature insights visible to the admin user.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B1AA67-1CAD-4200-B16F-A2148FD6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323975"/>
            <a:ext cx="7734300" cy="449580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081522"/>
          </a:solidFill>
          <a:ln xmlns:a="http://schemas.openxmlformats.org/drawingml/2006/main" w="9525">
            <a:solidFill>
              <a:srgbClr val="22415C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1a503af0dd44dd"/>
          <a:srcRect xmlns:a="http://schemas.openxmlformats.org/drawingml/2006/main" l="5852" t="0" r="58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1381125"/>
            <a:ext cx="7620000" cy="4095750"/>
          </a:xfrm>
          <a:prstGeom xmlns:a="http://schemas.openxmlformats.org/drawingml/2006/main" prst="roundRect">
            <a:avLst>
              <a:gd name="adj" fmla="val 186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6FE294-3382-47BD-9DA4-EE0010C0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591175"/>
            <a:ext cx="7543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A9B8CA"/>
                </a:solidFill>
              </a:defRPr>
            </a:pPr>
            <a:r>
              <a:rPr sz="863" b="0">
                <a:solidFill>
                  <a:srgbClr val="A9B8CA"/>
                </a:solidFill>
              </a:rPr>
              <a:t>Admin dashboard showing Gold Layer KPIs and ML Feature Insights from analytics outputs.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BFAB68-2313-4BAB-A4E5-BB70B2BC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81125"/>
            <a:ext cx="3000375" cy="4095750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C6C40F-2571-458F-AB81-94D4531E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573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D689"/>
                </a:solidFill>
              </a:defRPr>
            </a:pPr>
            <a:r>
              <a:rPr sz="750" b="1">
                <a:solidFill>
                  <a:srgbClr val="25D689"/>
                </a:solidFill>
              </a:rPr>
              <a:t>WHAT THIS PROVES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A0A347-6798-4E99-848D-1EF2A27C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669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5D689"/>
                </a:solidFill>
              </a:defRPr>
            </a:pPr>
            <a:r>
              <a:rPr sz="938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73ABA3-816C-4FB1-BD36-78493FF6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57400"/>
            <a:ext cx="217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5F7FB"/>
                </a:solidFill>
              </a:defRPr>
            </a:pPr>
            <a:r>
              <a:rPr sz="938" b="0">
                <a:solidFill>
                  <a:srgbClr val="F5F7FB"/>
                </a:solidFill>
              </a:rPr>
              <a:t>Gold KPIs are available inside the product, not only in backend files.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07008A-28DB-4D7C-AA82-FE356630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622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5D689"/>
                </a:solidFill>
              </a:defRPr>
            </a:pPr>
            <a:r>
              <a:rPr sz="938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04D69F-3171-4398-9F74-B7B2D0A5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52700"/>
            <a:ext cx="217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5F7FB"/>
                </a:solidFill>
              </a:defRPr>
            </a:pPr>
            <a:r>
              <a:rPr sz="938" b="0">
                <a:solidFill>
                  <a:srgbClr val="F5F7FB"/>
                </a:solidFill>
              </a:rPr>
              <a:t>Hire-rate by job is calculated from interview feedback outcomes.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08E07D-99B4-4486-B213-7C2E39D3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575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5D689"/>
                </a:solidFill>
              </a:defRPr>
            </a:pPr>
            <a:r>
              <a:rPr sz="938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6596A9-8BFF-41A1-8F85-C49129AC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48000"/>
            <a:ext cx="217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5F7FB"/>
                </a:solidFill>
              </a:defRPr>
            </a:pPr>
            <a:r>
              <a:rPr sz="938" b="0">
                <a:solidFill>
                  <a:srgbClr val="F5F7FB"/>
                </a:solidFill>
              </a:rPr>
              <a:t>Feature insights are published from Random Forest artifacts into analytics output.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3B04C1-508F-4515-8A46-6A29C9AB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528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5D689"/>
                </a:solidFill>
              </a:defRPr>
            </a:pPr>
            <a:r>
              <a:rPr sz="938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FCF787-DEF8-40EF-831C-FE829437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43300"/>
            <a:ext cx="217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5F7FB"/>
                </a:solidFill>
              </a:defRPr>
            </a:pPr>
            <a:r>
              <a:rPr sz="938" b="0">
                <a:solidFill>
                  <a:srgbClr val="F5F7FB"/>
                </a:solidFill>
              </a:rPr>
              <a:t>The dashboard connects application, lakehouse, SQL analytics and ML into one reviewable flow.</a:t>
            </a:r>
          </a:p>
        </p:txBody>
      </p:sp>
    </p:spTree>
    <p:extLst>
      <p:ext uri="{BB962C8B-B14F-4D97-AF65-F5344CB8AC3E}">
        <p14:creationId xmlns:p14="http://schemas.microsoft.com/office/powerpoint/2010/main" val="185770342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FDA720-F245-40C5-9ADE-69539C70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140B6-D5B9-4E7B-9482-EEF2B770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F20C8-7D40-424D-9981-0E033B39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29BD1-1E8D-4984-9AAA-40581FDE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ML RATIONALE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5F3C7-5AAD-41D7-ABD2-7777907D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Why Random Forest First?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5A4E93-7191-4544-B4D0-E373E25F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B8CEF-D2DF-409D-8423-285BDC31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For the mid-term stage, Random Forest is a sensible baseline because TalentFlow features are mostly structured/tabular recruitment signals.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4B9AC-4CD2-438A-8100-6314EF78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81375" cy="371475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88B96-7CAF-496E-9E45-A1449770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383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C7F7"/>
                </a:solidFill>
              </a:defRPr>
            </a:pPr>
            <a:r>
              <a:rPr sz="750" b="1">
                <a:solidFill>
                  <a:srgbClr val="25C7F7"/>
                </a:solidFill>
              </a:rPr>
              <a:t>BREIMAN 2001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2B9E54-E83F-4CBB-9272-9D6828C2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EFF9D8-A1A4-4E8D-8DC7-49F787A8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2505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Random Forest combines many tree predictors.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7A2125-8C3F-4415-A2A3-ABBD66D3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F15818-86C2-4E76-A9BC-957EBF1C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2505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Generalization depends on individual tree strength and correlation.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AD7ADB-5E27-437C-8FC7-4FB38250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5B6045-2CE7-41DD-B7EA-C4E60F6B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57575"/>
            <a:ext cx="2505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Variable importance is part of the method family.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EF0B30-97BF-490D-834B-7F79386B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71625"/>
            <a:ext cx="3381375" cy="371475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5DE17F-E033-4D43-9B68-C01CB4C9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383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D689"/>
                </a:solidFill>
              </a:defRPr>
            </a:pPr>
            <a:r>
              <a:rPr sz="750" b="1">
                <a:solidFill>
                  <a:srgbClr val="25D689"/>
                </a:solidFill>
              </a:rPr>
              <a:t>SCIKIT-LEARN IMPLEMENTATION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C88923-33A5-4C80-86E1-6CF66B84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4790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3AC016-C0FA-404D-A8BA-D79CD872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38375"/>
            <a:ext cx="2505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Pipeline prevents leakage by applying preprocessing inside training flow.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17C4BC-B125-4329-B846-6C21E975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5750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772741-2705-4A83-8DAA-7E5E9D82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47975"/>
            <a:ext cx="2505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ColumnTransformer keeps numeric and categorical transformations explicit.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E61A9C-421C-481E-9E8F-DC1C2670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6710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BB82B5-DEF2-4472-8618-E95FDB0E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57575"/>
            <a:ext cx="2505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Class weight balancing is used for hire classification.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A51DDE-6B81-43D9-B162-415C3274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71625"/>
            <a:ext cx="3381375" cy="371475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42BBD9-21DF-4DB9-AFB7-0C1978CF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383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6B84B"/>
                </a:solidFill>
              </a:defRPr>
            </a:pPr>
            <a:r>
              <a:rPr sz="750" b="1">
                <a:solidFill>
                  <a:srgbClr val="F6B84B"/>
                </a:solidFill>
              </a:rPr>
              <a:t>INTERPRETATION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4E30AA-4F31-4873-B226-62A6ACFE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4790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5DFD0A-ED45-49B0-98FF-4933FFAF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38375"/>
            <a:ext cx="2505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Current metrics are modest and honestly reported.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34EB9C-5D59-41F9-A800-7BB326F7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5750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0E1105-BB02-4D38-88A8-DA8F0949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47975"/>
            <a:ext cx="2505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The achievement is an end-to-end ML path, not final model maturity.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D23978-09CD-4A54-BA63-BD438C74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6710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CAA7CE-9ED2-4AE5-9668-4CD94E98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57575"/>
            <a:ext cx="2505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Next work: stronger features, balanced labels, model cards and drift checks.</a:t>
            </a:r>
          </a:p>
        </p:txBody>
      </p:sp>
    </p:spTree>
    <p:extLst>
      <p:ext uri="{BB962C8B-B14F-4D97-AF65-F5344CB8AC3E}">
        <p14:creationId xmlns:p14="http://schemas.microsoft.com/office/powerpoint/2010/main" val="100450745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C3DEAC-B2F4-4AF7-B611-F15E19AC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64C04-7429-471B-97C5-1C432D9B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393BFC-97AC-4725-A07D-77017F59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F79C8-6AE2-44EE-8C22-69655247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CONVERSATIONAL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626BC-A739-4950-996C-D701EA9C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Natural-Language Analytics Roadmap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3D6A6-AF4B-467A-8AA3-D7C34AB1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8577A3-5656-4E24-85B3-22642931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The LLM/Text-to-SQL component is planned after the data platform is stable, so natural-language answers can be grounded in trusted Gold tables.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9A4B2D-0247-490B-A7A5-586F8D56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1770063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D2035"/>
          </a:solidFill>
          <a:ln xmlns:a="http://schemas.openxmlformats.org/drawingml/2006/main" w="9525">
            <a:solidFill>
              <a:srgbClr val="2144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CAE1E6-7D65-4FAF-9358-6B137514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24050"/>
            <a:ext cx="154146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C7F7"/>
                </a:solidFill>
              </a:defRPr>
            </a:pPr>
            <a:r>
              <a:rPr sz="975" b="1">
                <a:solidFill>
                  <a:srgbClr val="25C7F7"/>
                </a:solidFill>
              </a:rPr>
              <a:t>User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1FC5A6-1DF4-42A9-AF5F-2EF701C2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09800"/>
            <a:ext cx="15414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8CA"/>
                </a:solidFill>
              </a:defRPr>
            </a:pPr>
            <a:r>
              <a:rPr sz="788" b="0">
                <a:solidFill>
                  <a:srgbClr val="A9B8CA"/>
                </a:solidFill>
              </a:rPr>
              <a:t>Recruiter asks business question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843197-DEB0-4120-AEE5-A2D7E5CC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463" y="2171700"/>
            <a:ext cx="13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9B8CA"/>
                </a:solidFill>
              </a:defRPr>
            </a:pPr>
            <a:r>
              <a:rPr sz="1275" b="1">
                <a:solidFill>
                  <a:srgbClr val="A9B8C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E5D959-C9E0-474C-A8C7-66BE88A9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713" y="1809750"/>
            <a:ext cx="1770063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D2035"/>
          </a:solidFill>
          <a:ln xmlns:a="http://schemas.openxmlformats.org/drawingml/2006/main" w="9525">
            <a:solidFill>
              <a:srgbClr val="2144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034CA1-49FD-4F7C-B5AE-B7542417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013" y="1924050"/>
            <a:ext cx="154146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C7F7"/>
                </a:solidFill>
              </a:defRPr>
            </a:pPr>
            <a:r>
              <a:rPr sz="975" b="1">
                <a:solidFill>
                  <a:srgbClr val="25C7F7"/>
                </a:solidFill>
              </a:rPr>
              <a:t>Schema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B69305-6BDD-4B20-B279-041ACB61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013" y="2209800"/>
            <a:ext cx="15414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8CA"/>
                </a:solidFill>
              </a:defRPr>
            </a:pPr>
            <a:r>
              <a:rPr sz="788" b="0">
                <a:solidFill>
                  <a:srgbClr val="A9B8CA"/>
                </a:solidFill>
              </a:rPr>
              <a:t>Gold table names, columns and business definitions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6865D0-E8F4-411A-B8FC-D2146CF8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300" y="2171700"/>
            <a:ext cx="13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9B8CA"/>
                </a:solidFill>
              </a:defRPr>
            </a:pPr>
            <a:r>
              <a:rPr sz="1275" b="1">
                <a:solidFill>
                  <a:srgbClr val="A9B8CA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68C384-CB0B-4C9B-BEE5-85165B3F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809750"/>
            <a:ext cx="1770063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D2035"/>
          </a:solidFill>
          <a:ln xmlns:a="http://schemas.openxmlformats.org/drawingml/2006/main" w="9525">
            <a:solidFill>
              <a:srgbClr val="2144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73DB13-52C9-4E95-B417-61497D0B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1924050"/>
            <a:ext cx="154146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C7F7"/>
                </a:solidFill>
              </a:defRPr>
            </a:pPr>
            <a:r>
              <a:rPr sz="975" b="1">
                <a:solidFill>
                  <a:srgbClr val="25C7F7"/>
                </a:solidFill>
              </a:rPr>
              <a:t>LLM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16FD5C-9B6D-4D8A-B6A0-976ACF8D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209800"/>
            <a:ext cx="15414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8CA"/>
                </a:solidFill>
              </a:defRPr>
            </a:pPr>
            <a:r>
              <a:rPr sz="788" b="0">
                <a:solidFill>
                  <a:srgbClr val="A9B8CA"/>
                </a:solidFill>
              </a:rPr>
              <a:t>Intent parsing and SQL draft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B8C6D4-CB8E-4CFD-A50A-45C11987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2171700"/>
            <a:ext cx="13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9B8CA"/>
                </a:solidFill>
              </a:defRPr>
            </a:pPr>
            <a:r>
              <a:rPr sz="1275" b="1">
                <a:solidFill>
                  <a:srgbClr val="A9B8CA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840A74-B288-4443-9BB3-9312F359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8388" y="1809750"/>
            <a:ext cx="1770063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D2035"/>
          </a:solidFill>
          <a:ln xmlns:a="http://schemas.openxmlformats.org/drawingml/2006/main" w="9525">
            <a:solidFill>
              <a:srgbClr val="2144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B451C1-46F8-49BC-B01C-EA4D73C5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2688" y="1924050"/>
            <a:ext cx="154146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C7F7"/>
                </a:solidFill>
              </a:defRPr>
            </a:pPr>
            <a:r>
              <a:rPr sz="975" b="1">
                <a:solidFill>
                  <a:srgbClr val="25C7F7"/>
                </a:solidFill>
              </a:rPr>
              <a:t>Guardrail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E98A9D-BDAA-4A43-A49C-A673F7EE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2688" y="2209800"/>
            <a:ext cx="15414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8CA"/>
                </a:solidFill>
              </a:defRPr>
            </a:pPr>
            <a:r>
              <a:rPr sz="788" b="0">
                <a:solidFill>
                  <a:srgbClr val="A9B8CA"/>
                </a:solidFill>
              </a:rPr>
              <a:t>Validate tables, columns, filters and read-only query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7606DF-38D3-42C6-83B1-28246E1C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975" y="2171700"/>
            <a:ext cx="13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9B8CA"/>
                </a:solidFill>
              </a:defRPr>
            </a:pPr>
            <a:r>
              <a:rPr sz="1275" b="1">
                <a:solidFill>
                  <a:srgbClr val="A9B8CA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2728D2-C4E9-4D88-BE9A-43F84E7F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25" y="1809750"/>
            <a:ext cx="1770063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D2035"/>
          </a:solidFill>
          <a:ln xmlns:a="http://schemas.openxmlformats.org/drawingml/2006/main" w="9525">
            <a:solidFill>
              <a:srgbClr val="2144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0C08B4-9CF7-4CBC-87AE-C6B04814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7525" y="1924050"/>
            <a:ext cx="154146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C7F7"/>
                </a:solidFill>
              </a:defRPr>
            </a:pPr>
            <a:r>
              <a:rPr sz="975" b="1">
                <a:solidFill>
                  <a:srgbClr val="25C7F7"/>
                </a:solidFill>
              </a:rPr>
              <a:t>Execution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EB4673-6994-4B9E-8D61-F7EC204D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7525" y="2209800"/>
            <a:ext cx="15414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8CA"/>
                </a:solidFill>
              </a:defRPr>
            </a:pPr>
            <a:r>
              <a:rPr sz="788" b="0">
                <a:solidFill>
                  <a:srgbClr val="A9B8CA"/>
                </a:solidFill>
              </a:rPr>
              <a:t>Run against Gold/analytics layer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BFDC8E-0D76-4643-A026-4334EC4B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813" y="2171700"/>
            <a:ext cx="13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9B8CA"/>
                </a:solidFill>
              </a:defRPr>
            </a:pPr>
            <a:r>
              <a:rPr sz="1275" b="1">
                <a:solidFill>
                  <a:srgbClr val="A9B8CA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14E0C2-1756-4BBD-943B-EDD3C8C0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8063" y="1809750"/>
            <a:ext cx="1770063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221B13"/>
          </a:solidFill>
          <a:ln xmlns:a="http://schemas.openxmlformats.org/drawingml/2006/main" w="9525">
            <a:solidFill>
              <a:srgbClr val="AD683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09153-1833-4EBE-9998-F99842BA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363" y="1924050"/>
            <a:ext cx="154146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B84B"/>
                </a:solidFill>
              </a:defRPr>
            </a:pPr>
            <a:r>
              <a:rPr sz="975" b="1">
                <a:solidFill>
                  <a:srgbClr val="F6B84B"/>
                </a:solidFill>
              </a:rPr>
              <a:t>Answer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BCA2BB-15AF-4408-AF2F-BF4801DC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363" y="2209800"/>
            <a:ext cx="15414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8CA"/>
                </a:solidFill>
              </a:defRPr>
            </a:pPr>
            <a:r>
              <a:rPr sz="788" b="0">
                <a:solidFill>
                  <a:srgbClr val="A9B8CA"/>
                </a:solidFill>
              </a:rPr>
              <a:t>Return explanation and KPI result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B53C3A-6F72-453F-AF84-F1219BD7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9530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649C4A-03F3-42BE-A546-E499DAED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06A6A"/>
                </a:solidFill>
              </a:defRPr>
            </a:pPr>
            <a:r>
              <a:rPr sz="750" b="1">
                <a:solidFill>
                  <a:srgbClr val="F06A6A"/>
                </a:solidFill>
              </a:rPr>
              <a:t>WHY NOT LLM-FIRST?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61E27A-6F1E-4F45-9FDA-7AC2866E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957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968296-5B04-4323-8308-3EE73BB0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86250"/>
            <a:ext cx="3886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A language model without trusted data produces impressive but unreliable answers.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36DA69-3B6E-4023-B62F-AF1BDD37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577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97E407-43DC-4A6C-A8D0-07A0F976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48200"/>
            <a:ext cx="3886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Gold tables give the model a governed semantic surface.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54DA99-D000-47E2-BF42-AACB2781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2E448E-8FB6-4A6D-9839-3A2D461C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10150"/>
            <a:ext cx="3886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Read-only SQL validation reduces operational risk.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C3CF27-F116-4280-A6BE-3ED07045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49530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697803-1F89-48BA-9335-07215CEF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862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C7F7"/>
                </a:solidFill>
              </a:defRPr>
            </a:pPr>
            <a:r>
              <a:rPr sz="750" b="1">
                <a:solidFill>
                  <a:srgbClr val="25C7F7"/>
                </a:solidFill>
              </a:rPr>
              <a:t>REFERENCE CONNECTION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F5B6AC-4A2F-42A8-828B-CA7A80D1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957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668392-15D7-4E3D-B0E3-B344E29C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86250"/>
            <a:ext cx="3886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Vaswani et al. introduced Transformer attention foundations used by modern LLMs.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2AAE386-FE3E-4E0A-986E-F3F92F1E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577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D0DCB2B-CD6B-45B0-855A-8784CE78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48200"/>
            <a:ext cx="3886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In this project, LLMs are an interface layer, not the system of record.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BAFD6D-B2D1-4F47-A7BB-2C022652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196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7DA2B76-1AD4-43B2-9387-69C4F53B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10150"/>
            <a:ext cx="3886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The trustworthy layer remains PostgreSQL + lakehouse + Gold validation.</a:t>
            </a:r>
          </a:p>
        </p:txBody>
      </p:sp>
    </p:spTree>
    <p:extLst>
      <p:ext uri="{BB962C8B-B14F-4D97-AF65-F5344CB8AC3E}">
        <p14:creationId xmlns:p14="http://schemas.microsoft.com/office/powerpoint/2010/main" val="40808258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7DDC44-DDD8-42CA-9FEE-877823AB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47366-52BB-45F3-9328-5FA6ACE4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42DBFA-4233-4F87-BDB2-48774478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31278-79DB-4E5F-A6F2-B1DC2CC0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B083A-23E2-4090-9FE8-B683D5AC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Testing, Validation and Quality Gates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39883-433D-41D7-AC62-AB3FD797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61877-4F37-4FB9-A0E0-7F2013F4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Testing was implemented as a project safety layer, especially for Gold analytics and lakehouse contracts.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0C09D-5CBB-4C28-8509-17E8C56D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50958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CBC09-CB01-43EF-8194-BCE45A69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D689"/>
                </a:solidFill>
              </a:defRPr>
            </a:pPr>
            <a:r>
              <a:rPr sz="1200" b="1">
                <a:solidFill>
                  <a:srgbClr val="25D689"/>
                </a:solidFill>
              </a:rPr>
              <a:t>Schema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B3C68-7AAF-464D-94CE-CEFE855C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7049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8CA"/>
                </a:solidFill>
              </a:defRPr>
            </a:pPr>
            <a:r>
              <a:rPr sz="938" b="0">
                <a:solidFill>
                  <a:srgbClr val="A9B8CA"/>
                </a:solidFill>
              </a:rPr>
              <a:t>analytics schema exists; expected columns are present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226E2F-D1E9-453F-96B3-5C683C26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71625"/>
            <a:ext cx="50958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455F57-C547-4F8D-B040-871F23DF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14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D689"/>
                </a:solidFill>
              </a:defRPr>
            </a:pPr>
            <a:r>
              <a:rPr sz="1200" b="1">
                <a:solidFill>
                  <a:srgbClr val="25D689"/>
                </a:solidFill>
              </a:rPr>
              <a:t>Rows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7790D7-5294-4D18-8D4A-99472202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049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8CA"/>
                </a:solidFill>
              </a:defRPr>
            </a:pPr>
            <a:r>
              <a:rPr sz="938" b="0">
                <a:solidFill>
                  <a:srgbClr val="A9B8CA"/>
                </a:solidFill>
              </a:rPr>
              <a:t>Gold tables are created and row counts are non-empty unless explicitly allowed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F8C110-F342-4290-9FB0-FFF2A055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50958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DE74F2-BB46-4DBB-8790-E9AB2049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D689"/>
                </a:solidFill>
              </a:defRPr>
            </a:pPr>
            <a:r>
              <a:rPr sz="1200" b="1">
                <a:solidFill>
                  <a:srgbClr val="25D689"/>
                </a:solidFill>
              </a:rPr>
              <a:t>Nulls/ranges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A22003-765A-4D69-804E-2590975A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717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8CA"/>
                </a:solidFill>
              </a:defRPr>
            </a:pPr>
            <a:r>
              <a:rPr sz="938" b="0">
                <a:solidFill>
                  <a:srgbClr val="A9B8CA"/>
                </a:solidFill>
              </a:rPr>
              <a:t>Candidate counts, salaries, login counts and hire rates are checked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1768B0-F6CD-4585-A6D4-5A29790E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38425"/>
            <a:ext cx="50958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CF07F3-223C-4C71-91CA-F7DBD06D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813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D689"/>
                </a:solidFill>
              </a:defRPr>
            </a:pPr>
            <a:r>
              <a:rPr sz="1200" b="1">
                <a:solidFill>
                  <a:srgbClr val="25D689"/>
                </a:solidFill>
              </a:rPr>
              <a:t>Duplicates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E73F1B-D4BD-45AF-A365-1A6830DB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717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8CA"/>
                </a:solidFill>
              </a:defRPr>
            </a:pPr>
            <a:r>
              <a:rPr sz="938" b="0">
                <a:solidFill>
                  <a:srgbClr val="A9B8CA"/>
                </a:solidFill>
              </a:rPr>
              <a:t>Candidate, job and funnel duplicate groups are detected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E8A1DA-F52C-4859-AA58-D8612888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05225"/>
            <a:ext cx="50958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F9D1CC-A848-482F-96DE-82909637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D689"/>
                </a:solidFill>
              </a:defRPr>
            </a:pPr>
            <a:r>
              <a:rPr sz="1200" b="1">
                <a:solidFill>
                  <a:srgbClr val="25D689"/>
                </a:solidFill>
              </a:rPr>
              <a:t>Reconciliation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847357-6991-46FC-95C7-3CED8553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385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8CA"/>
                </a:solidFill>
              </a:defRPr>
            </a:pPr>
            <a:r>
              <a:rPr sz="938" b="0">
                <a:solidFill>
                  <a:srgbClr val="A9B8CA"/>
                </a:solidFill>
              </a:rPr>
              <a:t>Gold totals are matched back to source login, schedule and feedback counts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CC1177-78EA-4E34-BA0B-452C4A3F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05225"/>
            <a:ext cx="50958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CCD3A8-B8AF-4D39-9E25-1F788445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481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D689"/>
                </a:solidFill>
              </a:defRPr>
            </a:pPr>
            <a:r>
              <a:rPr sz="1200" b="1">
                <a:solidFill>
                  <a:srgbClr val="25D689"/>
                </a:solidFill>
              </a:rPr>
              <a:t>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503723-55A1-45E3-8AF9-11889CE0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385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8CA"/>
                </a:solidFill>
              </a:defRPr>
            </a:pPr>
            <a:r>
              <a:rPr sz="938" b="0">
                <a:solidFill>
                  <a:srgbClr val="A9B8CA"/>
                </a:solidFill>
              </a:rPr>
              <a:t>hire_rate_pct is recalculated and compared to stored Gold output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6DE15F-4158-4BE3-89AA-61F73E79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102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5C7F7"/>
                </a:solidFill>
              </a:defRPr>
            </a:pPr>
            <a:r>
              <a:rPr sz="1125" b="0">
                <a:solidFill>
                  <a:srgbClr val="25C7F7"/>
                </a:solidFill>
              </a:rPr>
              <a:t>Validation script: scripts/validate_gold_analytics.py</a:t>
            </a:r>
          </a:p>
        </p:txBody>
      </p:sp>
    </p:spTree>
    <p:extLst>
      <p:ext uri="{BB962C8B-B14F-4D97-AF65-F5344CB8AC3E}">
        <p14:creationId xmlns:p14="http://schemas.microsoft.com/office/powerpoint/2010/main" val="134088802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D791CF-BDC0-48AA-A864-65182B0E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BEE4B-81F3-4481-BCE1-FAB6F402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012BE-87C6-405A-BC6B-7074AF8C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553A4-2308-41EA-AF2C-BA468F8E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PROJECT 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D25E7-58CD-4134-AD3A-7138B987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Current Status and Remaining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2A708E-3697-4B34-B879-C90133EC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899A55-520A-4A5D-A474-9B9AAE78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This slide aligns with the mid-term report timeline while making the progress easy to explain verbally.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BA2BD4-D4E0-4CE7-B571-C58A156B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524000" cy="2095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C2B2C"/>
          </a:solidFill>
          <a:ln xmlns:a="http://schemas.openxmlformats.org/drawingml/2006/main" w="9525">
            <a:solidFill>
              <a:srgbClr val="1F7B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5F456B-0419-4FFB-B149-919337E6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4288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D689"/>
                </a:solidFill>
              </a:defRPr>
            </a:pPr>
            <a:r>
              <a:rPr sz="900" b="1">
                <a:solidFill>
                  <a:srgbClr val="25D689"/>
                </a:solidFill>
              </a:rPr>
              <a:t>Completed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5D5697-371E-4362-8281-752264D9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905125"/>
            <a:ext cx="1257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7FB"/>
                </a:solidFill>
              </a:defRPr>
            </a:pPr>
            <a:r>
              <a:rPr sz="1125" b="1">
                <a:solidFill>
                  <a:srgbClr val="F5F7FB"/>
                </a:solidFill>
              </a:rPr>
              <a:t>Dissertation outline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057028-5D28-4903-952C-546D1CBA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6385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5 May - 10 May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F8CF99-C039-4311-8DF5-103CD7DB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190750"/>
            <a:ext cx="1524000" cy="2095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C2B2C"/>
          </a:solidFill>
          <a:ln xmlns:a="http://schemas.openxmlformats.org/drawingml/2006/main" w="9525">
            <a:solidFill>
              <a:srgbClr val="1F7B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FB7160-DA42-4212-BECA-39B39877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4288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D689"/>
                </a:solidFill>
              </a:defRPr>
            </a:pPr>
            <a:r>
              <a:rPr sz="900" b="1">
                <a:solidFill>
                  <a:srgbClr val="25D689"/>
                </a:solidFill>
              </a:rPr>
              <a:t>Completed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ED927E-4AAF-4CCD-B8AB-9BDE54CF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905125"/>
            <a:ext cx="1257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7FB"/>
                </a:solidFill>
              </a:defRPr>
            </a:pPr>
            <a:r>
              <a:rPr sz="1125" b="1">
                <a:solidFill>
                  <a:srgbClr val="F5F7FB"/>
                </a:solidFill>
              </a:rPr>
              <a:t>Frontend + ETL development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8DA63B-3810-4CB3-8593-8BC3AB6F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6385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12 May - 5 June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F8B308-DC5C-482D-888F-7E938779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90750"/>
            <a:ext cx="1524000" cy="2095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C2B2C"/>
          </a:solidFill>
          <a:ln xmlns:a="http://schemas.openxmlformats.org/drawingml/2006/main" w="9525">
            <a:solidFill>
              <a:srgbClr val="1F7B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55AF75-136A-4D50-8A0B-97BA7DAE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4288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D689"/>
                </a:solidFill>
              </a:defRPr>
            </a:pPr>
            <a:r>
              <a:rPr sz="900" b="1">
                <a:solidFill>
                  <a:srgbClr val="25D689"/>
                </a:solidFill>
              </a:rPr>
              <a:t>Completed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EF274A-B9FD-4686-8E69-4F3ADBA8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905125"/>
            <a:ext cx="1257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7FB"/>
                </a:solidFill>
              </a:defRPr>
            </a:pPr>
            <a:r>
              <a:rPr sz="1125" b="1">
                <a:solidFill>
                  <a:srgbClr val="F5F7FB"/>
                </a:solidFill>
              </a:rPr>
              <a:t>Testing Phase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646062-B1AF-4C98-AD10-4BDEA6C4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6385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6 June - 20 June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0888D2-1453-4910-80EC-BF7CFB1A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190750"/>
            <a:ext cx="1524000" cy="2095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231B12"/>
          </a:solidFill>
          <a:ln xmlns:a="http://schemas.openxmlformats.org/drawingml/2006/main" w="9525">
            <a:solidFill>
              <a:srgbClr val="8A673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D65ED1-A25A-4346-A014-13DC417F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4288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6B84B"/>
                </a:solidFill>
              </a:defRPr>
            </a:pPr>
            <a:r>
              <a:rPr sz="900" b="1">
                <a:solidFill>
                  <a:srgbClr val="F6B84B"/>
                </a:solidFill>
              </a:rPr>
              <a:t>Pending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96B065-9911-4CC0-B61F-A454C364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905125"/>
            <a:ext cx="1257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7FB"/>
                </a:solidFill>
              </a:defRPr>
            </a:pPr>
            <a:r>
              <a:rPr sz="1125" b="1">
                <a:solidFill>
                  <a:srgbClr val="F5F7FB"/>
                </a:solidFill>
              </a:rPr>
              <a:t>Text-to-SQL framework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7C6737-4395-442B-80D1-5C85383A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6385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21 June - 30 June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70ED38-C703-4747-850E-C280870A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90750"/>
            <a:ext cx="1524000" cy="2095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231B12"/>
          </a:solidFill>
          <a:ln xmlns:a="http://schemas.openxmlformats.org/drawingml/2006/main" w="9525">
            <a:solidFill>
              <a:srgbClr val="8A673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A0BACE-A7D4-48E5-818A-5334D610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288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6B84B"/>
                </a:solidFill>
              </a:defRPr>
            </a:pPr>
            <a:r>
              <a:rPr sz="900" b="1">
                <a:solidFill>
                  <a:srgbClr val="F6B84B"/>
                </a:solidFill>
              </a:rPr>
              <a:t>Pending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D1C28D-2E7D-4782-8FDB-C8680336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905125"/>
            <a:ext cx="1257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7FB"/>
                </a:solidFill>
              </a:defRPr>
            </a:pPr>
            <a:r>
              <a:rPr sz="1125" b="1">
                <a:solidFill>
                  <a:srgbClr val="F5F7FB"/>
                </a:solidFill>
              </a:rPr>
              <a:t>Conversational AI testing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EBEC26-B5FB-4DFD-8A43-14B2B062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6385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1 July - 7 July 2026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B5AC29-8348-49A1-90B6-2D2C9ACF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190750"/>
            <a:ext cx="1524000" cy="2095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231B12"/>
          </a:solidFill>
          <a:ln xmlns:a="http://schemas.openxmlformats.org/drawingml/2006/main" w="9525">
            <a:solidFill>
              <a:srgbClr val="8A673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9C391A-1AC4-4605-ABDD-33003F2D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4288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6B84B"/>
                </a:solidFill>
              </a:defRPr>
            </a:pPr>
            <a:r>
              <a:rPr sz="900" b="1">
                <a:solidFill>
                  <a:srgbClr val="F6B84B"/>
                </a:solidFill>
              </a:rPr>
              <a:t>Pending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A2BBD8-0D01-4468-97BE-C67FE779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905125"/>
            <a:ext cx="1257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7FB"/>
                </a:solidFill>
              </a:defRPr>
            </a:pPr>
            <a:r>
              <a:rPr sz="1125" b="1">
                <a:solidFill>
                  <a:srgbClr val="F5F7FB"/>
                </a:solidFill>
              </a:rPr>
              <a:t>Dissertation review/submission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58D2EB-6FD0-4F1F-90AD-CA2B84EA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6385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9 July - 18 August 2026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A2DC21-F6DA-4229-9DA3-3E7A9220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9587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5F7FB"/>
                </a:solidFill>
              </a:defRPr>
            </a:pPr>
            <a:r>
              <a:rPr sz="1350" b="0">
                <a:solidFill>
                  <a:srgbClr val="F5F7FB"/>
                </a:solidFill>
              </a:rPr>
              <a:t>Mid-term position: the data platform foundation is implemented; the final phase is intelligence, usability validation and production hardening.</a:t>
            </a:r>
          </a:p>
        </p:txBody>
      </p:sp>
    </p:spTree>
    <p:extLst>
      <p:ext uri="{BB962C8B-B14F-4D97-AF65-F5344CB8AC3E}">
        <p14:creationId xmlns:p14="http://schemas.microsoft.com/office/powerpoint/2010/main" val="107069025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AA1274-A3C1-4D60-9950-CC14B2D9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BAF14-989F-475D-882B-E4A6CA25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9B765-A0B5-40FD-8974-88D86490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A489D1-FB20-4EA2-B0C0-8AF824FA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REFERENCES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3C650-F757-4F13-9C2C-41D404AE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Reference-Backed Design Decisions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75D4F-6135-4635-8BA6-7F0F32D2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099C91-890D-4D91-AA55-00B80750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Each major technical decision is connected to a recognized method, official documentation or foundational paper.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DC502D-C2AC-46CC-9112-A12A8B17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81125"/>
            <a:ext cx="11334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A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4883D1-24F8-4C4E-95E7-B5521706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466850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F7FB"/>
                </a:solidFill>
              </a:defRPr>
            </a:pPr>
            <a:r>
              <a:rPr sz="900" b="1">
                <a:solidFill>
                  <a:srgbClr val="F5F7FB"/>
                </a:solidFill>
              </a:rPr>
              <a:t>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23C8D-E900-41F0-8EDB-F2CEA8FF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1175" y="1466850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F7FB"/>
                </a:solidFill>
              </a:defRPr>
            </a:pPr>
            <a:r>
              <a:rPr sz="900" b="1">
                <a:solidFill>
                  <a:srgbClr val="F5F7FB"/>
                </a:solidFill>
              </a:rPr>
              <a:t>Reference basis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8CB19A-9BB1-4FD9-BD0D-89297ADB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425" y="1466850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F7FB"/>
                </a:solidFill>
              </a:defRPr>
            </a:pPr>
            <a:r>
              <a:rPr sz="900" b="1">
                <a:solidFill>
                  <a:srgbClr val="F5F7FB"/>
                </a:solidFill>
              </a:rPr>
              <a:t>How it appears in TalentFlow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9E678B-6A07-4914-96C6-2067F203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85950"/>
            <a:ext cx="11334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31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ADFA24-0C45-47CD-9D60-D83099C0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71675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Dimensional/Gold thinking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80DCB7-9B35-4E24-990F-D2CF4BAB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1175" y="1971675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Kimball &amp; Ross, The Data Warehouse Toolkit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9FA16F-98C8-4613-B8CB-C0D15938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425" y="1971675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Gold KPIs have business grain and reporting purpose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B768CE-7D99-4365-B0C3-7CCF003F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90775"/>
            <a:ext cx="11334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0B6756-7548-4EC8-B59B-523624F4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476500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Bronze/Silver/Gold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621A3B-1AE6-4F95-AD8D-7F38619B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1175" y="2476500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Databricks medallion architecture concepts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7F6487-0F43-4CBA-BA18-4E884075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425" y="2476500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Raw -&gt; secure/versioned -&gt; business-ready datasets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F4AF9E-1E16-47AE-9D6C-30A8F0E6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895600"/>
            <a:ext cx="11334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31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1B329B-38C4-476F-BB46-A0FA5DC2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981325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Relational constraints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AFED4F-5BD0-4018-9F51-11454D10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1175" y="2981325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PostgreSQL documentation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6FC1EB-3F45-453F-B6CD-213BD913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425" y="2981325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PK/FK/UNIQUE/CHECK controls in DDL.sql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B58555-17E4-4887-93C5-CFA75D7F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400425"/>
            <a:ext cx="11334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AAC51B-0470-45F3-8314-E0164D5B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486150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Cloud lake storage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02529F-4C71-4DAC-98D9-1734EC5C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1175" y="3486150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Microsoft Azure Data Lake Storage docs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93B301-C356-4633-BF43-C941FC8C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425" y="3486150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Blob-backed hierarchical lake folders and Parquet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D249F0-9E45-4AB8-BB87-99329E1B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905250"/>
            <a:ext cx="11334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31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C6A770-8253-474A-A9A8-5E299A98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990975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Workflow orchestration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9CBC30-B1B5-4B01-B132-FF55ABD1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1175" y="3990975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Prefect documentation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294934-A639-4C97-BED6-D408D610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425" y="3990975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Flows, deployments, schedules and Cloud UI monitoring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1ED477-FD69-49EF-9A9E-6AAD9C8F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410075"/>
            <a:ext cx="11334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929238-8FD6-4B34-A731-8073725A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495800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Parquet analytics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7DC284-3CD4-49C9-9384-1149B500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1175" y="4495800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DuckDB documentation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E66967-DA36-4A7B-A330-AE213414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425" y="4495800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SQL joins/aggregations over Parquet-backed Silver data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B98944-DF69-44C7-B0D2-FA7E28CB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14900"/>
            <a:ext cx="11334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31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4E5EFB-599F-43EC-BDF2-F6FBE3A5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000625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Predictive model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904831-B00B-4828-8614-47C1D61B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1175" y="5000625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Breiman Random Forests; scikit-learn docs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6F86A4-6B5E-459A-A375-61FE78B7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425" y="5000625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Random Forest pipelines and feature importances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FC6DE7-F614-4F9C-9818-C1810AEC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419725"/>
            <a:ext cx="11334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AFB92A-34F2-4FB9-9295-626D1350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505450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Future LLM layer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51C98D-E218-48B7-87C0-B4332D5E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1175" y="5505450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Vaswani et al., Attention Is All You Need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1F683C-1C2D-46E7-B827-62048491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425" y="5505450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Transformer/LLM foundation for Text-to-SQL interface</a:t>
            </a:r>
          </a:p>
        </p:txBody>
      </p:sp>
    </p:spTree>
    <p:extLst>
      <p:ext uri="{BB962C8B-B14F-4D97-AF65-F5344CB8AC3E}">
        <p14:creationId xmlns:p14="http://schemas.microsoft.com/office/powerpoint/2010/main" val="165595011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FC16D9-ED15-4BC2-9E4E-725E3A27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4B5514-8AC5-4D83-9873-D56C1BA9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AB5D44-1F87-4ED8-A3F8-5D7B8DC8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A1C0E-1ECC-4579-B81E-6428DD00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SOURCE 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ACEB7A-9B7C-46AC-83BB-1DBBD018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Bibliography and Web 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71399-A954-40A7-BC4E-CC2E9E07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675E3-8421-4594-88D2-D21C9988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These are the concrete references used to connect the implementation choices to accepted data-engineering and AI foundations.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AB03D-24A9-46BA-BA5C-F8C18B73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53340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C0886C-6A30-46AE-A08B-C25590F3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954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D689"/>
                </a:solidFill>
              </a:defRPr>
            </a:pPr>
            <a:r>
              <a:rPr sz="750" b="1">
                <a:solidFill>
                  <a:srgbClr val="25D689"/>
                </a:solidFill>
              </a:rPr>
              <a:t>BOOKS, PAPERS AND OFFICIAL DOCS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2D4230-B674-46A7-BF7F-20A7B136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240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5D689"/>
                </a:solidFill>
              </a:defRPr>
            </a:pPr>
            <a:r>
              <a:rPr sz="863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D85536-3287-42A6-8F1C-16DAEA64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114550"/>
            <a:ext cx="417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5F7FB"/>
                </a:solidFill>
              </a:defRPr>
            </a:pPr>
            <a:r>
              <a:rPr sz="863" b="0">
                <a:solidFill>
                  <a:srgbClr val="F5F7FB"/>
                </a:solidFill>
              </a:rPr>
              <a:t>Ralph Kimball and Margy Ross, The Data Warehouse Toolkit.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1461A3-43B4-4815-BAAE-CDDE7B1C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479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5D689"/>
                </a:solidFill>
              </a:defRPr>
            </a:pPr>
            <a:r>
              <a:rPr sz="863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E06AD1-DA22-4904-9F90-2D51F456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438400"/>
            <a:ext cx="417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5F7FB"/>
                </a:solidFill>
              </a:defRPr>
            </a:pPr>
            <a:r>
              <a:rPr sz="863" b="0">
                <a:solidFill>
                  <a:srgbClr val="F5F7FB"/>
                </a:solidFill>
              </a:rPr>
              <a:t>Databricks Docs: What is the medallion lakehouse architecture?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F5FFB2-6313-4796-B763-4EFBA8B6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717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5D689"/>
                </a:solidFill>
              </a:defRPr>
            </a:pPr>
            <a:r>
              <a:rPr sz="863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6709B2-E6E5-4F96-AC6F-78D5EBAB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762250"/>
            <a:ext cx="417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5F7FB"/>
                </a:solidFill>
              </a:defRPr>
            </a:pPr>
            <a:r>
              <a:rPr sz="863" b="0">
                <a:solidFill>
                  <a:srgbClr val="F5F7FB"/>
                </a:solidFill>
              </a:rPr>
              <a:t>PostgreSQL Docs: Data Definition - Constraints.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2DE7FC-BA8A-4FE9-A6AE-E871D853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956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5D689"/>
                </a:solidFill>
              </a:defRPr>
            </a:pPr>
            <a:r>
              <a:rPr sz="863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C24271-7373-49D3-A9FA-CF8D3233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86100"/>
            <a:ext cx="417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5F7FB"/>
                </a:solidFill>
              </a:defRPr>
            </a:pPr>
            <a:r>
              <a:rPr sz="863" b="0">
                <a:solidFill>
                  <a:srgbClr val="F5F7FB"/>
                </a:solidFill>
              </a:rPr>
              <a:t>Microsoft Learn: Introduction to Azure Data Lake Storage.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1DB771-5DA4-4408-8E0E-66F1BC04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194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5D689"/>
                </a:solidFill>
              </a:defRPr>
            </a:pPr>
            <a:r>
              <a:rPr sz="863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7B090A-FA65-464F-B13A-CE4C11AC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409950"/>
            <a:ext cx="417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5F7FB"/>
                </a:solidFill>
              </a:defRPr>
            </a:pPr>
            <a:r>
              <a:rPr sz="863" b="0">
                <a:solidFill>
                  <a:srgbClr val="F5F7FB"/>
                </a:solidFill>
              </a:rPr>
              <a:t>Prefect Docs: Flows, deployments and schedules.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E693AE-AE2E-437B-8D95-68412B05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5D689"/>
                </a:solidFill>
              </a:defRPr>
            </a:pPr>
            <a:r>
              <a:rPr sz="863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2B400C-CEB6-40C2-ABC6-614A66CF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733800"/>
            <a:ext cx="417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5F7FB"/>
                </a:solidFill>
              </a:defRPr>
            </a:pPr>
            <a:r>
              <a:rPr sz="863" b="0">
                <a:solidFill>
                  <a:srgbClr val="F5F7FB"/>
                </a:solidFill>
              </a:rPr>
              <a:t>DuckDB Docs: Parquet data support and read_parquet usage.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8DD9BB-DCAC-45B4-8492-F9FC6F5C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671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5D689"/>
                </a:solidFill>
              </a:defRPr>
            </a:pPr>
            <a:r>
              <a:rPr sz="863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F30940-4C32-4695-B41F-730FFA9D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057650"/>
            <a:ext cx="417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5F7FB"/>
                </a:solidFill>
              </a:defRPr>
            </a:pPr>
            <a:r>
              <a:rPr sz="863" b="0">
                <a:solidFill>
                  <a:srgbClr val="F5F7FB"/>
                </a:solidFill>
              </a:rPr>
              <a:t>Breiman, L. Random Forests. Machine Learning 45, 5-32 (2001).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4D1BE0-B58B-4D7D-A50B-F8B66A74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910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5D689"/>
                </a:solidFill>
              </a:defRPr>
            </a:pPr>
            <a:r>
              <a:rPr sz="863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5A20C0-0095-47EC-BD80-76C30F69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381500"/>
            <a:ext cx="417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5F7FB"/>
                </a:solidFill>
              </a:defRPr>
            </a:pPr>
            <a:r>
              <a:rPr sz="863" b="0">
                <a:solidFill>
                  <a:srgbClr val="F5F7FB"/>
                </a:solidFill>
              </a:rPr>
              <a:t>scikit-learn User Guide: Pipeline, ColumnTransformer, ensemble methods.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7F963D-0870-4CB7-B19A-9EBDDA95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148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5D689"/>
                </a:solidFill>
              </a:defRPr>
            </a:pPr>
            <a:r>
              <a:rPr sz="863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288D19-98EE-4E5A-B621-D2813045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705350"/>
            <a:ext cx="417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5F7FB"/>
                </a:solidFill>
              </a:defRPr>
            </a:pPr>
            <a:r>
              <a:rPr sz="863" b="0">
                <a:solidFill>
                  <a:srgbClr val="F5F7FB"/>
                </a:solidFill>
              </a:rPr>
              <a:t>Vaswani et al. Attention Is All You Need. arXiv:1706.03762.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8ED489-2B17-49FB-982E-84D59510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28750"/>
            <a:ext cx="53340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2F79A8-B21A-4AE3-9325-FF5F30E9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6954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C7F7"/>
                </a:solidFill>
              </a:defRPr>
            </a:pPr>
            <a:r>
              <a:rPr sz="750" b="1">
                <a:solidFill>
                  <a:srgbClr val="25C7F7"/>
                </a:solidFill>
              </a:rPr>
              <a:t>URLS USED FOR CROSS-CHECKING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1CF899-234E-430B-8DE6-794725B7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33600"/>
            <a:ext cx="4619625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D8ECFF"/>
                </a:solidFill>
              </a:defRPr>
            </a:pPr>
            <a:r>
              <a:rPr sz="960" b="0">
                <a:solidFill>
                  <a:srgbClr val="D8ECFF"/>
                </a:solidFill>
              </a:rPr>
              <a:t>https://docs.databricks.com/aws/en/lakehouse/medallion</a:t>
            </a:r>
          </a:p>
          <a:p xmlns:a="http://schemas.openxmlformats.org/drawingml/2006/main">
            <a:pPr algn="l">
              <a:defRPr sz="960" b="0">
                <a:solidFill>
                  <a:srgbClr val="D8ECFF"/>
                </a:solidFill>
              </a:defRPr>
            </a:pPr>
            <a:r>
              <a:rPr sz="960" b="0">
                <a:solidFill>
                  <a:srgbClr val="D8ECFF"/>
                </a:solidFill>
              </a:rPr>
              <a:t>https://www.postgresql.org/docs/current/ddl-constraints.html</a:t>
            </a:r>
          </a:p>
          <a:p xmlns:a="http://schemas.openxmlformats.org/drawingml/2006/main">
            <a:pPr algn="l">
              <a:defRPr sz="960" b="0">
                <a:solidFill>
                  <a:srgbClr val="D8ECFF"/>
                </a:solidFill>
              </a:defRPr>
            </a:pPr>
            <a:r>
              <a:rPr sz="960" b="0">
                <a:solidFill>
                  <a:srgbClr val="D8ECFF"/>
                </a:solidFill>
              </a:rPr>
              <a:t>https://learn.microsoft.com/en-us/azure/storage/blobs/data-lake-storage-introduction</a:t>
            </a:r>
          </a:p>
          <a:p xmlns:a="http://schemas.openxmlformats.org/drawingml/2006/main">
            <a:pPr algn="l">
              <a:defRPr sz="960" b="0">
                <a:solidFill>
                  <a:srgbClr val="D8ECFF"/>
                </a:solidFill>
              </a:defRPr>
            </a:pPr>
            <a:r>
              <a:rPr sz="960" b="0">
                <a:solidFill>
                  <a:srgbClr val="D8ECFF"/>
                </a:solidFill>
              </a:rPr>
              <a:t>https://docs.prefect.io/v3/concepts/flows</a:t>
            </a:r>
          </a:p>
          <a:p xmlns:a="http://schemas.openxmlformats.org/drawingml/2006/main">
            <a:pPr algn="l">
              <a:defRPr sz="960" b="0">
                <a:solidFill>
                  <a:srgbClr val="D8ECFF"/>
                </a:solidFill>
              </a:defRPr>
            </a:pPr>
            <a:r>
              <a:rPr sz="960" b="0">
                <a:solidFill>
                  <a:srgbClr val="D8ECFF"/>
                </a:solidFill>
              </a:rPr>
              <a:t>https://duckdb.org/docs/stable/data/parquet/overview</a:t>
            </a:r>
          </a:p>
          <a:p xmlns:a="http://schemas.openxmlformats.org/drawingml/2006/main">
            <a:pPr algn="l">
              <a:defRPr sz="960" b="0">
                <a:solidFill>
                  <a:srgbClr val="D8ECFF"/>
                </a:solidFill>
              </a:defRPr>
            </a:pPr>
            <a:r>
              <a:rPr sz="960" b="0">
                <a:solidFill>
                  <a:srgbClr val="D8ECFF"/>
                </a:solidFill>
              </a:rPr>
              <a:t>https://link.springer.com/article/10.1023/A:1010933404324</a:t>
            </a:r>
          </a:p>
          <a:p xmlns:a="http://schemas.openxmlformats.org/drawingml/2006/main">
            <a:pPr algn="l">
              <a:defRPr sz="960" b="0">
                <a:solidFill>
                  <a:srgbClr val="D8ECFF"/>
                </a:solidFill>
              </a:defRPr>
            </a:pPr>
            <a:r>
              <a:rPr sz="960" b="0">
                <a:solidFill>
                  <a:srgbClr val="D8ECFF"/>
                </a:solidFill>
              </a:rPr>
              <a:t>https://scikit-learn.org/stable/modules/compose.html</a:t>
            </a:r>
          </a:p>
          <a:p xmlns:a="http://schemas.openxmlformats.org/drawingml/2006/main">
            <a:pPr algn="l">
              <a:defRPr sz="960" b="0">
                <a:solidFill>
                  <a:srgbClr val="D8ECFF"/>
                </a:solidFill>
              </a:defRPr>
            </a:pPr>
            <a:r>
              <a:rPr sz="960" b="0">
                <a:solidFill>
                  <a:srgbClr val="D8ECFF"/>
                </a:solidFill>
              </a:rPr>
              <a:t>https://scikit-learn.org/stable/modules/ensemble.html</a:t>
            </a:r>
          </a:p>
          <a:p xmlns:a="http://schemas.openxmlformats.org/drawingml/2006/main">
            <a:pPr algn="l">
              <a:defRPr sz="960" b="0">
                <a:solidFill>
                  <a:srgbClr val="D8ECFF"/>
                </a:solidFill>
              </a:defRPr>
            </a:pPr>
            <a:r>
              <a:rPr sz="960" b="0">
                <a:solidFill>
                  <a:srgbClr val="D8ECFF"/>
                </a:solidFill>
              </a:rPr>
              <a:t>https://arxiv.org/abs/1706.03762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26217A-C89B-4F88-A022-C2B41A66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029200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8CA"/>
                </a:solidFill>
              </a:defRPr>
            </a:pPr>
            <a:r>
              <a:rPr sz="938" b="0">
                <a:solidFill>
                  <a:srgbClr val="A9B8CA"/>
                </a:solidFill>
              </a:rPr>
              <a:t>The implementation-specific evidence is from D:/report/2024da04133.pdf and D:/TalentFlow_AI project files.</a:t>
            </a:r>
          </a:p>
        </p:txBody>
      </p:sp>
    </p:spTree>
    <p:extLst>
      <p:ext uri="{BB962C8B-B14F-4D97-AF65-F5344CB8AC3E}">
        <p14:creationId xmlns:p14="http://schemas.microsoft.com/office/powerpoint/2010/main" val="196360711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77EBAB-E0B1-4B9D-9452-C1687959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A3AF2-637A-475A-9A6C-CE9C7E0B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8277E5-F23E-4CB3-8EC6-5764D073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3799D-BAA9-4091-A250-588BB75B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CONCLUSION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923F2A-E635-40E5-A7C5-9832E371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Conclusion and Examiner Talking 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0938C-302E-46CA-BCFF-F4FA89B5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D64C3-D1D3-4D02-8F2E-677341F4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The project demonstrates a complete mid-term foundation: operational recruitment workflows, lakehouse ETL, validation, and AI readiness.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D5AD5C-3BE4-4432-AAEE-28B49FF1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3744CF-B027-4527-9431-414ADC4B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D689"/>
                </a:solidFill>
              </a:defRPr>
            </a:pPr>
            <a:r>
              <a:rPr sz="750" b="1">
                <a:solidFill>
                  <a:srgbClr val="25D689"/>
                </a:solidFill>
              </a:rPr>
              <a:t>WHAT IS STRONG NOW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A481DD-61AA-4635-9876-53B846A3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98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F6F65-0B67-4A81-8CA4-286D7881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00300"/>
            <a:ext cx="3886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End-to-end working application and ELT foundation.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0AF7AB-C66A-4BCB-8B11-57FB3784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670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86DAFD-77D9-44A7-9BF1-E356426B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3886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Clear data separation: OLTP for workflow, lakehouse for analytics.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DE9F41-4644-403C-A1E9-9C6EE10F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6D48A9-0DDA-4E8C-821D-8A05B7BC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14700"/>
            <a:ext cx="3886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SCD2 and PII handling show data engineering maturity.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522F79-1FB2-45F1-95BD-ABCFB31D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814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6BCCC4-6668-440B-82BF-3115A327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3886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Gold validation and ML artifacts provide defensible evidence.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530E71-01A0-4A4A-9254-A50B90A9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329C39-1ADD-4DF9-8859-F6CE4725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02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6B84B"/>
                </a:solidFill>
              </a:defRPr>
            </a:pPr>
            <a:r>
              <a:rPr sz="750" b="1">
                <a:solidFill>
                  <a:srgbClr val="F6B84B"/>
                </a:solidFill>
              </a:rPr>
              <a:t>WHAT WILL MAKE IT FINAL-READY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96A6EE-4D18-48D8-A1B2-E7652DC6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098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663B0E-5D72-461B-98CE-49068820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00300"/>
            <a:ext cx="3886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Real UI screenshots replacing report placeholders.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EA32DF-DE33-4763-9137-839698F0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670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4C2956-D82A-4E9B-85B6-80F27F94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57500"/>
            <a:ext cx="3886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Text-to-SQL guardrails and conversational testing.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A5E44C-E855-416B-B91C-04899277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242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0236A7-ED94-446A-A901-064374E0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14700"/>
            <a:ext cx="3886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Better ML features, model evaluation and model-card documentation.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A828F2-FC7A-4146-98E2-F1BC294C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814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AF4517-6E3B-40E0-B548-5C04AD3C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71900"/>
            <a:ext cx="3886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Security hardening: password hashing, stronger RBAC and alerts.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88DE5F-E31A-4299-B446-B80E899E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6197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5F7FB"/>
                </a:solidFill>
              </a:defRPr>
            </a:pPr>
            <a:r>
              <a:rPr sz="2325" b="1">
                <a:solidFill>
                  <a:srgbClr val="F5F7FB"/>
                </a:solidFill>
              </a:rPr>
              <a:t>Thank you. Questions?</a:t>
            </a:r>
          </a:p>
        </p:txBody>
      </p:sp>
    </p:spTree>
    <p:extLst>
      <p:ext uri="{BB962C8B-B14F-4D97-AF65-F5344CB8AC3E}">
        <p14:creationId xmlns:p14="http://schemas.microsoft.com/office/powerpoint/2010/main" val="4245258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2026-06-28T17:21:41.0960000Z</dcterms:created>
  <dcterms:modified xsi:type="dcterms:W3CDTF">2026-06-28T17:21:41.0960000Z</dcterms:modified>
</coreProperties>
</file>