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afc89a1f1c442a" /><Relationship Type="http://schemas.openxmlformats.org/officeDocument/2006/relationships/extended-properties" Target="/docProps/app.xml" Id="Re17d6602578b4eb8" /><Relationship Type="http://schemas.openxmlformats.org/officeDocument/2006/relationships/officeDocument" Target="/ppt/presentation.xml" Id="R0fc0fcf59ccc44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1da06d81b94edf"/>
  </p:sldMasterIdLst>
  <p:notesMasterIdLst>
    <p:notesMasterId xmlns:r="http://schemas.openxmlformats.org/officeDocument/2006/relationships" r:id="Rb1c4f9716d38482f"/>
  </p:notesMasterIdLst>
  <p:sldIdLst>
    <p:sldId xmlns:r="http://schemas.openxmlformats.org/officeDocument/2006/relationships" id="256" r:id="R20ef1a936f79424f"/>
    <p:sldId xmlns:r="http://schemas.openxmlformats.org/officeDocument/2006/relationships" id="257" r:id="R53da01aa16044add"/>
    <p:sldId xmlns:r="http://schemas.openxmlformats.org/officeDocument/2006/relationships" id="258" r:id="R9972733262ce4394"/>
    <p:sldId xmlns:r="http://schemas.openxmlformats.org/officeDocument/2006/relationships" id="259" r:id="R1cd466ea7c95489b"/>
    <p:sldId xmlns:r="http://schemas.openxmlformats.org/officeDocument/2006/relationships" id="260" r:id="Rfa50874b2e174515"/>
    <p:sldId xmlns:r="http://schemas.openxmlformats.org/officeDocument/2006/relationships" id="261" r:id="R5b5fbf612d4d49d0"/>
    <p:sldId xmlns:r="http://schemas.openxmlformats.org/officeDocument/2006/relationships" id="262" r:id="R2fe817a00db74768"/>
    <p:sldId xmlns:r="http://schemas.openxmlformats.org/officeDocument/2006/relationships" id="263" r:id="Rd3d05eb359ff4950"/>
    <p:sldId xmlns:r="http://schemas.openxmlformats.org/officeDocument/2006/relationships" id="264" r:id="Rb3057c59506c45fa"/>
    <p:sldId xmlns:r="http://schemas.openxmlformats.org/officeDocument/2006/relationships" id="265" r:id="Reec179d6f6aa4e8e"/>
    <p:sldId xmlns:r="http://schemas.openxmlformats.org/officeDocument/2006/relationships" id="266" r:id="Rd45c32afdebb4588"/>
    <p:sldId xmlns:r="http://schemas.openxmlformats.org/officeDocument/2006/relationships" id="267" r:id="Re62e14d605ab4d2e"/>
    <p:sldId xmlns:r="http://schemas.openxmlformats.org/officeDocument/2006/relationships" id="268" r:id="R41d0748994d94eb0"/>
    <p:sldId xmlns:r="http://schemas.openxmlformats.org/officeDocument/2006/relationships" id="269" r:id="R0e51578fbc24429c"/>
    <p:sldId xmlns:r="http://schemas.openxmlformats.org/officeDocument/2006/relationships" id="270" r:id="Rfdc1a57ee59347f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ae9f1c93dc4ad0" /><Relationship Type="http://schemas.openxmlformats.org/officeDocument/2006/relationships/slideMaster" Target="/ppt/slideMasters/slideMaster1.xml" Id="R911da06d81b94edf" /><Relationship Type="http://schemas.openxmlformats.org/officeDocument/2006/relationships/notesMaster" Target="/ppt/notesMasters/notesMaster1.xml" Id="Rb1c4f9716d38482f" /><Relationship Type="http://schemas.openxmlformats.org/officeDocument/2006/relationships/presProps" Target="/ppt/presProps.xml" Id="R6981fb2ed2b6429c" /><Relationship Type="http://schemas.openxmlformats.org/officeDocument/2006/relationships/tableStyles" Target="/ppt/tableStyles.xml" Id="Rb9c9b90c97a147b0" /><Relationship Type="http://schemas.openxmlformats.org/officeDocument/2006/relationships/slide" Target="/ppt/slides/slide1.xml" Id="R20ef1a936f79424f" /><Relationship Type="http://schemas.openxmlformats.org/officeDocument/2006/relationships/slide" Target="/ppt/slides/slide2.xml" Id="R53da01aa16044add" /><Relationship Type="http://schemas.openxmlformats.org/officeDocument/2006/relationships/slide" Target="/ppt/slides/slide3.xml" Id="R9972733262ce4394" /><Relationship Type="http://schemas.openxmlformats.org/officeDocument/2006/relationships/slide" Target="/ppt/slides/slide4.xml" Id="R1cd466ea7c95489b" /><Relationship Type="http://schemas.openxmlformats.org/officeDocument/2006/relationships/slide" Target="/ppt/slides/slide5.xml" Id="Rfa50874b2e174515" /><Relationship Type="http://schemas.openxmlformats.org/officeDocument/2006/relationships/slide" Target="/ppt/slides/slide6.xml" Id="R5b5fbf612d4d49d0" /><Relationship Type="http://schemas.openxmlformats.org/officeDocument/2006/relationships/slide" Target="/ppt/slides/slide7.xml" Id="R2fe817a00db74768" /><Relationship Type="http://schemas.openxmlformats.org/officeDocument/2006/relationships/slide" Target="/ppt/slides/slide8.xml" Id="Rd3d05eb359ff4950" /><Relationship Type="http://schemas.openxmlformats.org/officeDocument/2006/relationships/slide" Target="/ppt/slides/slide9.xml" Id="Rb3057c59506c45fa" /><Relationship Type="http://schemas.openxmlformats.org/officeDocument/2006/relationships/slide" Target="/ppt/slides/slide10.xml" Id="Reec179d6f6aa4e8e" /><Relationship Type="http://schemas.openxmlformats.org/officeDocument/2006/relationships/slide" Target="/ppt/slides/slide11.xml" Id="Rd45c32afdebb4588" /><Relationship Type="http://schemas.openxmlformats.org/officeDocument/2006/relationships/slide" Target="/ppt/slides/slide12.xml" Id="Re62e14d605ab4d2e" /><Relationship Type="http://schemas.openxmlformats.org/officeDocument/2006/relationships/slide" Target="/ppt/slides/slide13.xml" Id="R41d0748994d94eb0" /><Relationship Type="http://schemas.openxmlformats.org/officeDocument/2006/relationships/slide" Target="/ppt/slides/slide14.xml" Id="R0e51578fbc24429c" /><Relationship Type="http://schemas.openxmlformats.org/officeDocument/2006/relationships/slide" Target="/ppt/slides/slide15.xml" Id="Rfdc1a57ee59347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c1c8dab9c04a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7c962600684ebb" /><Relationship Type="http://schemas.openxmlformats.org/officeDocument/2006/relationships/notesMaster" Target="/ppt/notesMasters/notesMaster1.xml" Id="Rdcb927cef7784c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9109a020b4497d" /><Relationship Type="http://schemas.openxmlformats.org/officeDocument/2006/relationships/notesMaster" Target="/ppt/notesMasters/notesMaster1.xml" Id="Rd323ac882d0c42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e180e846ba4825" /><Relationship Type="http://schemas.openxmlformats.org/officeDocument/2006/relationships/notesMaster" Target="/ppt/notesMasters/notesMaster1.xml" Id="R0d1c4d0507494e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060e40d20347e3" /><Relationship Type="http://schemas.openxmlformats.org/officeDocument/2006/relationships/notesMaster" Target="/ppt/notesMasters/notesMaster1.xml" Id="R99ae035c94924b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f1e53ad7b2420c" /><Relationship Type="http://schemas.openxmlformats.org/officeDocument/2006/relationships/notesMaster" Target="/ppt/notesMasters/notesMaster1.xml" Id="R0b8cfd223e7c40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23743b4c3a4af0" /><Relationship Type="http://schemas.openxmlformats.org/officeDocument/2006/relationships/notesMaster" Target="/ppt/notesMasters/notesMaster1.xml" Id="R0a677ccd3fb14f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59357b53964d25" /><Relationship Type="http://schemas.openxmlformats.org/officeDocument/2006/relationships/notesMaster" Target="/ppt/notesMasters/notesMaster1.xml" Id="R4af77605026640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089cfaa7d04e01" /><Relationship Type="http://schemas.openxmlformats.org/officeDocument/2006/relationships/notesMaster" Target="/ppt/notesMasters/notesMaster1.xml" Id="R2527a7ec27d74a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8f87efb7c34f39" /><Relationship Type="http://schemas.openxmlformats.org/officeDocument/2006/relationships/notesMaster" Target="/ppt/notesMasters/notesMaster1.xml" Id="R9ffa13bda85947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8d5d9963b64848" /><Relationship Type="http://schemas.openxmlformats.org/officeDocument/2006/relationships/notesMaster" Target="/ppt/notesMasters/notesMaster1.xml" Id="R5bdf3ce2d17147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336f49613842d6" /><Relationship Type="http://schemas.openxmlformats.org/officeDocument/2006/relationships/notesMaster" Target="/ppt/notesMasters/notesMaster1.xml" Id="Rc2299f41f9bd41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87981db522461a" /><Relationship Type="http://schemas.openxmlformats.org/officeDocument/2006/relationships/notesMaster" Target="/ppt/notesMasters/notesMaster1.xml" Id="Ree250f98b27144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333e329f713407e" /><Relationship Type="http://schemas.openxmlformats.org/officeDocument/2006/relationships/notesMaster" Target="/ppt/notesMasters/notesMaster1.xml" Id="Rc6b97fe0bcc5446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0368aefb85413c" /><Relationship Type="http://schemas.openxmlformats.org/officeDocument/2006/relationships/notesMaster" Target="/ppt/notesMasters/notesMaster1.xml" Id="R32c4185edb9243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d5129a13fd4580" /><Relationship Type="http://schemas.openxmlformats.org/officeDocument/2006/relationships/notesMaster" Target="/ppt/notesMasters/notesMaster1.xml" Id="Rbf44e39c30e947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59bec77d2d47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84bd5b8c5340b8" /><Relationship Type="http://schemas.openxmlformats.org/officeDocument/2006/relationships/slideLayout" Target="/ppt/slideLayouts/slideLayout1.xml" Id="Rad04d64b722b42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04d64b722b42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b0eb4e6234de2" /><Relationship Type="http://schemas.openxmlformats.org/officeDocument/2006/relationships/notesSlide" Target="/ppt/notesSlides/notesSlide1.xml" Id="R8e334a7843c149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0b11cb9364cdd" /><Relationship Type="http://schemas.openxmlformats.org/officeDocument/2006/relationships/notesSlide" Target="/ppt/notesSlides/notesSlide2.xml" Id="Rf0bab75562564c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6cfac7b5b41a1" /><Relationship Type="http://schemas.openxmlformats.org/officeDocument/2006/relationships/image" Target="/ppt/media/image.png" Id="R96b51dfa92734656" /><Relationship Type="http://schemas.openxmlformats.org/officeDocument/2006/relationships/image" Target="/ppt/media/image2.png" Id="Rdae0ccadbc024665" /><Relationship Type="http://schemas.openxmlformats.org/officeDocument/2006/relationships/notesSlide" Target="/ppt/notesSlides/notesSlide3.xml" Id="Read2729eaf8a44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5a8fc74214b8d" /><Relationship Type="http://schemas.openxmlformats.org/officeDocument/2006/relationships/notesSlide" Target="/ppt/notesSlides/notesSlide4.xml" Id="Rb78460acedc648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dea51ee4c4488" /><Relationship Type="http://schemas.openxmlformats.org/officeDocument/2006/relationships/image" Target="/ppt/media/image3.png" Id="R765bbb74c8a947fd" /><Relationship Type="http://schemas.openxmlformats.org/officeDocument/2006/relationships/notesSlide" Target="/ppt/notesSlides/notesSlide5.xml" Id="R7447d9b41bdd47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437ac69f04610" /><Relationship Type="http://schemas.openxmlformats.org/officeDocument/2006/relationships/notesSlide" Target="/ppt/notesSlides/notesSlide6.xml" Id="Re9d8f095d9494e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cabbe52e148df" /><Relationship Type="http://schemas.openxmlformats.org/officeDocument/2006/relationships/image" Target="/ppt/media/image4.png" Id="Rfdb82e5ab6b74b81" /><Relationship Type="http://schemas.openxmlformats.org/officeDocument/2006/relationships/notesSlide" Target="/ppt/notesSlides/notesSlide7.xml" Id="R6390c3b5b75940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87e40115042eb" /><Relationship Type="http://schemas.openxmlformats.org/officeDocument/2006/relationships/notesSlide" Target="/ppt/notesSlides/notesSlide8.xml" Id="R0d63df53ed7e46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6c0e514a04b06" /><Relationship Type="http://schemas.openxmlformats.org/officeDocument/2006/relationships/notesSlide" Target="/ppt/notesSlides/notesSlide9.xml" Id="Rb74adbaa03f841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b63cb83ee4913" /><Relationship Type="http://schemas.openxmlformats.org/officeDocument/2006/relationships/image" Target="/ppt/media/image5.png" Id="R7e7d5ce95c19417b" /><Relationship Type="http://schemas.openxmlformats.org/officeDocument/2006/relationships/image" Target="/ppt/media/image6.png" Id="R62aa422eb50f4891" /><Relationship Type="http://schemas.openxmlformats.org/officeDocument/2006/relationships/image" Target="/ppt/media/image7.png" Id="R5640be7dceb34cbe" /><Relationship Type="http://schemas.openxmlformats.org/officeDocument/2006/relationships/notesSlide" Target="/ppt/notesSlides/notesSlide10.xml" Id="Rfcc32054bf9b43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1720c554c4d44" /><Relationship Type="http://schemas.openxmlformats.org/officeDocument/2006/relationships/notesSlide" Target="/ppt/notesSlides/notesSlide11.xml" Id="Rf77354d8089d4a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a8b4e950741bb" /><Relationship Type="http://schemas.openxmlformats.org/officeDocument/2006/relationships/notesSlide" Target="/ppt/notesSlides/notesSlide12.xml" Id="R5e1f4b263d6643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d9bacd1584e03" /><Relationship Type="http://schemas.openxmlformats.org/officeDocument/2006/relationships/notesSlide" Target="/ppt/notesSlides/notesSlide13.xml" Id="Rbeec729bc9c041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1b1ba999949e0" /><Relationship Type="http://schemas.openxmlformats.org/officeDocument/2006/relationships/notesSlide" Target="/ppt/notesSlides/notesSlide14.xml" Id="R1860b9581efc4f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bb6d62d644099" /><Relationship Type="http://schemas.openxmlformats.org/officeDocument/2006/relationships/notesSlide" Target="/ppt/notesSlides/notesSlide15.xml" Id="Re554a8eef30a4f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1540B0-AB83-4CB4-807F-ADB95A29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TalentFlow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07826-76C7-4961-933D-BD1C64FE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D7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F4D78"/>
                </a:solidFill>
                <a:latin typeface="Aptos"/>
                <a:ea typeface="Aptos"/>
                <a:cs typeface="Aptos"/>
              </a:rPr>
              <a:t>Enterprise Candidate Relationship Management &amp; Predictive Intelligence Ecosystem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5507B-E7B7-4E36-B602-83B6080F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Mid Term Dissertation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40969-A7AC-407E-AB99-3F09325F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647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Malikulashtar K MALAMPATIWALLA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BITS ID: 2024DA04133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M.Tech. Data Science and Data Engineering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Altimetrik Pvt Ltd, Bangalore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BAA22-E6A5-40F0-9757-0DDB711C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19150"/>
            <a:ext cx="29718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636D4-7156-4648-B0BB-E0E2C0D5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38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Mid-term focus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E808D-2F0E-487F-A0D9-502C199F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09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From recruitment records to governed lakehouse analytics and ML-ready insights.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926B4-1232-4CEC-9599-39B1E659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910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Supervisor: Gaurav Lathiya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Additional Examiner: Vignesh 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97566-48E0-4163-B962-4F5F49D9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2024DA04133 | Malikulashtar K 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60F0F-73F1-4EBE-B1EB-A77F99B8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671271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5FC861-0F28-4E29-8F5D-2D587268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TALENTFLOW AI MID TERM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04305-B5EA-4075-9D96-483750B8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What I will present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8C92D-3DA2-41BA-B7DF-CA1D5362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11B2B-F64A-42F0-AAF3-50A05EF4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82E1F-33A9-425F-8520-CFE6E528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430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Submitted report snapshot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991BF-63BE-4428-B5EB-B5CBA8A9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E2065-51D4-4795-8F92-6344C563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098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Problem and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7AC21-E0B7-41C3-BFCA-A9925496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C0C86-1B8B-4594-AEE0-136B77DE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765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63D05-42AF-4FAD-AB4A-DA93BD87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4B10F-213F-4A83-A6E2-683A6DA1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433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Database and ER 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8FCDE-8B14-432A-99E8-4A2347A6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5384E-CADF-4E49-AC22-5E13261F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00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Bronze-Silver-Gold ETL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EC68C-B967-4162-96EF-3A597F8B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B3E31-3FFE-4C57-92E2-542FD3F3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768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Demo, validation and roadmap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B7015-C9BB-42C2-8C17-0316819F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76450"/>
            <a:ext cx="361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D7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D78"/>
                </a:solidFill>
                <a:latin typeface="Aptos"/>
                <a:ea typeface="Aptos"/>
                <a:cs typeface="Aptos"/>
              </a:rPr>
              <a:t>The goal is to prove a working data product: operational portal + governed ETL + lakehouse analytics + ML insight publishing.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863647-E887-45F8-8DDB-D77B5C81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2024DA04133 | Malikulashtar K 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02023-C016-4293-B3AE-92996C1C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10675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7A90DA-2469-46D5-9574-CD9327E7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TALENTFLOW AI MID TERM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F8E5F-8C7B-48A2-9B4C-F2156592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Submitted mid-term report: what this deck represents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F97D2-E8E1-481C-B7DC-54C94798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51dfa92734656"/>
          <a:stretch xmlns:a="http://schemas.openxmlformats.org/drawingml/2006/main"/>
        </p:blipFill>
        <p:spPr>
          <a:xfrm xmlns:a="http://schemas.openxmlformats.org/drawingml/2006/main">
            <a:off x="839726" y="1619250"/>
            <a:ext cx="2892547" cy="40957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0ccadbc024665"/>
          <a:stretch xmlns:a="http://schemas.openxmlformats.org/drawingml/2006/main"/>
        </p:blipFill>
        <p:spPr>
          <a:xfrm xmlns:a="http://schemas.openxmlformats.org/drawingml/2006/main">
            <a:off x="4573526" y="1619250"/>
            <a:ext cx="2892547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43E51-A581-484E-82C4-7334939A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0BEA4-3EA9-4CCC-8436-CF1207E0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14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Presentation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35BD5-51CB-4135-AB80-C4619A70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908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84FB7-EFB2-45BC-A410-215310DE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81300"/>
            <a:ext cx="211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Based on the submitted report dated June 2026.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AB897-36FA-478F-A6FA-901E562A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766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3B6B6-CD5C-4C7E-AF0D-17856700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67100"/>
            <a:ext cx="211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Focuses on completed portal, ETL and testing phase 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D32E6-C0AD-4E78-99E1-0C54CB47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624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0AC72-D871-4298-8938-F9017047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52900"/>
            <a:ext cx="211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Shows pending Text-to-SQL and final validation work clearly.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27C6A-327F-4A43-B68D-6CCC5DA9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2024DA04133 | Malikulashtar K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0486A-579A-455F-8730-90DE6B6B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113503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FB7BFE-3CF5-4B8C-BD1B-57E33E37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TALENTFLOW AI MID TERM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09AA7-6AA0-4BC9-AF9D-5116A41E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Business problem and dissertation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438AD-409A-4477-83E5-FCF3C8DF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F7649-A958-40F9-9C39-C49872D9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F9C98-C716-4A4E-B59A-10D1794F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5A119-4CBA-479B-8F65-8D2CF2DC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core recruitment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4EC95-FD92-4ECC-89E4-8CC04DCB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B6609-F77E-40CF-AF35-2CE36B72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812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D7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F4D78"/>
                </a:solidFill>
                <a:latin typeface="Aptos"/>
                <a:ea typeface="Aptos"/>
                <a:cs typeface="Aptos"/>
              </a:rPr>
              <a:t>620+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9C2C4-BD14-4C66-BF28-71300C93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57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demo candidates generated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3C348-15E5-401C-9E45-6F557C3A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09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03AF0-4E64-4EE7-B2BD-044A843C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812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2C4F4-4E4A-4F13-A982-7E377DD0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gold analytics datasets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69844-88D4-4047-B09C-2B64411E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09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2248A-0E30-4E31-AAA4-EC17F13E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812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2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3298C-B45C-44E0-86FC-1924BA93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scheduled ETL demo interval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80CD2E-AF8C-4755-8E02-CFAF4F4C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3377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C3E42-C5EB-4304-AB33-754A71E9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859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Candidate data is often fragmented across operational screens and reports.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E1E4A0-40AB-42C5-821B-1383789C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6717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B113F1-F5F5-46B5-B23B-A0CB7469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859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Profile updates overwrite history, limiting salary trend and engagement analysis.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C4EC58-5F56-40BF-8C5D-82BCFF9D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0057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166C8-2B31-4B27-B7C5-500CC88B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91050"/>
            <a:ext cx="859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Business users need KPI access without writing SQL against raw operational tables.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84F3D9-94CD-440B-A658-A42C18AD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2024DA04133 | Malikulashtar K 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E37069-09E0-4F60-824D-E8BAC8CE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96129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4C97AB-46D9-40A4-A2B9-42D4C515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TALENTFLOW AI MID TERM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D635A-2F3A-4001-9074-EC04C26B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Current architecture: operational portal to lakehouse insights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28234-3D0B-4630-8185-BF3AC296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bbb74c8a947fd"/>
          <a:stretch xmlns:a="http://schemas.openxmlformats.org/drawingml/2006/main"/>
        </p:blipFill>
        <p:spPr>
          <a:xfrm xmlns:a="http://schemas.openxmlformats.org/drawingml/2006/main">
            <a:off x="1753352" y="1619250"/>
            <a:ext cx="8685296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E680B-C52C-431E-B6E4-66283ECF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70D08-E5F6-4F4D-92DD-8709D07F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00625"/>
            <a:ext cx="954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Streamlit captures candidate, interviewer and admin events.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84A5A-0B2A-4C97-85FD-4F0AF33F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B33E0-FFCF-4D65-8B6A-6FA1AC4B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24475"/>
            <a:ext cx="954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PostgreSQL remains the OLTP source; Azure Blob stores versioned lake layers.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40235-038B-4A2D-BC14-A03A305F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7CFEE-B495-467A-B1FD-7962A052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48325"/>
            <a:ext cx="954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Gold parquet is the analytical source of truth; PostgreSQL publish supports dashboard cache.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D96DB-7595-41EB-B53C-B50C49F3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817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C25EC-A4FF-427F-AD20-5214B544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72175"/>
            <a:ext cx="954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ML Training is downstream of the dashboard/feature insight path for demo clarity.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E03BE5-8691-420A-971D-19940669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2024DA04133 | Malikulashtar K 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040A1-C8ED-4AE4-BB71-046F45E6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301183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122490-0C03-474C-A477-E4A76DDA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TALENTFLOW AI MID TERM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3A0ED-6FB1-4754-9BB5-125630F6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Portal workflows implemented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E4681-9433-4139-86C0-C3C0D4AA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132AA-A611-4146-8E5A-7F725D80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7058D-D826-45CE-95E8-A5C7CAB8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4D7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F4D78"/>
                </a:solidFill>
                <a:latin typeface="Aptos"/>
                <a:ea typeface="Aptos"/>
                <a:cs typeface="Aptos"/>
              </a:rPr>
              <a:t>Candidate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1C5A9-6CC9-4879-AF40-96068194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714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Register, login, view profile, update contact/education fields and generate login engagement events.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13FB8-EFB4-4535-81ED-8A4BC750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C11DB-5273-4B0E-9856-1B67E048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574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4D7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F4D78"/>
                </a:solidFill>
                <a:latin typeface="Aptos"/>
                <a:ea typeface="Aptos"/>
                <a:cs typeface="Aptos"/>
              </a:rPr>
              <a:t>Interviewer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58A5E-E172-4A89-AC0C-D60E20A8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714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View assigned interviews, record rating, comments and Hire/Hold/Reject decision.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A5906-CAFE-4565-92AF-D6DF5D32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32A65-B461-4A71-952F-C4BEA81B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20F5D-5FD2-4946-B5C1-B6483814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2714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Schedule interviews, monitor pipeline, view Gold KPIs and ML feature-importance outputs.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5A892-F0FD-4309-8499-784DA913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Admin page is reached by email pattern: @admin.altimetrik.com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F7488-2CA9-41E2-9908-249A8772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2024DA04133 | Malikulashtar K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1C9CD-F876-4891-9443-CCD44891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5827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7064C1-7288-45D1-894B-22A1D2AD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TALENTFLOW AI MID TERM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250D7-2100-49DD-9486-C95C8439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Database design: normalized recruitment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FDFC8-B2C2-495F-AE63-966C0758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82e5ab6b74b81"/>
          <a:stretch xmlns:a="http://schemas.openxmlformats.org/drawingml/2006/main"/>
        </p:blipFill>
        <p:spPr>
          <a:xfrm xmlns:a="http://schemas.openxmlformats.org/drawingml/2006/main">
            <a:off x="927735" y="1524000"/>
            <a:ext cx="6240780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1EBB6-D984-4065-B8D0-BB0B57E2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38300"/>
            <a:ext cx="3238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5F7A6-C1DE-4F04-B319-730744B1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669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4D7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4D78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442E3-22F2-4B3C-AD01-E36F2976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860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56A72-F14A-4E30-A183-EE23EC87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Candidate profile separated from education, logins and audit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30693-78F7-4EF1-9A1F-6DCB9203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5277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413BB-B8A4-4B3F-9A22-44469432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Interview schedules link candidates, jobs, interviewers and stages.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45153-631C-48EB-AEBC-F9CCE0F7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95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7B04F-0F28-46CA-BA37-ED5E886E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10000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Feedback and responses become analytical signals for funnel and ML insights.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7B33D-5DE0-4C0F-92F0-52AB47D2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2024DA04133 | Malikulashtar K 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91A9B-501A-4F18-A10C-4447B769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393696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09B470-CF06-43D9-BA33-EE37D422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TALENTFLOW AI MID TERM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8C4E9-C57B-4A1C-B1DC-748C18CE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ELT pipeline: Bronze → Silver → Gold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FA282-A890-453C-B8D1-F0D26665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FA8B2-536A-4A85-B9C1-4F61DBEF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1F4D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F469D-99F9-4A0C-82B3-3958FCD2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D7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4D78"/>
                </a:solidFill>
                <a:latin typeface="Aptos"/>
                <a:ea typeface="Aptos"/>
                <a:cs typeface="Aptos"/>
              </a:rPr>
              <a:t>Bronze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1DD7F-3F2F-46C8-B004-286D6F1C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2590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Raw PostgreSQL tables extracted to versioned parquet plus latest copies.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5F6B8-C78D-4A1F-BA7D-7669C281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E457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7961F-5E92-4B69-9898-B89CD872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288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Silver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82CDE-9DA8-4E48-8094-731E3295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90800"/>
            <a:ext cx="2590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PII encrypted, candidate snapshots tracked with row_hash, start_date, end_date and is_current.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83FDD-9E5E-4CE6-B1EA-D02378D3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1580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4FB8F-9682-4BF8-9A83-60446E6D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288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Gold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78057-D4E2-4ABE-8EE7-ADD1B216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90800"/>
            <a:ext cx="2590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DuckDB creates KPI parquet datasets: city score, salary benchmarks, engagement, funnel, hire rate.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2CA06-1471-45AE-AC7B-185063E8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336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F9165-E79F-4339-81B0-802F22A4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336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D0BAF-3A61-4049-940E-81E25D22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33875"/>
            <a:ext cx="9239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5FEB6-F445-4310-AAC9-E8118603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467225"/>
            <a:ext cx="889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run_elt.py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8D5290-E401-45A0-9A41-F7CD08D0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791075"/>
            <a:ext cx="8896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run_datetime = run_datetime or make_run_datetime()</a:t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bronze_flow(run_datetime)</a:t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silver_flow(run_datetime)</a:t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gold_flow(run_datetime, publish_postgres=True)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33A9AE-7098-4CAF-8F80-BA72CAD4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2024DA04133 | Malikulashtar K 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84E24C-982C-405C-97B0-5751F715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326399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88EC17-9707-486E-91F8-E1FEDD1E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TALENTFLOW AI MID TERM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0C061-7072-4429-8C8D-3DA6A5A1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Security and history tracking in Silver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744CA-EDCD-414D-9B2D-4BE2BA72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96333-0E3B-4ECA-BB36-9BD4C52B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28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4B71D-5C3C-4964-AD4C-659B7249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elt_silver.py - key logic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495DE-7F22-4736-9068-04F6D0D0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5943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df["row_hash"] = df.apply(lambda row: _row_hash(row, tracked_columns), axis=1)</a:t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df["start_date"] = now</a:t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df["end_date"] = pd.NaT</a:t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df["is_current"] = 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Fernet ciphertext is text, so numeric PII columns are cast safely</a:t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df[col] = df[col].astype("object")</a:t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df.loc[mask, col] = df.loc[mask, col].apply(odin_encrypt)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82ED2-C32B-4874-A1B5-02687F05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3619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79B0F-4283-4B72-B40C-E5AB6720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574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Mid-term improvement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2B00B-D54D-4DF6-99F4-69A1B0A9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765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BCC58-8D5B-43E4-BCF8-FCC8C05A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543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Sensitive attributes are encrypted before analytical storage.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97105-3855-4684-9E19-2C848924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0517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0B45E-BC13-4F98-AD06-EFA3CC05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95650"/>
            <a:ext cx="2543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SCD2-style snapshots keep candidate history for point-in-time analysis.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02420-E665-4F0B-8BBB-87BA3CBD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338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46C86-2793-43C0-8D80-3D411B50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24300"/>
            <a:ext cx="2543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Recent fixes made repeated scheduled runs stable for demo 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20206-AA36-4575-B057-027B50EA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2024DA04133 | Malikulashtar K 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ADF861-5993-4098-B23A-AA45C0DC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199759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93C181-DC03-4DB2-BDB0-0A1DF86F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TALENTFLOW AI MID TERM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C3489-AA9A-47D3-B43E-F1EC4D23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Visual evidence from submitted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4397F-6028-432A-8752-B2C8F813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d5ce95c19417b"/>
          <a:stretch xmlns:a="http://schemas.openxmlformats.org/drawingml/2006/main"/>
        </p:blipFill>
        <p:spPr>
          <a:xfrm xmlns:a="http://schemas.openxmlformats.org/drawingml/2006/main">
            <a:off x="748942" y="1524000"/>
            <a:ext cx="2959816" cy="41910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a422eb50f4891"/>
          <a:stretch xmlns:a="http://schemas.openxmlformats.org/drawingml/2006/main"/>
        </p:blipFill>
        <p:spPr>
          <a:xfrm xmlns:a="http://schemas.openxmlformats.org/drawingml/2006/main">
            <a:off x="4616092" y="1524000"/>
            <a:ext cx="2959816" cy="41910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0be7dceb34cbe"/>
          <a:stretch xmlns:a="http://schemas.openxmlformats.org/drawingml/2006/main"/>
        </p:blipFill>
        <p:spPr>
          <a:xfrm xmlns:a="http://schemas.openxmlformats.org/drawingml/2006/main">
            <a:off x="8483242" y="1524000"/>
            <a:ext cx="2959816" cy="4191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3A78E-030A-49A2-9903-A2DFE816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D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4D78"/>
                </a:solidFill>
                <a:latin typeface="Aptos"/>
                <a:ea typeface="Aptos"/>
                <a:cs typeface="Aptos"/>
              </a:rPr>
              <a:t>These screenshots prove UI progress, Gold analytics visibility, and Prefect scheduled execution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E5387-FA7E-40E9-9759-BCAF40E4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2024DA04133 | Malikulashtar K 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DF43F-3373-4762-A752-39B478DF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070331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ADC679-BE86-485F-8ED5-6C38087C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TALENTFLOW AI MID TERM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458FC-82BE-4C7A-BF34-D15ECE12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Prefect Cloud demo: scheduled every 2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B0D17-1354-4325-B808-B5999D8C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616D0-BB45-4C0F-8C94-C4A7B6D3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4953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07948-E3DF-4F51-9C58-39403663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Command used for the live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E196D-2356-4DC4-B36F-94DB6245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610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cd D:\TalentFlow_AI</a:t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prefect cloud login</a:t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python scripts\serve_elt_prefect_cloud.py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B2AB1-D7A2-4FC2-9AD2-7476520A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572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3252F-67E8-436D-8BFA-CCFD3811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4D7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F4D78"/>
                </a:solidFill>
                <a:latin typeface="Aptos"/>
                <a:ea typeface="Aptos"/>
                <a:cs typeface="Aptos"/>
              </a:rPr>
              <a:t>What examiner should see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770AD-2E0C-47CC-B4F6-A495CDB1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622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36BF7-EE33-45FB-93C6-346FD877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5270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Deployment: TalentFlow-Full-ELT / talentflow-elt-every-2-min-demo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18A5A-7F97-4483-B200-14F7E9CD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813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52633-6753-4B61-971E-F9F6B2A5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7180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New flow run appears every 2 minutes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1D005-CB08-434E-9678-667B369D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04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F3D0F-B33F-46BC-AFCA-22E7E9D0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9090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Subflows show Bronze, Silver and Gold 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9453E-8E51-48FF-8E67-6993F4E3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95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7B164-16C2-44F7-B9E2-2B78DB94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1000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Completed runs confirm scheduled ETL is working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40C10-68EF-40E7-A24B-2010158D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If the lake is reset, delete bronze/silver/gold files only; keep PostgreSQL source data intact.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34DB9-8EE2-4288-B4A3-5734D7EC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2024DA04133 | Malikulashtar K 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400AC0-45C9-4511-A302-59455CD6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6436601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6D8BA7-CF3F-4F5F-A3FC-14917F62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TALENTFLOW AI MID TERM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A42C4-F834-4B89-A292-2363D50A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Gold analytics and ML baseline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66EF6-F7F8-45DE-8D03-2C76A391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2DB99-EC38-4322-B70E-DF67D7FC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29B6A-731F-47F4-847F-2DB39DEF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D7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F4D78"/>
                </a:solidFill>
                <a:latin typeface="Aptos"/>
                <a:ea typeface="Aptos"/>
                <a:cs typeface="Aptos"/>
              </a:rPr>
              <a:t>0.502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A3BCE-083D-42B1-816D-0E1A9266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hire prediction 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F3514-144E-474C-81DD-849E751F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6EF48-01A5-4DE4-971B-514B727A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859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0.343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B6033-BC88-4B44-8155-7FEBE832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62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decision model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418AF-A902-4D46-8A09-FB7E3BED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9A635-1FCF-4589-8EC5-BE69F793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1.23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ED3FE-AA2F-4E49-B6D7-268085A8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rating MAE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929E3-D7F1-41D8-A7E7-BA1167C8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EE7B6-0A83-42AD-9EDE-74019B36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85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AD6CE-2506-47C1-B452-A6190CCA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62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feature rows shown in admin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F69C45-81A8-4CEE-AB65-3271EC82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Gold datasets surfaced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B59A7-4C1F-4BE6-B952-5EE37CC8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95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1A1EC7-D0DE-47A6-8F9D-4E4BF38E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000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city_talent_score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203AFB-E7BB-4D69-818B-2829E589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624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CA85C-B47A-47AE-A261-4075303F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salary_benchmarks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9A86C-0D11-48C8-9102-63BC1CFE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053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61F84C-D969-4037-A368-4C13DB35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9580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candidate_engagement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ED34A7-B183-409A-AB3C-1DB399B7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482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6C7994-396A-4710-A24E-0E982E42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3870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interview_pipeline_funnel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0EB14F-BC08-463D-ABBD-FF6D54B4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911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CF177C-7C30-4F33-983D-1DB83321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8160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job_hire_rate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4E5D32-30C4-4946-A236-8190428F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1380E7-2D41-4583-84E4-4882046A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95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34D750-C24B-45D8-92E7-0A9D78D4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100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Models are baseline evidence that the ML pipeline works end-to-end.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7E8389-C264-4593-9ED3-F7E22472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7197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B31A86-19E8-429C-BB0C-A2802A72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6245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Final phase should improve feature quality, class balance and model evaluation.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3AAAB6-52AA-4018-822F-53CB43AE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244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2DB70A-5F93-45B2-9639-897D1AF6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1490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Feature importance is published to analytics.ml_feature_insights for business visibility.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C13E38-F90E-440A-BB19-F916B66C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2024DA04133 | Malikulashtar K 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D15C82-2DCB-450A-A315-7AE3062E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7517208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29BB0C-4454-44A0-B94E-376B3D56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TALENTFLOW AI MID TERM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D8072-8FFB-46B8-85F4-575A3D2C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Validation and quality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3373B-F47A-481A-9CA2-C95421AE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2A488-6338-42C1-B802-AC1FCC68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58E46-8D6B-4448-A8E1-8F72972D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145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Demo safety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8567E-B1F6-4F65-B227-6487FE41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335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Data reset guarded by ALLOW_DEMO_DATA_RESET.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63464-6DF5-4865-8030-76F6863D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F04D4-CED7-4662-AA0B-F3149DC7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908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Gold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AF8A2-51E9-4BA0-8ABE-B148CFAA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09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Schema, row counts, null/range checks, reconciliation and formulas.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98C0D-D5D1-4C7F-8CCF-21CC2BE8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150FD-3390-4C62-BFE1-17A1217E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67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Contract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4AB1B-AC73-40BB-B0EA-2B9409F0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861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SCD2 hashes, lake versioning, optional PostgreSQL publish and Hive definitions.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8FDC9-5E9B-4FE9-833F-29A5CE1C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4EF33-9DD2-4D04-B000-93842A92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43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A39E1-5FBC-4D52-908D-19809058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624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Admin page exposes Gold KPIs and ML feature insights.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11922-D7ED-42BF-A13B-D846BFE0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7F17B-7861-4D3E-8D1F-F5A0C6A9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67350"/>
            <a:ext cx="689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Validation command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14F26B-569E-4A09-936D-CFB459F0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791200"/>
            <a:ext cx="68961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python scripts\validate_gold_analytics.py</a:t>
            </a:r>
          </a:p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python -m pytest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3E86C1-21EB-49CC-99EC-43EE6849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2024DA04133 | Malikulashtar K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8164C-8B51-460F-82E5-89F08B5C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5753872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92307E-D655-4CC3-B4EE-135D26DF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TALENTFLOW AI MID TERM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C1198-B913-4313-ACCA-648EFD69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Plan from mid-term to final submission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B71D9-F8D3-4F2E-9552-18AE837E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31D24-F11A-486F-B268-69DE0DF3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381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52A84-B1F3-44D3-9DF6-6A8C149F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D7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F4D7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7A988-7C54-4498-866B-8C47B447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Harden 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20B5D-121C-4C9C-BAAF-C1568D66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CDC/incremental loads, partition repair, robust SCD2 testing.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D3EA2-F247-4ED3-A3AA-29F17C5C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09750"/>
            <a:ext cx="2381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A32D3-4B71-48C3-8627-4EA404DB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95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D7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F4D7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7D356-3A4D-4805-B85C-ED68565B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813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Improve models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959D1-3FA9-4C31-80C0-048757C7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100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Richer behavioral features, model cards, drift checks and clearer evaluation.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C6974-17D0-4F7A-970E-04EA6517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09750"/>
            <a:ext cx="2381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6F085-A9A6-4BE5-A676-4DCE1016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95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412C1-9C5E-4C6B-B736-EF411DDB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Natural language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6F5D8-CCF1-4885-B7BE-908E4AA2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100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Guarded Text-to-SQL over Gold analytics schema.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B358B-9DC4-487B-98A1-60368DB1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09750"/>
            <a:ext cx="2381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73365-8759-497F-AFB5-397180DB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95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D7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F4D7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AA0751-B495-4FA4-8ACC-68D16AEF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813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Final polish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E0F61B-B201-4B88-95A9-CEDA72C4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100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Screenshots, dashboards, result analysis and production readiness write-up.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63AC5D-B587-4487-B8E3-118ED8F2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2024DA04133 | Malikulashtar K 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C4BFCE-9148-4633-B650-C99378FE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532531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00D326-6AA7-4FB0-B7B7-0E031101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What has been proven at mid-term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E5DB5-AA9C-4D7F-8CC9-3C4485B6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1927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61929-FFF7-4956-A400-37A4E39F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906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 working recruitment portal exists for candidate, interviewer and admin roles.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EB9BC-529E-4F41-9E7B-E2799DCC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9077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0BC93-E621-4173-A17D-53BF9E61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906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Operational PostgreSQL data flows into Bronze, Silver and Gold lake layers.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651ED-D168-49A8-AC28-8FC603AE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6227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72D40-0F1A-4E91-B34F-864564FD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906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PII protection, SCD2-style history and versioned parquet partitions are implemented.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A9C96-293D-4973-8171-786A88AC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3377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B8C5C-7429-438B-A622-B6072E44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906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Prefect Cloud can show scheduled ELT execution every 2 minutes.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7C09D-75C4-45DD-8BBA-7D9DF10B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0527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AAEC3-4A9D-4849-81D9-61C3E2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906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Gold KPIs and ML feature insights are ready for examiner demo.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91C74-A6F0-4D93-A4A8-916F6592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6197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1F4D78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F4D78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23A25-083D-4AA9-86E9-CB69A275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2024DA04133 | Malikulashtar K 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5CB7A-8381-467B-A140-F1E9364C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73194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2026-06-28T07:10:59.2040000Z</dcterms:created>
  <dcterms:modified xsi:type="dcterms:W3CDTF">2026-06-28T07:10:59.2040000Z</dcterms:modified>
</coreProperties>
</file>